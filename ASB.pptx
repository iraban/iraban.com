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IN" sz="5400">
                <a:solidFill>
                  <a:schemeClr val="bg1"/>
                </a:solidFill>
              </a:rPr>
              <a:t>Attention-Seeking Behavior Disorder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Symptoms, Triggers, and Treatment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algn="r"/>
            <a:r>
              <a:rPr lang="en-US" sz="1800" dirty="0">
                <a:solidFill>
                  <a:srgbClr val="92D050"/>
                </a:solidFill>
              </a:rPr>
              <a:t>- </a:t>
            </a:r>
            <a:r>
              <a:rPr lang="de-DE" sz="1800" i="1" dirty="0">
                <a:solidFill>
                  <a:srgbClr val="92D050"/>
                </a:solidFill>
              </a:rPr>
              <a:t>Dr.</a:t>
            </a:r>
            <a:r>
              <a:rPr lang="de-DE" sz="1800" dirty="0">
                <a:solidFill>
                  <a:srgbClr val="92D050"/>
                </a:solidFill>
              </a:rPr>
              <a:t>IM, P</a:t>
            </a:r>
            <a:r>
              <a:rPr lang="de-DE" sz="1800" i="1" dirty="0">
                <a:solidFill>
                  <a:srgbClr val="92D050"/>
                </a:solidFill>
              </a:rPr>
              <a:t>g</a:t>
            </a:r>
            <a:r>
              <a:rPr lang="de-DE" sz="1800" dirty="0">
                <a:solidFill>
                  <a:srgbClr val="92D050"/>
                </a:solidFill>
              </a:rPr>
              <a:t>M, </a:t>
            </a:r>
            <a:r>
              <a:rPr lang="de-DE" sz="1800" i="1" dirty="0">
                <a:solidFill>
                  <a:srgbClr val="92D050"/>
                </a:solidFill>
              </a:rPr>
              <a:t>9880.IM.0868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What is Attention-Seeking Behavior Disorder?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A pattern of behavior aimed at gaining attention from others.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Not classified as a distinct disorder in DSM-5.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Often associated with personality or behavioral disorders.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May manifest in children, teens, or adults.</a:t>
            </a:r>
          </a:p>
          <a:p>
            <a:pPr>
              <a:lnSpc>
                <a:spcPct val="90000"/>
              </a:lnSpc>
            </a:pPr>
            <a:endParaRPr lang="en-US" sz="2700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Symptoms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Exaggerated emotions or expressions.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Constant need for approval or praise.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Dramatic behavior or fabricated storytelling.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Inappropriate or provocative behavior.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Manipulative tendencies to stay in the spotlight.</a:t>
            </a:r>
            <a:endParaRPr lang="en-US" sz="2700" dirty="0">
              <a:solidFill>
                <a:srgbClr val="92D05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Low self-esteem</a:t>
            </a:r>
            <a:endParaRPr lang="en-US" sz="2700" dirty="0">
              <a:solidFill>
                <a:srgbClr val="92D050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Triggers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Neglect or lack of attention during childhood.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Low self-esteem or insecurity.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Past trauma or abuse.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Social media influence and validation culture.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Loneliness or isolation.</a:t>
            </a:r>
            <a:endParaRPr lang="en-US" sz="2700" dirty="0">
              <a:solidFill>
                <a:srgbClr val="92D050"/>
              </a:solidFill>
            </a:endParaRPr>
          </a:p>
          <a:p>
            <a:r>
              <a:rPr lang="en-US" sz="2700" dirty="0">
                <a:solidFill>
                  <a:schemeClr val="bg1"/>
                </a:solidFill>
              </a:rPr>
              <a:t>Mental health issues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Related Disorders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 dirty="0">
                <a:solidFill>
                  <a:schemeClr val="bg1"/>
                </a:solidFill>
              </a:rPr>
              <a:t>Histrionic Personality Disorder (HPD).</a:t>
            </a:r>
          </a:p>
          <a:p>
            <a:pPr>
              <a:lnSpc>
                <a:spcPct val="90000"/>
              </a:lnSpc>
            </a:pPr>
            <a:r>
              <a:rPr lang="en-IN" sz="2700" dirty="0">
                <a:solidFill>
                  <a:schemeClr val="bg1"/>
                </a:solidFill>
              </a:rPr>
              <a:t>Borderline Personality Disorder (BPD).</a:t>
            </a:r>
          </a:p>
          <a:p>
            <a:pPr>
              <a:lnSpc>
                <a:spcPct val="90000"/>
              </a:lnSpc>
            </a:pPr>
            <a:r>
              <a:rPr lang="en-IN" sz="2700" dirty="0">
                <a:solidFill>
                  <a:schemeClr val="bg1"/>
                </a:solidFill>
              </a:rPr>
              <a:t>Narcissistic Personality Disorder (NPD).</a:t>
            </a:r>
          </a:p>
          <a:p>
            <a:pPr>
              <a:lnSpc>
                <a:spcPct val="90000"/>
              </a:lnSpc>
            </a:pPr>
            <a:r>
              <a:rPr lang="en-IN" sz="2700" dirty="0">
                <a:solidFill>
                  <a:schemeClr val="bg1"/>
                </a:solidFill>
              </a:rPr>
              <a:t>Conduct Disorder (in children).</a:t>
            </a:r>
          </a:p>
          <a:p>
            <a:pPr>
              <a:lnSpc>
                <a:spcPct val="90000"/>
              </a:lnSpc>
            </a:pPr>
            <a:r>
              <a:rPr lang="en-IN" sz="2700" dirty="0">
                <a:solidFill>
                  <a:schemeClr val="bg1"/>
                </a:solidFill>
              </a:rPr>
              <a:t>ADHD (in some contexts).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Treatment Approaches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Cognitive Behavioral Therapy (CBT).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Dialectical Behavior Therapy (DBT).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Family or group therapy.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Developing healthy coping mechanisms.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Setting clear boundaries and consistent reinforcement.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347AA-1AEC-CE44-B5BE-0E70B8612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BA0132-87EB-223A-BDE7-F42A2F515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25EED6-B0EC-9C40-C96E-35393A283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B6C54B-C1B1-082E-AFF7-D06DB13FC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CE4638-9441-B8A0-81F2-9810B3BA7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18107-1761-362E-87A2-269D7224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Impact on Relationships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CE4BD6-3811-35BB-10B0-9540C9C2A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29B92B9-9198-9AF9-CAD8-C65AA5241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D6713A-DE94-A1DF-F6D9-55057B374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676D81C8-0CC1-4E01-372F-8168809CA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F35C0455-C4F6-1397-FF40-42158C790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7A313E5-B409-9DCB-BDF1-4B0828B67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D7F828-AB69-9941-CC73-DC7DC6E6A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C556-FCB7-13CA-4E8C-A654B393D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US" sz="2700" dirty="0">
                <a:solidFill>
                  <a:schemeClr val="bg1">
                    <a:lumMod val="95000"/>
                  </a:schemeClr>
                </a:solidFill>
              </a:rPr>
              <a:t>Strain on personal and professional relationships</a:t>
            </a:r>
          </a:p>
          <a:p>
            <a:r>
              <a:rPr lang="en-US" sz="2700" dirty="0">
                <a:solidFill>
                  <a:schemeClr val="bg1">
                    <a:lumMod val="95000"/>
                  </a:schemeClr>
                </a:solidFill>
              </a:rPr>
              <a:t>May lead to social isolation</a:t>
            </a:r>
          </a:p>
          <a:p>
            <a:r>
              <a:rPr lang="en-US" sz="2700" dirty="0">
                <a:solidFill>
                  <a:schemeClr val="bg1">
                    <a:lumMod val="95000"/>
                  </a:schemeClr>
                </a:solidFill>
              </a:rPr>
              <a:t>Frustration and fatigue for caregivers or peers</a:t>
            </a:r>
          </a:p>
          <a:p>
            <a:r>
              <a:rPr lang="en-US" sz="2700" dirty="0">
                <a:solidFill>
                  <a:schemeClr val="bg1">
                    <a:lumMod val="95000"/>
                  </a:schemeClr>
                </a:solidFill>
              </a:rPr>
              <a:t>Creating false impressions</a:t>
            </a:r>
          </a:p>
          <a:p>
            <a:r>
              <a:rPr lang="en-US" sz="2700" dirty="0">
                <a:solidFill>
                  <a:schemeClr val="bg1">
                    <a:lumMod val="95000"/>
                  </a:schemeClr>
                </a:solidFill>
              </a:rPr>
              <a:t>Intense need of attention</a:t>
            </a:r>
          </a:p>
          <a:p>
            <a:pPr>
              <a:lnSpc>
                <a:spcPct val="90000"/>
              </a:lnSpc>
            </a:pPr>
            <a:endParaRPr lang="en-US" sz="25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ED28BAD5-D5A1-7ABA-AD5A-6729C1D58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AD487CC-24B7-16BF-7954-C81ABF102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BD5778E-69E5-F9E8-0E18-69E520A14A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449BD84-AE7D-4A12-57FD-D8070AD65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57A4F7E-ED75-0C9F-3D74-D9713991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1F22D6-A6DA-3CC3-1593-70B4022F0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9471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Supportive Strategies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Encourage self-worth from accomplishments, not attention.</a:t>
            </a: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Avoid rewarding dramatic or manipulative behavior.</a:t>
            </a: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Promote social skills and emotional regulation.</a:t>
            </a: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Maintain firm and respectful boundaries.</a:t>
            </a: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Provide consistent and positive reinforcement for appropriate behavior.</a:t>
            </a:r>
            <a:endParaRPr lang="en-US" sz="2900" dirty="0">
              <a:solidFill>
                <a:srgbClr val="92D05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Support groups and community involvement</a:t>
            </a:r>
          </a:p>
          <a:p>
            <a:pPr>
              <a:lnSpc>
                <a:spcPct val="90000"/>
              </a:lnSpc>
            </a:pPr>
            <a:endParaRPr lang="en-US" sz="2500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Attention-seeking behavior often stems from deeper emotional needs.</a:t>
            </a: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Understanding and early intervention are key.</a:t>
            </a: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Therapeutic approaches can foster long-term behavioral change.</a:t>
            </a:r>
          </a:p>
          <a:p>
            <a:pPr>
              <a:lnSpc>
                <a:spcPct val="90000"/>
              </a:lnSpc>
            </a:pPr>
            <a:r>
              <a:rPr lang="en-US" sz="2900" dirty="0">
                <a:solidFill>
                  <a:schemeClr val="bg1"/>
                </a:solidFill>
              </a:rPr>
              <a:t>Support from peers and family plays a critical role in recovery.</a:t>
            </a:r>
            <a:endParaRPr lang="en-US" sz="29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900" dirty="0">
                <a:solidFill>
                  <a:schemeClr val="bg1">
                    <a:lumMod val="95000"/>
                  </a:schemeClr>
                </a:solidFill>
              </a:rPr>
              <a:t>Early intervention can lead to better outcomes in personal growth and relationships.</a:t>
            </a:r>
          </a:p>
          <a:p>
            <a:pPr>
              <a:lnSpc>
                <a:spcPct val="90000"/>
              </a:lnSpc>
            </a:pPr>
            <a:endParaRPr lang="en-US" sz="2700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47F39-818B-2D81-72E0-3694CCDA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C3A750-E7FA-7794-1A64-B4C151AB9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91E9AF-1101-BD14-4CB7-4C0ED325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C5423B0-BA1C-DA5F-E139-DF7DE31B9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0A1309-219B-744A-7B10-59F0828C1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D439A-48D4-019A-3E40-AD16CA9D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Thank You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66055B-23D3-F333-03B9-07D46233D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881EF39-6C9C-0E40-F258-310CC7FBF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D2A03F7-3ACA-67F2-28DB-B6F30097A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18E1BA12-E645-CB87-1E6F-EA4B3FC08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0951452F-0F00-CC90-5488-1BFD114DA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28A6FE-1C48-E4B4-79F7-AB819E442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BDED2A-1D95-13EE-EB33-0340FD825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92AB1-0F40-CE0C-E7D4-0EA49DEA2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2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2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27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>
                <a:solidFill>
                  <a:schemeClr val="bg1"/>
                </a:solidFill>
              </a:rPr>
              <a:t>Require additional help: </a:t>
            </a:r>
          </a:p>
          <a:p>
            <a:pPr marL="447675" indent="0">
              <a:lnSpc>
                <a:spcPct val="90000"/>
              </a:lnSpc>
              <a:buNone/>
            </a:pPr>
            <a:r>
              <a:rPr lang="en-US" sz="2700" dirty="0">
                <a:solidFill>
                  <a:schemeClr val="bg1"/>
                </a:solidFill>
              </a:rPr>
              <a:t>	Contact me for understanding, identifying and implementing in professional world.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sz="2700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45A0A368-81D8-F71C-4E7E-8A136A539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F0AD22E-57A9-81B2-28B0-D4A3D110B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ABE400B-2969-9954-EB80-57D846AD2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36E6AC4-CDAA-C727-784A-3A5FBABF7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40136B6-B13F-7CA5-CC3D-699DA92F9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C9C7D65-844F-98B5-E9E9-D8D36729B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575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336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Attention-Seeking Behavior Disorder</vt:lpstr>
      <vt:lpstr>What is Attention-Seeking Behavior Disorder?</vt:lpstr>
      <vt:lpstr>Symptoms</vt:lpstr>
      <vt:lpstr>Triggers</vt:lpstr>
      <vt:lpstr>Related Disorders</vt:lpstr>
      <vt:lpstr>Treatment Approaches</vt:lpstr>
      <vt:lpstr>Impact on Relationships</vt:lpstr>
      <vt:lpstr>Supportive Strategies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master.iraban@mavenir.com</dc:creator>
  <cp:keywords/>
  <dc:description>generated using python-pptx</dc:description>
  <cp:lastModifiedBy>Master Iraban</cp:lastModifiedBy>
  <cp:revision>7</cp:revision>
  <dcterms:created xsi:type="dcterms:W3CDTF">2013-01-27T09:14:16Z</dcterms:created>
  <dcterms:modified xsi:type="dcterms:W3CDTF">2025-05-23T04:26:55Z</dcterms:modified>
  <cp:category/>
</cp:coreProperties>
</file>