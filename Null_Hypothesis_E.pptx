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Understanding Null Hypothesis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7287492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2800" dirty="0"/>
              <a:t>Fundamentals of Hypothesis Testing in Statistics</a:t>
            </a:r>
            <a:endParaRPr lang="en-US" sz="2800" dirty="0"/>
          </a:p>
          <a:p>
            <a:endParaRPr dirty="0"/>
          </a:p>
          <a:p>
            <a:pPr marL="0" indent="0" algn="r">
              <a:buNone/>
            </a:pPr>
            <a:r>
              <a:rPr lang="de-DE" sz="2000" dirty="0"/>
              <a:t>-</a:t>
            </a:r>
            <a:r>
              <a:rPr lang="de-DE" sz="2000" i="1" dirty="0"/>
              <a:t>Dr.</a:t>
            </a:r>
            <a:r>
              <a:rPr lang="de-DE" sz="2000"/>
              <a:t>IM, </a:t>
            </a:r>
            <a:r>
              <a:rPr lang="de-DE" sz="2000" i="1" dirty="0"/>
              <a:t>9880.IM.0868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What is Hypothesis Testing?</a:t>
            </a:r>
          </a:p>
          <a:p>
            <a:r>
              <a:rPr sz="2800" dirty="0"/>
              <a:t>Purpose of Hypothesis Testing in research and statistics.</a:t>
            </a:r>
          </a:p>
          <a:p>
            <a:r>
              <a:rPr sz="2800" dirty="0"/>
              <a:t>Introduction to the Null Hypothesis as a foundational concept.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the Null Hypothesis (H₀)?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Definition: A statement that there is no effect or no difference.</a:t>
            </a:r>
          </a:p>
          <a:p>
            <a:r>
              <a:rPr sz="2800" dirty="0"/>
              <a:t>Symbol: H₀</a:t>
            </a:r>
          </a:p>
          <a:p>
            <a:r>
              <a:rPr sz="2800" dirty="0"/>
              <a:t>Example: "There is no difference in test scores between group A and group B."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Purpose of the Null Hypothesis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Serves as a baseline or default assumption.</a:t>
            </a:r>
          </a:p>
          <a:p>
            <a:r>
              <a:rPr sz="2800" dirty="0"/>
              <a:t>Helps structure scientific testing.</a:t>
            </a:r>
          </a:p>
          <a:p>
            <a:r>
              <a:rPr sz="2800" dirty="0"/>
              <a:t>Allows for objective decision-making using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Alternative Hypothesis (H₁ or Hₐ)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2800" dirty="0"/>
              <a:t>Opposite</a:t>
            </a:r>
            <a:r>
              <a:rPr sz="2800" dirty="0"/>
              <a:t> of the null hypothesis.</a:t>
            </a:r>
          </a:p>
          <a:p>
            <a:r>
              <a:rPr sz="2800" dirty="0"/>
              <a:t>States that there is an effect or a</a:t>
            </a:r>
            <a:r>
              <a:rPr lang="en-US" sz="2800" dirty="0"/>
              <a:t> difference.</a:t>
            </a:r>
            <a:endParaRPr sz="2800" dirty="0"/>
          </a:p>
          <a:p>
            <a:r>
              <a:rPr sz="2800" dirty="0"/>
              <a:t>Example: "There is a difference in test scores between group A and group B."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Example Scenario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Hypothesis: Does a new drug reduce blood pressure?</a:t>
            </a:r>
          </a:p>
          <a:p>
            <a:r>
              <a:rPr sz="2800" dirty="0"/>
              <a:t>H₀: The drug has no effect on blood pressure.</a:t>
            </a:r>
          </a:p>
          <a:p>
            <a:r>
              <a:rPr sz="2800" dirty="0"/>
              <a:t>H₁: The drug does reduce blood pressure.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Decision Outcomes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FB210B1-E632-7959-8CEE-E8EB1AF2F9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614790"/>
              </p:ext>
            </p:extLst>
          </p:nvPr>
        </p:nvGraphicFramePr>
        <p:xfrm>
          <a:off x="4480560" y="2230120"/>
          <a:ext cx="702460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040">
                  <a:extLst>
                    <a:ext uri="{9D8B030D-6E8A-4147-A177-3AD203B41FA5}">
                      <a16:colId xmlns:a16="http://schemas.microsoft.com/office/drawing/2014/main" val="126012227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287782790"/>
                    </a:ext>
                  </a:extLst>
                </a:gridCol>
                <a:gridCol w="2676125">
                  <a:extLst>
                    <a:ext uri="{9D8B030D-6E8A-4147-A177-3AD203B41FA5}">
                      <a16:colId xmlns:a16="http://schemas.microsoft.com/office/drawing/2014/main" val="1983160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Actual Truth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99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H₀ is true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Fail to reject H₀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Correct decision</a:t>
                      </a:r>
                      <a:endParaRPr lang="el-G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134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H₀ is true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Reject H₀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Type I Error (</a:t>
                      </a:r>
                      <a:r>
                        <a:rPr lang="el-GR" sz="2400" dirty="0"/>
                        <a:t>α)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22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H₀ is false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Fail to reject H₀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Type II Error (</a:t>
                      </a:r>
                      <a:r>
                        <a:rPr lang="el-GR" sz="2400" dirty="0"/>
                        <a:t>β)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3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H₀ is false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Reject H₀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Correct decision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3055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P-value and Significance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P-value: Probability of observing the data given H₀ is true.</a:t>
            </a:r>
          </a:p>
          <a:p>
            <a:r>
              <a:rPr sz="2800" dirty="0"/>
              <a:t>Significance level (α): Typically 0.05.</a:t>
            </a:r>
          </a:p>
          <a:p>
            <a:r>
              <a:rPr sz="2800" dirty="0"/>
              <a:t>Rule: If p ≤ α, reject H₀; else, fail to reject H₀.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Common Misconceptions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“Failing to reject H₀” ≠ “H₀ is true”</a:t>
            </a:r>
          </a:p>
          <a:p>
            <a:r>
              <a:rPr sz="2800" dirty="0"/>
              <a:t>Hypothesis testing does not prove or disprove a hypothesis.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Importance in Research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Ensures objectivity.</a:t>
            </a:r>
          </a:p>
          <a:p>
            <a:r>
              <a:rPr sz="2800" dirty="0"/>
              <a:t>Standardized decision-making in science and data analysis.</a:t>
            </a:r>
          </a:p>
          <a:p>
            <a:r>
              <a:rPr sz="2800" dirty="0"/>
              <a:t>Foundation for many statistical tests (t-test, ANOVA, etc.)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The null hypothesis is central to statistical testing.</a:t>
            </a:r>
          </a:p>
          <a:p>
            <a:r>
              <a:rPr sz="2800" dirty="0"/>
              <a:t>It provides a neutral claim to test against.</a:t>
            </a:r>
          </a:p>
          <a:p>
            <a:r>
              <a:rPr sz="2800" dirty="0"/>
              <a:t>Proper understanding helps avoid errors in research conclusions.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t>Any 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370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Understanding Null Hypothesis</vt:lpstr>
      <vt:lpstr>Introduction</vt:lpstr>
      <vt:lpstr>What is the Null Hypothesis (H₀)?</vt:lpstr>
      <vt:lpstr>Purpose of the Null Hypothesis</vt:lpstr>
      <vt:lpstr>Alternative Hypothesis (H₁ or Hₐ)</vt:lpstr>
      <vt:lpstr>Example Scenario</vt:lpstr>
      <vt:lpstr>Decision Outcomes</vt:lpstr>
      <vt:lpstr>P-value and Significance</vt:lpstr>
      <vt:lpstr>Common Misconceptions</vt:lpstr>
      <vt:lpstr>Importance in Research</vt:lpstr>
      <vt:lpstr>Summary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Master Iraban</cp:lastModifiedBy>
  <cp:revision>5</cp:revision>
  <dcterms:created xsi:type="dcterms:W3CDTF">2013-01-27T09:14:16Z</dcterms:created>
  <dcterms:modified xsi:type="dcterms:W3CDTF">2025-06-09T14:16:21Z</dcterms:modified>
  <cp:category/>
</cp:coreProperties>
</file>