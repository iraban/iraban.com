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2" r:id="rId3"/>
    <p:sldId id="257" r:id="rId4"/>
    <p:sldId id="258" r:id="rId5"/>
    <p:sldId id="259" r:id="rId6"/>
    <p:sldId id="260" r:id="rId7"/>
    <p:sldId id="261" r:id="rId8"/>
    <p:sldId id="264" r:id="rId9"/>
    <p:sldId id="263"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5" d="100"/>
          <a:sy n="75" d="100"/>
        </p:scale>
        <p:origin x="874" y="43"/>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DD3BA60-C203-4F5F-99BA-6C63A5206B50}"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FFBEC921-8B38-4464-8A86-6287C6563162}">
      <dgm:prSet/>
      <dgm:spPr/>
      <dgm:t>
        <a:bodyPr/>
        <a:lstStyle/>
        <a:p>
          <a:r>
            <a:rPr lang="en-US" b="0" i="0"/>
            <a:t>Grief is a natural response to loss, particularly the loss of someone or something to which a person has formed a bond. </a:t>
          </a:r>
          <a:endParaRPr lang="en-US"/>
        </a:p>
      </dgm:t>
    </dgm:pt>
    <dgm:pt modelId="{C1C48BFE-B135-4AA0-9BED-E473D50FA87A}" type="parTrans" cxnId="{72DE4551-7F56-4DAB-8B83-EA59E9D01C5E}">
      <dgm:prSet/>
      <dgm:spPr/>
      <dgm:t>
        <a:bodyPr/>
        <a:lstStyle/>
        <a:p>
          <a:endParaRPr lang="en-US"/>
        </a:p>
      </dgm:t>
    </dgm:pt>
    <dgm:pt modelId="{06E2C9B6-0C25-4C3B-94BB-7DFA9ABEAE42}" type="sibTrans" cxnId="{72DE4551-7F56-4DAB-8B83-EA59E9D01C5E}">
      <dgm:prSet/>
      <dgm:spPr/>
      <dgm:t>
        <a:bodyPr/>
        <a:lstStyle/>
        <a:p>
          <a:endParaRPr lang="en-US"/>
        </a:p>
      </dgm:t>
    </dgm:pt>
    <dgm:pt modelId="{03305CFF-E7D4-4C8C-997B-7A55F8B93C97}">
      <dgm:prSet/>
      <dgm:spPr/>
      <dgm:t>
        <a:bodyPr/>
        <a:lstStyle/>
        <a:p>
          <a:r>
            <a:rPr lang="en-US" b="0" i="0"/>
            <a:t>It is a complex emotional experience that can affect individuals in various ways, encompassing a range of emotions from deep sadness to anger. </a:t>
          </a:r>
          <a:endParaRPr lang="en-US"/>
        </a:p>
      </dgm:t>
    </dgm:pt>
    <dgm:pt modelId="{8DF8E1D6-26CE-4275-85B8-3D192053E953}" type="parTrans" cxnId="{869E042D-965D-48E9-91C4-AD2459CAA1E1}">
      <dgm:prSet/>
      <dgm:spPr/>
      <dgm:t>
        <a:bodyPr/>
        <a:lstStyle/>
        <a:p>
          <a:endParaRPr lang="en-US"/>
        </a:p>
      </dgm:t>
    </dgm:pt>
    <dgm:pt modelId="{A3824544-8D8C-4691-A699-2753EB9F7068}" type="sibTrans" cxnId="{869E042D-965D-48E9-91C4-AD2459CAA1E1}">
      <dgm:prSet/>
      <dgm:spPr/>
      <dgm:t>
        <a:bodyPr/>
        <a:lstStyle/>
        <a:p>
          <a:endParaRPr lang="en-US"/>
        </a:p>
      </dgm:t>
    </dgm:pt>
    <dgm:pt modelId="{CBC9F265-0777-47BD-8BF2-9BF6A6E151FE}">
      <dgm:prSet/>
      <dgm:spPr/>
      <dgm:t>
        <a:bodyPr/>
        <a:lstStyle/>
        <a:p>
          <a:r>
            <a:rPr lang="en-US" b="0" i="0"/>
            <a:t>Understanding grief and its stages can help individuals navigate through their emotions and find ways to cope with their loss.</a:t>
          </a:r>
          <a:endParaRPr lang="en-US"/>
        </a:p>
      </dgm:t>
    </dgm:pt>
    <dgm:pt modelId="{1B6BABED-A68A-41DE-9F6C-8C6B2C8D960A}" type="parTrans" cxnId="{E95898CE-3A1C-4551-9E43-C22707722990}">
      <dgm:prSet/>
      <dgm:spPr/>
      <dgm:t>
        <a:bodyPr/>
        <a:lstStyle/>
        <a:p>
          <a:endParaRPr lang="en-US"/>
        </a:p>
      </dgm:t>
    </dgm:pt>
    <dgm:pt modelId="{BF65B41D-A87A-43F7-BE73-9CBFC6805709}" type="sibTrans" cxnId="{E95898CE-3A1C-4551-9E43-C22707722990}">
      <dgm:prSet/>
      <dgm:spPr/>
      <dgm:t>
        <a:bodyPr/>
        <a:lstStyle/>
        <a:p>
          <a:endParaRPr lang="en-US"/>
        </a:p>
      </dgm:t>
    </dgm:pt>
    <dgm:pt modelId="{FA30AB21-A227-48CE-8138-2ADB2B8E0290}" type="pres">
      <dgm:prSet presAssocID="{8DD3BA60-C203-4F5F-99BA-6C63A5206B50}" presName="hierChild1" presStyleCnt="0">
        <dgm:presLayoutVars>
          <dgm:chPref val="1"/>
          <dgm:dir/>
          <dgm:animOne val="branch"/>
          <dgm:animLvl val="lvl"/>
          <dgm:resizeHandles/>
        </dgm:presLayoutVars>
      </dgm:prSet>
      <dgm:spPr/>
    </dgm:pt>
    <dgm:pt modelId="{35DF1CFF-E640-4AE3-B147-4D84A99110CA}" type="pres">
      <dgm:prSet presAssocID="{FFBEC921-8B38-4464-8A86-6287C6563162}" presName="hierRoot1" presStyleCnt="0"/>
      <dgm:spPr/>
    </dgm:pt>
    <dgm:pt modelId="{B04425B3-E2DD-43DB-A07B-4EA65883A188}" type="pres">
      <dgm:prSet presAssocID="{FFBEC921-8B38-4464-8A86-6287C6563162}" presName="composite" presStyleCnt="0"/>
      <dgm:spPr/>
    </dgm:pt>
    <dgm:pt modelId="{9FD908EF-7717-465C-A74B-1EBB0F99CA8B}" type="pres">
      <dgm:prSet presAssocID="{FFBEC921-8B38-4464-8A86-6287C6563162}" presName="background" presStyleLbl="node0" presStyleIdx="0" presStyleCnt="3"/>
      <dgm:spPr/>
    </dgm:pt>
    <dgm:pt modelId="{59768CCF-A0E4-4C92-B828-CE23B68224DF}" type="pres">
      <dgm:prSet presAssocID="{FFBEC921-8B38-4464-8A86-6287C6563162}" presName="text" presStyleLbl="fgAcc0" presStyleIdx="0" presStyleCnt="3">
        <dgm:presLayoutVars>
          <dgm:chPref val="3"/>
        </dgm:presLayoutVars>
      </dgm:prSet>
      <dgm:spPr/>
    </dgm:pt>
    <dgm:pt modelId="{4D31E218-1C1F-490D-BE1D-C53B36BF1F34}" type="pres">
      <dgm:prSet presAssocID="{FFBEC921-8B38-4464-8A86-6287C6563162}" presName="hierChild2" presStyleCnt="0"/>
      <dgm:spPr/>
    </dgm:pt>
    <dgm:pt modelId="{99AE57AB-DFDA-4C5C-B663-A0AA551EE967}" type="pres">
      <dgm:prSet presAssocID="{03305CFF-E7D4-4C8C-997B-7A55F8B93C97}" presName="hierRoot1" presStyleCnt="0"/>
      <dgm:spPr/>
    </dgm:pt>
    <dgm:pt modelId="{99DEF816-94BE-4BC2-9998-27FDFB7249CC}" type="pres">
      <dgm:prSet presAssocID="{03305CFF-E7D4-4C8C-997B-7A55F8B93C97}" presName="composite" presStyleCnt="0"/>
      <dgm:spPr/>
    </dgm:pt>
    <dgm:pt modelId="{32B65599-61A9-4598-9779-FF40E28792B2}" type="pres">
      <dgm:prSet presAssocID="{03305CFF-E7D4-4C8C-997B-7A55F8B93C97}" presName="background" presStyleLbl="node0" presStyleIdx="1" presStyleCnt="3"/>
      <dgm:spPr/>
    </dgm:pt>
    <dgm:pt modelId="{8811BAF4-D624-4537-83EC-B4354A2B7558}" type="pres">
      <dgm:prSet presAssocID="{03305CFF-E7D4-4C8C-997B-7A55F8B93C97}" presName="text" presStyleLbl="fgAcc0" presStyleIdx="1" presStyleCnt="3">
        <dgm:presLayoutVars>
          <dgm:chPref val="3"/>
        </dgm:presLayoutVars>
      </dgm:prSet>
      <dgm:spPr/>
    </dgm:pt>
    <dgm:pt modelId="{66D56D26-4BDD-4394-977B-C7C1714DD599}" type="pres">
      <dgm:prSet presAssocID="{03305CFF-E7D4-4C8C-997B-7A55F8B93C97}" presName="hierChild2" presStyleCnt="0"/>
      <dgm:spPr/>
    </dgm:pt>
    <dgm:pt modelId="{AECD49BE-8F38-4833-9CEC-0064F0B9796F}" type="pres">
      <dgm:prSet presAssocID="{CBC9F265-0777-47BD-8BF2-9BF6A6E151FE}" presName="hierRoot1" presStyleCnt="0"/>
      <dgm:spPr/>
    </dgm:pt>
    <dgm:pt modelId="{62A4F0BE-27DF-4806-9C80-72DA8C42295E}" type="pres">
      <dgm:prSet presAssocID="{CBC9F265-0777-47BD-8BF2-9BF6A6E151FE}" presName="composite" presStyleCnt="0"/>
      <dgm:spPr/>
    </dgm:pt>
    <dgm:pt modelId="{E6EE31A3-A43D-4F1F-BF9A-73F04C3AE421}" type="pres">
      <dgm:prSet presAssocID="{CBC9F265-0777-47BD-8BF2-9BF6A6E151FE}" presName="background" presStyleLbl="node0" presStyleIdx="2" presStyleCnt="3"/>
      <dgm:spPr/>
    </dgm:pt>
    <dgm:pt modelId="{E08635C7-94CA-4738-A4B7-2109C32DA7B1}" type="pres">
      <dgm:prSet presAssocID="{CBC9F265-0777-47BD-8BF2-9BF6A6E151FE}" presName="text" presStyleLbl="fgAcc0" presStyleIdx="2" presStyleCnt="3">
        <dgm:presLayoutVars>
          <dgm:chPref val="3"/>
        </dgm:presLayoutVars>
      </dgm:prSet>
      <dgm:spPr/>
    </dgm:pt>
    <dgm:pt modelId="{DCFE8B6C-0A9C-4FAE-A4F7-48ACC285B861}" type="pres">
      <dgm:prSet presAssocID="{CBC9F265-0777-47BD-8BF2-9BF6A6E151FE}" presName="hierChild2" presStyleCnt="0"/>
      <dgm:spPr/>
    </dgm:pt>
  </dgm:ptLst>
  <dgm:cxnLst>
    <dgm:cxn modelId="{869E042D-965D-48E9-91C4-AD2459CAA1E1}" srcId="{8DD3BA60-C203-4F5F-99BA-6C63A5206B50}" destId="{03305CFF-E7D4-4C8C-997B-7A55F8B93C97}" srcOrd="1" destOrd="0" parTransId="{8DF8E1D6-26CE-4275-85B8-3D192053E953}" sibTransId="{A3824544-8D8C-4691-A699-2753EB9F7068}"/>
    <dgm:cxn modelId="{0F13123C-1567-490E-B20E-C8220250CE56}" type="presOf" srcId="{8DD3BA60-C203-4F5F-99BA-6C63A5206B50}" destId="{FA30AB21-A227-48CE-8138-2ADB2B8E0290}" srcOrd="0" destOrd="0" presId="urn:microsoft.com/office/officeart/2005/8/layout/hierarchy1"/>
    <dgm:cxn modelId="{BDF04161-6227-4EA3-9511-ABDBE9873969}" type="presOf" srcId="{CBC9F265-0777-47BD-8BF2-9BF6A6E151FE}" destId="{E08635C7-94CA-4738-A4B7-2109C32DA7B1}" srcOrd="0" destOrd="0" presId="urn:microsoft.com/office/officeart/2005/8/layout/hierarchy1"/>
    <dgm:cxn modelId="{7B04D966-247A-48E9-8113-1F87A243BADE}" type="presOf" srcId="{03305CFF-E7D4-4C8C-997B-7A55F8B93C97}" destId="{8811BAF4-D624-4537-83EC-B4354A2B7558}" srcOrd="0" destOrd="0" presId="urn:microsoft.com/office/officeart/2005/8/layout/hierarchy1"/>
    <dgm:cxn modelId="{F4C3FA6C-3FB1-4542-8CFB-CE9B31CAE0CE}" type="presOf" srcId="{FFBEC921-8B38-4464-8A86-6287C6563162}" destId="{59768CCF-A0E4-4C92-B828-CE23B68224DF}" srcOrd="0" destOrd="0" presId="urn:microsoft.com/office/officeart/2005/8/layout/hierarchy1"/>
    <dgm:cxn modelId="{72DE4551-7F56-4DAB-8B83-EA59E9D01C5E}" srcId="{8DD3BA60-C203-4F5F-99BA-6C63A5206B50}" destId="{FFBEC921-8B38-4464-8A86-6287C6563162}" srcOrd="0" destOrd="0" parTransId="{C1C48BFE-B135-4AA0-9BED-E473D50FA87A}" sibTransId="{06E2C9B6-0C25-4C3B-94BB-7DFA9ABEAE42}"/>
    <dgm:cxn modelId="{E95898CE-3A1C-4551-9E43-C22707722990}" srcId="{8DD3BA60-C203-4F5F-99BA-6C63A5206B50}" destId="{CBC9F265-0777-47BD-8BF2-9BF6A6E151FE}" srcOrd="2" destOrd="0" parTransId="{1B6BABED-A68A-41DE-9F6C-8C6B2C8D960A}" sibTransId="{BF65B41D-A87A-43F7-BE73-9CBFC6805709}"/>
    <dgm:cxn modelId="{28CE1440-1769-44E3-8D6F-63351967E47A}" type="presParOf" srcId="{FA30AB21-A227-48CE-8138-2ADB2B8E0290}" destId="{35DF1CFF-E640-4AE3-B147-4D84A99110CA}" srcOrd="0" destOrd="0" presId="urn:microsoft.com/office/officeart/2005/8/layout/hierarchy1"/>
    <dgm:cxn modelId="{9BD6BC6E-6671-42BA-B9E8-160610A4D756}" type="presParOf" srcId="{35DF1CFF-E640-4AE3-B147-4D84A99110CA}" destId="{B04425B3-E2DD-43DB-A07B-4EA65883A188}" srcOrd="0" destOrd="0" presId="urn:microsoft.com/office/officeart/2005/8/layout/hierarchy1"/>
    <dgm:cxn modelId="{80DD5DC4-BA2B-4EC0-84D5-A7D1BEF59FA3}" type="presParOf" srcId="{B04425B3-E2DD-43DB-A07B-4EA65883A188}" destId="{9FD908EF-7717-465C-A74B-1EBB0F99CA8B}" srcOrd="0" destOrd="0" presId="urn:microsoft.com/office/officeart/2005/8/layout/hierarchy1"/>
    <dgm:cxn modelId="{82579B31-C9A3-456F-AD14-F0FC2B9F79A9}" type="presParOf" srcId="{B04425B3-E2DD-43DB-A07B-4EA65883A188}" destId="{59768CCF-A0E4-4C92-B828-CE23B68224DF}" srcOrd="1" destOrd="0" presId="urn:microsoft.com/office/officeart/2005/8/layout/hierarchy1"/>
    <dgm:cxn modelId="{48EEE428-0C28-40D8-BCBC-E976F4BB5676}" type="presParOf" srcId="{35DF1CFF-E640-4AE3-B147-4D84A99110CA}" destId="{4D31E218-1C1F-490D-BE1D-C53B36BF1F34}" srcOrd="1" destOrd="0" presId="urn:microsoft.com/office/officeart/2005/8/layout/hierarchy1"/>
    <dgm:cxn modelId="{454DF160-FA9C-4FBD-BBB5-194246D7873E}" type="presParOf" srcId="{FA30AB21-A227-48CE-8138-2ADB2B8E0290}" destId="{99AE57AB-DFDA-4C5C-B663-A0AA551EE967}" srcOrd="1" destOrd="0" presId="urn:microsoft.com/office/officeart/2005/8/layout/hierarchy1"/>
    <dgm:cxn modelId="{14C95AA3-8E74-4C96-8EAF-DC7E292C68FA}" type="presParOf" srcId="{99AE57AB-DFDA-4C5C-B663-A0AA551EE967}" destId="{99DEF816-94BE-4BC2-9998-27FDFB7249CC}" srcOrd="0" destOrd="0" presId="urn:microsoft.com/office/officeart/2005/8/layout/hierarchy1"/>
    <dgm:cxn modelId="{FB5CCF18-93C7-4A9F-951A-6663CE66A9C1}" type="presParOf" srcId="{99DEF816-94BE-4BC2-9998-27FDFB7249CC}" destId="{32B65599-61A9-4598-9779-FF40E28792B2}" srcOrd="0" destOrd="0" presId="urn:microsoft.com/office/officeart/2005/8/layout/hierarchy1"/>
    <dgm:cxn modelId="{70D9EA33-9596-40C7-896D-DE4FA33382F8}" type="presParOf" srcId="{99DEF816-94BE-4BC2-9998-27FDFB7249CC}" destId="{8811BAF4-D624-4537-83EC-B4354A2B7558}" srcOrd="1" destOrd="0" presId="urn:microsoft.com/office/officeart/2005/8/layout/hierarchy1"/>
    <dgm:cxn modelId="{1B39F072-8783-499F-8F22-97BBCD1F277D}" type="presParOf" srcId="{99AE57AB-DFDA-4C5C-B663-A0AA551EE967}" destId="{66D56D26-4BDD-4394-977B-C7C1714DD599}" srcOrd="1" destOrd="0" presId="urn:microsoft.com/office/officeart/2005/8/layout/hierarchy1"/>
    <dgm:cxn modelId="{377D44CC-4FF6-4C4E-A71F-94D5C6AEC3AE}" type="presParOf" srcId="{FA30AB21-A227-48CE-8138-2ADB2B8E0290}" destId="{AECD49BE-8F38-4833-9CEC-0064F0B9796F}" srcOrd="2" destOrd="0" presId="urn:microsoft.com/office/officeart/2005/8/layout/hierarchy1"/>
    <dgm:cxn modelId="{2BAC3660-DC7F-4A65-BB9E-8E22EE87EDCD}" type="presParOf" srcId="{AECD49BE-8F38-4833-9CEC-0064F0B9796F}" destId="{62A4F0BE-27DF-4806-9C80-72DA8C42295E}" srcOrd="0" destOrd="0" presId="urn:microsoft.com/office/officeart/2005/8/layout/hierarchy1"/>
    <dgm:cxn modelId="{2AA32322-635D-4F98-8790-29071862FDC2}" type="presParOf" srcId="{62A4F0BE-27DF-4806-9C80-72DA8C42295E}" destId="{E6EE31A3-A43D-4F1F-BF9A-73F04C3AE421}" srcOrd="0" destOrd="0" presId="urn:microsoft.com/office/officeart/2005/8/layout/hierarchy1"/>
    <dgm:cxn modelId="{C6EA8C26-4A14-430B-85C7-E0DD7539C252}" type="presParOf" srcId="{62A4F0BE-27DF-4806-9C80-72DA8C42295E}" destId="{E08635C7-94CA-4738-A4B7-2109C32DA7B1}" srcOrd="1" destOrd="0" presId="urn:microsoft.com/office/officeart/2005/8/layout/hierarchy1"/>
    <dgm:cxn modelId="{EB1D8E09-2A77-429E-B307-E2992D41701D}" type="presParOf" srcId="{AECD49BE-8F38-4833-9CEC-0064F0B9796F}" destId="{DCFE8B6C-0A9C-4FAE-A4F7-48ACC285B861}"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D908EF-7717-465C-A74B-1EBB0F99CA8B}">
      <dsp:nvSpPr>
        <dsp:cNvPr id="0" name=""/>
        <dsp:cNvSpPr/>
      </dsp:nvSpPr>
      <dsp:spPr>
        <a:xfrm>
          <a:off x="0" y="282024"/>
          <a:ext cx="3086099" cy="195967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9768CCF-A0E4-4C92-B828-CE23B68224DF}">
      <dsp:nvSpPr>
        <dsp:cNvPr id="0" name=""/>
        <dsp:cNvSpPr/>
      </dsp:nvSpPr>
      <dsp:spPr>
        <a:xfrm>
          <a:off x="342900" y="607779"/>
          <a:ext cx="3086099" cy="195967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a:t>Grief is a natural response to loss, particularly the loss of someone or something to which a person has formed a bond. </a:t>
          </a:r>
          <a:endParaRPr lang="en-US" sz="2000" kern="1200"/>
        </a:p>
      </dsp:txBody>
      <dsp:txXfrm>
        <a:off x="400297" y="665176"/>
        <a:ext cx="2971305" cy="1844879"/>
      </dsp:txXfrm>
    </dsp:sp>
    <dsp:sp modelId="{32B65599-61A9-4598-9779-FF40E28792B2}">
      <dsp:nvSpPr>
        <dsp:cNvPr id="0" name=""/>
        <dsp:cNvSpPr/>
      </dsp:nvSpPr>
      <dsp:spPr>
        <a:xfrm>
          <a:off x="3771900" y="282024"/>
          <a:ext cx="3086099" cy="195967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811BAF4-D624-4537-83EC-B4354A2B7558}">
      <dsp:nvSpPr>
        <dsp:cNvPr id="0" name=""/>
        <dsp:cNvSpPr/>
      </dsp:nvSpPr>
      <dsp:spPr>
        <a:xfrm>
          <a:off x="4114800" y="607779"/>
          <a:ext cx="3086099" cy="195967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a:t>It is a complex emotional experience that can affect individuals in various ways, encompassing a range of emotions from deep sadness to anger. </a:t>
          </a:r>
          <a:endParaRPr lang="en-US" sz="2000" kern="1200"/>
        </a:p>
      </dsp:txBody>
      <dsp:txXfrm>
        <a:off x="4172197" y="665176"/>
        <a:ext cx="2971305" cy="1844879"/>
      </dsp:txXfrm>
    </dsp:sp>
    <dsp:sp modelId="{E6EE31A3-A43D-4F1F-BF9A-73F04C3AE421}">
      <dsp:nvSpPr>
        <dsp:cNvPr id="0" name=""/>
        <dsp:cNvSpPr/>
      </dsp:nvSpPr>
      <dsp:spPr>
        <a:xfrm>
          <a:off x="7543800" y="282024"/>
          <a:ext cx="3086099" cy="195967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08635C7-94CA-4738-A4B7-2109C32DA7B1}">
      <dsp:nvSpPr>
        <dsp:cNvPr id="0" name=""/>
        <dsp:cNvSpPr/>
      </dsp:nvSpPr>
      <dsp:spPr>
        <a:xfrm>
          <a:off x="7886699" y="607779"/>
          <a:ext cx="3086099" cy="195967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a:t>Understanding grief and its stages can help individuals navigate through their emotions and find ways to cope with their loss.</a:t>
          </a:r>
          <a:endParaRPr lang="en-US" sz="2000" kern="1200"/>
        </a:p>
      </dsp:txBody>
      <dsp:txXfrm>
        <a:off x="7944096" y="665176"/>
        <a:ext cx="2971305" cy="184487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5/21/2025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Layout" Target="../diagrams/layout1.xml"/><Relationship Id="rId7" Type="http://schemas.openxmlformats.org/officeDocument/2006/relationships/image" Target="../media/image1.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2" name="Freeform: Shape 11">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p:cNvSpPr>
            <a:spLocks noGrp="1"/>
          </p:cNvSpPr>
          <p:nvPr>
            <p:ph type="ctrTitle"/>
          </p:nvPr>
        </p:nvSpPr>
        <p:spPr>
          <a:xfrm>
            <a:off x="3502731" y="1542402"/>
            <a:ext cx="5186842" cy="2387918"/>
          </a:xfrm>
        </p:spPr>
        <p:txBody>
          <a:bodyPr anchor="b">
            <a:normAutofit/>
          </a:bodyPr>
          <a:lstStyle/>
          <a:p>
            <a:r>
              <a:rPr lang="en-IN" sz="5200">
                <a:solidFill>
                  <a:schemeClr val="tx2"/>
                </a:solidFill>
              </a:rPr>
              <a:t>DABDA Model</a:t>
            </a:r>
          </a:p>
        </p:txBody>
      </p:sp>
      <p:sp>
        <p:nvSpPr>
          <p:cNvPr id="3" name="Subtitle 2"/>
          <p:cNvSpPr>
            <a:spLocks noGrp="1"/>
          </p:cNvSpPr>
          <p:nvPr>
            <p:ph type="subTitle" idx="1"/>
          </p:nvPr>
        </p:nvSpPr>
        <p:spPr>
          <a:xfrm>
            <a:off x="3841767" y="4540102"/>
            <a:ext cx="5188034" cy="682079"/>
          </a:xfrm>
        </p:spPr>
        <p:txBody>
          <a:bodyPr>
            <a:normAutofit/>
          </a:bodyPr>
          <a:lstStyle/>
          <a:p>
            <a:pPr algn="r"/>
            <a:r>
              <a:rPr lang="de-DE" sz="2400" dirty="0">
                <a:solidFill>
                  <a:schemeClr val="tx2"/>
                </a:solidFill>
              </a:rPr>
              <a:t>-</a:t>
            </a:r>
            <a:r>
              <a:rPr lang="de-DE" sz="2400" i="1" dirty="0">
                <a:solidFill>
                  <a:schemeClr val="tx2"/>
                </a:solidFill>
              </a:rPr>
              <a:t>Dr.</a:t>
            </a:r>
            <a:r>
              <a:rPr lang="de-DE" sz="2400" dirty="0">
                <a:solidFill>
                  <a:schemeClr val="tx2"/>
                </a:solidFill>
              </a:rPr>
              <a:t>IM, P</a:t>
            </a:r>
            <a:r>
              <a:rPr lang="de-DE" sz="2400" i="1" dirty="0">
                <a:solidFill>
                  <a:schemeClr val="tx2"/>
                </a:solidFill>
              </a:rPr>
              <a:t>g</a:t>
            </a:r>
            <a:r>
              <a:rPr lang="de-DE" sz="2400" dirty="0">
                <a:solidFill>
                  <a:schemeClr val="tx2"/>
                </a:solidFill>
              </a:rPr>
              <a:t>M, </a:t>
            </a:r>
            <a:r>
              <a:rPr lang="de-DE" sz="2000" i="1" dirty="0">
                <a:solidFill>
                  <a:schemeClr val="tx2"/>
                </a:solidFill>
              </a:rPr>
              <a:t>9880.IM.0868</a:t>
            </a:r>
            <a:endParaRPr lang="de-DE" sz="2400" i="1"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0C138-864E-76FB-C537-0E1521B5D66B}"/>
              </a:ext>
            </a:extLst>
          </p:cNvPr>
          <p:cNvSpPr>
            <a:spLocks noGrp="1"/>
          </p:cNvSpPr>
          <p:nvPr>
            <p:ph type="title"/>
          </p:nvPr>
        </p:nvSpPr>
        <p:spPr/>
        <p:txBody>
          <a:bodyPr/>
          <a:lstStyle/>
          <a:p>
            <a:r>
              <a:rPr lang="en-US" dirty="0"/>
              <a:t>Grief?</a:t>
            </a:r>
            <a:endParaRPr lang="en-IN" dirty="0"/>
          </a:p>
        </p:txBody>
      </p:sp>
      <p:graphicFrame>
        <p:nvGraphicFramePr>
          <p:cNvPr id="10" name="Content Placeholder 2">
            <a:extLst>
              <a:ext uri="{FF2B5EF4-FFF2-40B4-BE49-F238E27FC236}">
                <a16:creationId xmlns:a16="http://schemas.microsoft.com/office/drawing/2014/main" id="{A7E73B0B-D850-86EE-54B1-A0564C8DE0DE}"/>
              </a:ext>
            </a:extLst>
          </p:cNvPr>
          <p:cNvGraphicFramePr>
            <a:graphicFrameLocks noGrp="1"/>
          </p:cNvGraphicFramePr>
          <p:nvPr>
            <p:ph idx="1"/>
          </p:nvPr>
        </p:nvGraphicFramePr>
        <p:xfrm>
          <a:off x="741680" y="2004261"/>
          <a:ext cx="10972800" cy="28494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a16="http://schemas.microsoft.com/office/drawing/2014/main" id="{45807F58-BF04-03B3-9298-1A941F27BF7D}"/>
              </a:ext>
            </a:extLst>
          </p:cNvPr>
          <p:cNvPicPr>
            <a:picLocks noChangeAspect="1"/>
          </p:cNvPicPr>
          <p:nvPr/>
        </p:nvPicPr>
        <p:blipFill>
          <a:blip r:embed="rId7"/>
          <a:stretch>
            <a:fillRect/>
          </a:stretch>
        </p:blipFill>
        <p:spPr>
          <a:xfrm>
            <a:off x="138258" y="538394"/>
            <a:ext cx="4580788" cy="1142999"/>
          </a:xfrm>
          <a:prstGeom prst="rect">
            <a:avLst/>
          </a:prstGeom>
        </p:spPr>
      </p:pic>
      <p:sp>
        <p:nvSpPr>
          <p:cNvPr id="6" name="TextBox 5">
            <a:extLst>
              <a:ext uri="{FF2B5EF4-FFF2-40B4-BE49-F238E27FC236}">
                <a16:creationId xmlns:a16="http://schemas.microsoft.com/office/drawing/2014/main" id="{DD5D058F-546E-FB2B-EFD1-BAA951DE07AD}"/>
              </a:ext>
            </a:extLst>
          </p:cNvPr>
          <p:cNvSpPr txBox="1"/>
          <p:nvPr/>
        </p:nvSpPr>
        <p:spPr>
          <a:xfrm>
            <a:off x="1157531" y="4701697"/>
            <a:ext cx="10424869" cy="1477328"/>
          </a:xfrm>
          <a:prstGeom prst="rect">
            <a:avLst/>
          </a:prstGeom>
          <a:noFill/>
        </p:spPr>
        <p:txBody>
          <a:bodyPr wrap="square" rtlCol="0">
            <a:spAutoFit/>
          </a:bodyPr>
          <a:lstStyle/>
          <a:p>
            <a:r>
              <a:rPr lang="en-US" b="0" i="0" dirty="0">
                <a:solidFill>
                  <a:srgbClr val="424242"/>
                </a:solidFill>
                <a:effectLst/>
                <a:latin typeface="Segoe Sans"/>
              </a:rPr>
              <a:t>The book "</a:t>
            </a:r>
            <a:r>
              <a:rPr lang="en-US" b="0" i="0" u="sng" dirty="0">
                <a:solidFill>
                  <a:srgbClr val="424242"/>
                </a:solidFill>
                <a:effectLst/>
                <a:latin typeface="Segoe Sans"/>
              </a:rPr>
              <a:t>On Death and Dying</a:t>
            </a:r>
            <a:r>
              <a:rPr lang="en-US" b="0" i="0" dirty="0">
                <a:solidFill>
                  <a:srgbClr val="424242"/>
                </a:solidFill>
                <a:effectLst/>
                <a:latin typeface="Segoe Sans"/>
              </a:rPr>
              <a:t>“ – </a:t>
            </a:r>
            <a:r>
              <a:rPr lang="en-US" b="0" i="1" dirty="0">
                <a:solidFill>
                  <a:srgbClr val="424242"/>
                </a:solidFill>
                <a:effectLst/>
                <a:latin typeface="Segoe Sans"/>
              </a:rPr>
              <a:t>1969, by Elisabeth Kübler-Ross, </a:t>
            </a:r>
            <a:r>
              <a:rPr lang="en-US" b="0" dirty="0">
                <a:solidFill>
                  <a:srgbClr val="424242"/>
                </a:solidFill>
                <a:effectLst/>
                <a:latin typeface="Segoe Sans"/>
              </a:rPr>
              <a:t>defines a model DABDA</a:t>
            </a:r>
            <a:r>
              <a:rPr lang="en-US" b="0" i="1" dirty="0">
                <a:solidFill>
                  <a:srgbClr val="424242"/>
                </a:solidFill>
                <a:effectLst/>
                <a:latin typeface="Segoe Sans"/>
              </a:rPr>
              <a:t>.</a:t>
            </a:r>
          </a:p>
          <a:p>
            <a:endParaRPr lang="en-US" b="0" i="1" dirty="0">
              <a:solidFill>
                <a:srgbClr val="424242"/>
              </a:solidFill>
              <a:effectLst/>
              <a:latin typeface="Segoe Sans"/>
            </a:endParaRPr>
          </a:p>
          <a:p>
            <a:pPr indent="355600"/>
            <a:r>
              <a:rPr lang="en-US" b="0" i="0" dirty="0">
                <a:solidFill>
                  <a:srgbClr val="424242"/>
                </a:solidFill>
                <a:effectLst/>
                <a:latin typeface="Segoe Sans"/>
              </a:rPr>
              <a:t>This model outlines five stages that people typically go through when dealing with grief and loss. </a:t>
            </a:r>
          </a:p>
          <a:p>
            <a:pPr marL="355600"/>
            <a:r>
              <a:rPr lang="en-US" b="0" i="0" dirty="0">
                <a:solidFill>
                  <a:srgbClr val="424242"/>
                </a:solidFill>
                <a:effectLst/>
                <a:latin typeface="Segoe Sans"/>
              </a:rPr>
              <a:t>These stages are not necessarily experienced in a linear order, and individuals may move back and forth between stages or experience multiple stages simultaneously. </a:t>
            </a:r>
            <a:endParaRPr lang="en-IN" dirty="0"/>
          </a:p>
        </p:txBody>
      </p:sp>
      <p:pic>
        <p:nvPicPr>
          <p:cNvPr id="8" name="Picture 7">
            <a:extLst>
              <a:ext uri="{FF2B5EF4-FFF2-40B4-BE49-F238E27FC236}">
                <a16:creationId xmlns:a16="http://schemas.microsoft.com/office/drawing/2014/main" id="{7FB05AAA-C43B-CD61-EE8C-65E27BE00E07}"/>
              </a:ext>
            </a:extLst>
          </p:cNvPr>
          <p:cNvPicPr>
            <a:picLocks noChangeAspect="1"/>
          </p:cNvPicPr>
          <p:nvPr/>
        </p:nvPicPr>
        <p:blipFill>
          <a:blip r:embed="rId8"/>
          <a:stretch>
            <a:fillRect/>
          </a:stretch>
        </p:blipFill>
        <p:spPr>
          <a:xfrm>
            <a:off x="9499572" y="1333714"/>
            <a:ext cx="1653683" cy="320068"/>
          </a:xfrm>
          <a:prstGeom prst="rect">
            <a:avLst/>
          </a:prstGeom>
        </p:spPr>
      </p:pic>
    </p:spTree>
    <p:extLst>
      <p:ext uri="{BB962C8B-B14F-4D97-AF65-F5344CB8AC3E}">
        <p14:creationId xmlns:p14="http://schemas.microsoft.com/office/powerpoint/2010/main" val="216570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027924" y="991261"/>
            <a:ext cx="5754696" cy="1837349"/>
          </a:xfrm>
        </p:spPr>
        <p:txBody>
          <a:bodyPr>
            <a:normAutofit/>
          </a:bodyPr>
          <a:lstStyle/>
          <a:p>
            <a:r>
              <a:rPr lang="en-IN" sz="3600">
                <a:solidFill>
                  <a:schemeClr val="tx2"/>
                </a:solidFill>
              </a:rPr>
              <a:t>Denial</a:t>
            </a:r>
          </a:p>
        </p:txBody>
      </p:sp>
      <p:grpSp>
        <p:nvGrpSpPr>
          <p:cNvPr id="22" name="Group 21">
            <a:extLst>
              <a:ext uri="{FF2B5EF4-FFF2-40B4-BE49-F238E27FC236}">
                <a16:creationId xmlns:a16="http://schemas.microsoft.com/office/drawing/2014/main" id="{05545017-2445-4AB3-95A6-48F17C80261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11" name="Freeform: Shape 10">
              <a:extLst>
                <a:ext uri="{FF2B5EF4-FFF2-40B4-BE49-F238E27FC236}">
                  <a16:creationId xmlns:a16="http://schemas.microsoft.com/office/drawing/2014/main" id="{F3B5D580-007D-4215-A10B-C8CF12EE02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24228C19-035F-4E8E-BAFD-56EC684B6F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C10D7C81-A1BE-4720-A66D-AEF9A11A54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1BF18FEE-BE44-4F4A-AA4E-EC795CB0B9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p:cNvSpPr>
            <a:spLocks noGrp="1"/>
          </p:cNvSpPr>
          <p:nvPr>
            <p:ph idx="1"/>
          </p:nvPr>
        </p:nvSpPr>
        <p:spPr>
          <a:xfrm>
            <a:off x="2354317" y="2979336"/>
            <a:ext cx="7451835" cy="2430864"/>
          </a:xfrm>
        </p:spPr>
        <p:txBody>
          <a:bodyPr anchor="t">
            <a:normAutofit/>
          </a:bodyPr>
          <a:lstStyle/>
          <a:p>
            <a:pPr lvl="1">
              <a:lnSpc>
                <a:spcPct val="90000"/>
              </a:lnSpc>
              <a:spcAft>
                <a:spcPts val="600"/>
              </a:spcAft>
              <a:buFont typeface="+mj-lt"/>
              <a:buAutoNum type="arabicPeriod"/>
            </a:pPr>
            <a:r>
              <a:rPr lang="en-US" sz="1800" b="0" i="0" dirty="0">
                <a:solidFill>
                  <a:schemeClr val="tx2"/>
                </a:solidFill>
                <a:effectLst/>
                <a:latin typeface="Segoe Sans"/>
              </a:rPr>
              <a:t>Denial is the first stage of grief. It helps us to survive the loss. In this stage, the world becomes meaningless and overwhelming. Life makes no sense.</a:t>
            </a:r>
          </a:p>
          <a:p>
            <a:pPr lvl="1">
              <a:lnSpc>
                <a:spcPct val="90000"/>
              </a:lnSpc>
              <a:spcAft>
                <a:spcPts val="600"/>
              </a:spcAft>
              <a:buFont typeface="+mj-lt"/>
              <a:buAutoNum type="arabicPeriod"/>
            </a:pPr>
            <a:r>
              <a:rPr lang="en-US" sz="1800" b="0" i="0" dirty="0">
                <a:solidFill>
                  <a:schemeClr val="tx2"/>
                </a:solidFill>
                <a:effectLst/>
                <a:latin typeface="Segoe Sans"/>
              </a:rPr>
              <a:t>Key Points:</a:t>
            </a:r>
          </a:p>
          <a:p>
            <a:pPr lvl="2">
              <a:lnSpc>
                <a:spcPct val="90000"/>
              </a:lnSpc>
              <a:spcAft>
                <a:spcPts val="600"/>
              </a:spcAft>
              <a:buFont typeface="+mj-lt"/>
              <a:buAutoNum type="arabicPeriod"/>
            </a:pPr>
            <a:r>
              <a:rPr lang="en-US" sz="1800" b="0" i="0" dirty="0">
                <a:solidFill>
                  <a:schemeClr val="tx2"/>
                </a:solidFill>
                <a:effectLst/>
                <a:latin typeface="Segoe Sans"/>
              </a:rPr>
              <a:t>Shock and disbelief</a:t>
            </a:r>
          </a:p>
          <a:p>
            <a:pPr lvl="2">
              <a:lnSpc>
                <a:spcPct val="90000"/>
              </a:lnSpc>
              <a:spcAft>
                <a:spcPts val="600"/>
              </a:spcAft>
              <a:buFont typeface="+mj-lt"/>
              <a:buAutoNum type="arabicPeriod"/>
            </a:pPr>
            <a:r>
              <a:rPr lang="en-US" sz="1800" b="0" i="0" dirty="0">
                <a:solidFill>
                  <a:schemeClr val="tx2"/>
                </a:solidFill>
                <a:effectLst/>
                <a:latin typeface="Segoe Sans"/>
              </a:rPr>
              <a:t>Numbness</a:t>
            </a:r>
          </a:p>
          <a:p>
            <a:pPr lvl="2">
              <a:lnSpc>
                <a:spcPct val="90000"/>
              </a:lnSpc>
              <a:spcAft>
                <a:spcPts val="600"/>
              </a:spcAft>
              <a:buFont typeface="+mj-lt"/>
              <a:buAutoNum type="arabicPeriod"/>
            </a:pPr>
            <a:r>
              <a:rPr lang="en-US" sz="1800" b="0" i="0" dirty="0">
                <a:solidFill>
                  <a:schemeClr val="tx2"/>
                </a:solidFill>
                <a:effectLst/>
                <a:latin typeface="Segoe Sans"/>
              </a:rPr>
              <a:t>Avoidance of reality</a:t>
            </a:r>
          </a:p>
          <a:p>
            <a:pPr>
              <a:lnSpc>
                <a:spcPct val="90000"/>
              </a:lnSpc>
            </a:pPr>
            <a:endParaRPr lang="en-US" sz="1800" dirty="0">
              <a:solidFill>
                <a:schemeClr val="tx2"/>
              </a:solidFill>
            </a:endParaRPr>
          </a:p>
        </p:txBody>
      </p:sp>
      <p:grpSp>
        <p:nvGrpSpPr>
          <p:cNvPr id="26" name="Group 25">
            <a:extLst>
              <a:ext uri="{FF2B5EF4-FFF2-40B4-BE49-F238E27FC236}">
                <a16:creationId xmlns:a16="http://schemas.microsoft.com/office/drawing/2014/main" id="{06B7259D-F2AD-42FE-B984-6D1D74321C5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56264" y="3658536"/>
            <a:ext cx="3655725" cy="2743201"/>
            <a:chOff x="-305" y="-1"/>
            <a:chExt cx="3832880" cy="2876136"/>
          </a:xfrm>
        </p:grpSpPr>
        <p:sp>
          <p:nvSpPr>
            <p:cNvPr id="27" name="Freeform: Shape 26">
              <a:extLst>
                <a:ext uri="{FF2B5EF4-FFF2-40B4-BE49-F238E27FC236}">
                  <a16:creationId xmlns:a16="http://schemas.microsoft.com/office/drawing/2014/main" id="{9E5C38C6-2516-45D1-ADFC-3F59F8E34A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6C274C95-E7A7-401D-A8F5-FFF5EB9291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61D598C3-55D0-44FB-8766-A89B34B317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39EBC5C7-E54F-42F3-93F0-75AAC99FF9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027924" y="991261"/>
            <a:ext cx="5754696" cy="1837349"/>
          </a:xfrm>
        </p:spPr>
        <p:txBody>
          <a:bodyPr>
            <a:normAutofit/>
          </a:bodyPr>
          <a:lstStyle/>
          <a:p>
            <a:r>
              <a:rPr lang="en-IN" sz="3600">
                <a:solidFill>
                  <a:schemeClr val="tx2"/>
                </a:solidFill>
              </a:rPr>
              <a:t>Anger</a:t>
            </a:r>
          </a:p>
        </p:txBody>
      </p:sp>
      <p:grpSp>
        <p:nvGrpSpPr>
          <p:cNvPr id="10" name="Group 9">
            <a:extLst>
              <a:ext uri="{FF2B5EF4-FFF2-40B4-BE49-F238E27FC236}">
                <a16:creationId xmlns:a16="http://schemas.microsoft.com/office/drawing/2014/main" id="{05545017-2445-4AB3-95A6-48F17C80261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11" name="Freeform: Shape 10">
              <a:extLst>
                <a:ext uri="{FF2B5EF4-FFF2-40B4-BE49-F238E27FC236}">
                  <a16:creationId xmlns:a16="http://schemas.microsoft.com/office/drawing/2014/main" id="{F3B5D580-007D-4215-A10B-C8CF12EE02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24228C19-035F-4E8E-BAFD-56EC684B6F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C10D7C81-A1BE-4720-A66D-AEF9A11A54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1BF18FEE-BE44-4F4A-AA4E-EC795CB0B9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p:cNvSpPr>
            <a:spLocks noGrp="1"/>
          </p:cNvSpPr>
          <p:nvPr>
            <p:ph idx="1"/>
          </p:nvPr>
        </p:nvSpPr>
        <p:spPr>
          <a:xfrm>
            <a:off x="2301766" y="2979336"/>
            <a:ext cx="7062951" cy="2430864"/>
          </a:xfrm>
        </p:spPr>
        <p:txBody>
          <a:bodyPr anchor="t">
            <a:noAutofit/>
          </a:bodyPr>
          <a:lstStyle/>
          <a:p>
            <a:pPr lvl="1">
              <a:lnSpc>
                <a:spcPct val="90000"/>
              </a:lnSpc>
              <a:spcAft>
                <a:spcPts val="600"/>
              </a:spcAft>
              <a:buFont typeface="+mj-lt"/>
              <a:buAutoNum type="arabicPeriod"/>
            </a:pPr>
            <a:r>
              <a:rPr lang="en-US" sz="1800" b="0" i="0" dirty="0">
                <a:solidFill>
                  <a:schemeClr val="tx2"/>
                </a:solidFill>
                <a:effectLst/>
                <a:latin typeface="Segoe Sans"/>
              </a:rPr>
              <a:t>Anger is a necessary stage of the healing process. Be willing to feel your anger, even though it may seem endless. The more you truly feel it, the more it will begin to dissipate and the more you will heal.</a:t>
            </a:r>
          </a:p>
          <a:p>
            <a:pPr lvl="1">
              <a:lnSpc>
                <a:spcPct val="90000"/>
              </a:lnSpc>
              <a:spcAft>
                <a:spcPts val="600"/>
              </a:spcAft>
              <a:buFont typeface="+mj-lt"/>
              <a:buAutoNum type="arabicPeriod"/>
            </a:pPr>
            <a:r>
              <a:rPr lang="en-US" sz="1800" b="0" i="0" dirty="0">
                <a:solidFill>
                  <a:schemeClr val="tx2"/>
                </a:solidFill>
                <a:effectLst/>
                <a:latin typeface="Segoe Sans"/>
              </a:rPr>
              <a:t>Key Points:</a:t>
            </a:r>
          </a:p>
          <a:p>
            <a:pPr lvl="2">
              <a:lnSpc>
                <a:spcPct val="90000"/>
              </a:lnSpc>
              <a:spcAft>
                <a:spcPts val="600"/>
              </a:spcAft>
              <a:buFont typeface="+mj-lt"/>
              <a:buAutoNum type="arabicPeriod"/>
            </a:pPr>
            <a:r>
              <a:rPr lang="en-US" sz="1800" b="0" i="0" dirty="0">
                <a:solidFill>
                  <a:schemeClr val="tx2"/>
                </a:solidFill>
                <a:effectLst/>
                <a:latin typeface="Segoe Sans"/>
              </a:rPr>
              <a:t>Frustration and irritation</a:t>
            </a:r>
          </a:p>
          <a:p>
            <a:pPr lvl="2">
              <a:lnSpc>
                <a:spcPct val="90000"/>
              </a:lnSpc>
              <a:spcAft>
                <a:spcPts val="600"/>
              </a:spcAft>
              <a:buFont typeface="+mj-lt"/>
              <a:buAutoNum type="arabicPeriod"/>
            </a:pPr>
            <a:r>
              <a:rPr lang="en-US" sz="1800" b="0" i="0" dirty="0">
                <a:solidFill>
                  <a:schemeClr val="tx2"/>
                </a:solidFill>
                <a:effectLst/>
                <a:latin typeface="Segoe Sans"/>
              </a:rPr>
              <a:t>Blaming others</a:t>
            </a:r>
          </a:p>
          <a:p>
            <a:pPr lvl="2">
              <a:lnSpc>
                <a:spcPct val="90000"/>
              </a:lnSpc>
              <a:spcAft>
                <a:spcPts val="600"/>
              </a:spcAft>
              <a:buFont typeface="+mj-lt"/>
              <a:buAutoNum type="arabicPeriod"/>
            </a:pPr>
            <a:r>
              <a:rPr lang="en-US" sz="1800" b="0" i="0" dirty="0">
                <a:solidFill>
                  <a:schemeClr val="tx2"/>
                </a:solidFill>
                <a:effectLst/>
                <a:latin typeface="Segoe Sans"/>
              </a:rPr>
              <a:t>Feeling abandoned</a:t>
            </a:r>
          </a:p>
          <a:p>
            <a:pPr>
              <a:lnSpc>
                <a:spcPct val="90000"/>
              </a:lnSpc>
            </a:pPr>
            <a:endParaRPr lang="en-US" sz="1800" dirty="0">
              <a:solidFill>
                <a:schemeClr val="tx2"/>
              </a:solidFill>
            </a:endParaRPr>
          </a:p>
        </p:txBody>
      </p:sp>
      <p:grpSp>
        <p:nvGrpSpPr>
          <p:cNvPr id="16" name="Group 15">
            <a:extLst>
              <a:ext uri="{FF2B5EF4-FFF2-40B4-BE49-F238E27FC236}">
                <a16:creationId xmlns:a16="http://schemas.microsoft.com/office/drawing/2014/main" id="{06B7259D-F2AD-42FE-B984-6D1D74321C5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56264" y="3658536"/>
            <a:ext cx="3655725" cy="2743201"/>
            <a:chOff x="-305" y="-1"/>
            <a:chExt cx="3832880" cy="2876136"/>
          </a:xfrm>
        </p:grpSpPr>
        <p:sp>
          <p:nvSpPr>
            <p:cNvPr id="17" name="Freeform: Shape 16">
              <a:extLst>
                <a:ext uri="{FF2B5EF4-FFF2-40B4-BE49-F238E27FC236}">
                  <a16:creationId xmlns:a16="http://schemas.microsoft.com/office/drawing/2014/main" id="{9E5C38C6-2516-45D1-ADFC-3F59F8E34A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6C274C95-E7A7-401D-A8F5-FFF5EB9291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61D598C3-55D0-44FB-8766-A89B34B317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39EBC5C7-E54F-42F3-93F0-75AAC99FF9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027924" y="991261"/>
            <a:ext cx="5754696" cy="1837349"/>
          </a:xfrm>
        </p:spPr>
        <p:txBody>
          <a:bodyPr>
            <a:normAutofit/>
          </a:bodyPr>
          <a:lstStyle/>
          <a:p>
            <a:r>
              <a:rPr lang="en-IN" sz="3600">
                <a:solidFill>
                  <a:schemeClr val="tx2"/>
                </a:solidFill>
              </a:rPr>
              <a:t>Bargaining</a:t>
            </a:r>
          </a:p>
        </p:txBody>
      </p:sp>
      <p:grpSp>
        <p:nvGrpSpPr>
          <p:cNvPr id="10" name="Group 9">
            <a:extLst>
              <a:ext uri="{FF2B5EF4-FFF2-40B4-BE49-F238E27FC236}">
                <a16:creationId xmlns:a16="http://schemas.microsoft.com/office/drawing/2014/main" id="{05545017-2445-4AB3-95A6-48F17C80261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11" name="Freeform: Shape 10">
              <a:extLst>
                <a:ext uri="{FF2B5EF4-FFF2-40B4-BE49-F238E27FC236}">
                  <a16:creationId xmlns:a16="http://schemas.microsoft.com/office/drawing/2014/main" id="{F3B5D580-007D-4215-A10B-C8CF12EE02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24228C19-035F-4E8E-BAFD-56EC684B6F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C10D7C81-A1BE-4720-A66D-AEF9A11A54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1BF18FEE-BE44-4F4A-AA4E-EC795CB0B9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p:cNvSpPr>
            <a:spLocks noGrp="1"/>
          </p:cNvSpPr>
          <p:nvPr>
            <p:ph idx="1"/>
          </p:nvPr>
        </p:nvSpPr>
        <p:spPr>
          <a:xfrm>
            <a:off x="2081048" y="2979336"/>
            <a:ext cx="7525407" cy="2430864"/>
          </a:xfrm>
        </p:spPr>
        <p:txBody>
          <a:bodyPr anchor="t">
            <a:noAutofit/>
          </a:bodyPr>
          <a:lstStyle/>
          <a:p>
            <a:pPr lvl="1">
              <a:lnSpc>
                <a:spcPct val="90000"/>
              </a:lnSpc>
              <a:spcAft>
                <a:spcPts val="600"/>
              </a:spcAft>
              <a:buFont typeface="+mj-lt"/>
              <a:buAutoNum type="arabicPeriod"/>
            </a:pPr>
            <a:r>
              <a:rPr lang="en-US" sz="1800" b="0" i="0" dirty="0">
                <a:solidFill>
                  <a:schemeClr val="tx2"/>
                </a:solidFill>
                <a:effectLst/>
                <a:latin typeface="Segoe Sans"/>
              </a:rPr>
              <a:t>Before a loss, it seems like you will do anything if only your loved one would be spared. After a loss, bargaining may take the form of a temporary truce. We become lost in a maze of 'If only...' or 'What if...' statements.</a:t>
            </a:r>
          </a:p>
          <a:p>
            <a:pPr lvl="1">
              <a:lnSpc>
                <a:spcPct val="90000"/>
              </a:lnSpc>
              <a:spcAft>
                <a:spcPts val="600"/>
              </a:spcAft>
              <a:buFont typeface="+mj-lt"/>
              <a:buAutoNum type="arabicPeriod"/>
            </a:pPr>
            <a:r>
              <a:rPr lang="en-US" sz="1800" b="0" i="0" dirty="0">
                <a:solidFill>
                  <a:schemeClr val="tx2"/>
                </a:solidFill>
                <a:effectLst/>
                <a:latin typeface="Segoe Sans"/>
              </a:rPr>
              <a:t>Key Points:</a:t>
            </a:r>
          </a:p>
          <a:p>
            <a:pPr lvl="2">
              <a:lnSpc>
                <a:spcPct val="90000"/>
              </a:lnSpc>
              <a:spcAft>
                <a:spcPts val="600"/>
              </a:spcAft>
              <a:buFont typeface="+mj-lt"/>
              <a:buAutoNum type="arabicPeriod"/>
            </a:pPr>
            <a:r>
              <a:rPr lang="en-US" sz="1800" b="0" i="0" dirty="0">
                <a:solidFill>
                  <a:schemeClr val="tx2"/>
                </a:solidFill>
                <a:effectLst/>
                <a:latin typeface="Segoe Sans"/>
              </a:rPr>
              <a:t>Guilt and regret</a:t>
            </a:r>
          </a:p>
          <a:p>
            <a:pPr lvl="2">
              <a:lnSpc>
                <a:spcPct val="90000"/>
              </a:lnSpc>
              <a:spcAft>
                <a:spcPts val="600"/>
              </a:spcAft>
              <a:buFont typeface="+mj-lt"/>
              <a:buAutoNum type="arabicPeriod"/>
            </a:pPr>
            <a:r>
              <a:rPr lang="en-US" sz="1800" b="0" i="0" dirty="0">
                <a:solidFill>
                  <a:schemeClr val="tx2"/>
                </a:solidFill>
                <a:effectLst/>
                <a:latin typeface="Segoe Sans"/>
              </a:rPr>
              <a:t>Making deals with a higher power</a:t>
            </a:r>
          </a:p>
          <a:p>
            <a:pPr lvl="2">
              <a:lnSpc>
                <a:spcPct val="90000"/>
              </a:lnSpc>
              <a:spcAft>
                <a:spcPts val="600"/>
              </a:spcAft>
              <a:buFont typeface="+mj-lt"/>
              <a:buAutoNum type="arabicPeriod"/>
            </a:pPr>
            <a:r>
              <a:rPr lang="en-US" sz="1800" b="0" i="0" dirty="0">
                <a:solidFill>
                  <a:schemeClr val="tx2"/>
                </a:solidFill>
                <a:effectLst/>
                <a:latin typeface="Segoe Sans"/>
              </a:rPr>
              <a:t>Dwelling on what could have been done differently</a:t>
            </a:r>
          </a:p>
          <a:p>
            <a:pPr>
              <a:lnSpc>
                <a:spcPct val="90000"/>
              </a:lnSpc>
            </a:pPr>
            <a:endParaRPr lang="en-US" sz="1800" dirty="0">
              <a:solidFill>
                <a:schemeClr val="tx2"/>
              </a:solidFill>
            </a:endParaRPr>
          </a:p>
        </p:txBody>
      </p:sp>
      <p:grpSp>
        <p:nvGrpSpPr>
          <p:cNvPr id="16" name="Group 15">
            <a:extLst>
              <a:ext uri="{FF2B5EF4-FFF2-40B4-BE49-F238E27FC236}">
                <a16:creationId xmlns:a16="http://schemas.microsoft.com/office/drawing/2014/main" id="{06B7259D-F2AD-42FE-B984-6D1D74321C5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56264" y="3658536"/>
            <a:ext cx="3655725" cy="2743201"/>
            <a:chOff x="-305" y="-1"/>
            <a:chExt cx="3832880" cy="2876136"/>
          </a:xfrm>
        </p:grpSpPr>
        <p:sp>
          <p:nvSpPr>
            <p:cNvPr id="17" name="Freeform: Shape 16">
              <a:extLst>
                <a:ext uri="{FF2B5EF4-FFF2-40B4-BE49-F238E27FC236}">
                  <a16:creationId xmlns:a16="http://schemas.microsoft.com/office/drawing/2014/main" id="{9E5C38C6-2516-45D1-ADFC-3F59F8E34A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6C274C95-E7A7-401D-A8F5-FFF5EB9291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61D598C3-55D0-44FB-8766-A89B34B317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39EBC5C7-E54F-42F3-93F0-75AAC99FF9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p:cNvSpPr>
            <a:spLocks noGrp="1"/>
          </p:cNvSpPr>
          <p:nvPr>
            <p:ph type="title"/>
          </p:nvPr>
        </p:nvSpPr>
        <p:spPr>
          <a:xfrm>
            <a:off x="1179226" y="1280679"/>
            <a:ext cx="9833548" cy="1325563"/>
          </a:xfrm>
        </p:spPr>
        <p:txBody>
          <a:bodyPr anchor="b">
            <a:normAutofit/>
          </a:bodyPr>
          <a:lstStyle/>
          <a:p>
            <a:r>
              <a:rPr lang="en-IN" sz="3600">
                <a:solidFill>
                  <a:schemeClr val="tx2"/>
                </a:solidFill>
              </a:rPr>
              <a:t>Depression</a:t>
            </a:r>
          </a:p>
        </p:txBody>
      </p:sp>
      <p:grpSp>
        <p:nvGrpSpPr>
          <p:cNvPr id="24" name="Group 23">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25" name="Freeform: Shape 24">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p:cNvSpPr>
            <a:spLocks noGrp="1"/>
          </p:cNvSpPr>
          <p:nvPr>
            <p:ph idx="1"/>
          </p:nvPr>
        </p:nvSpPr>
        <p:spPr>
          <a:xfrm>
            <a:off x="1179226" y="2890979"/>
            <a:ext cx="9833548" cy="2693976"/>
          </a:xfrm>
        </p:spPr>
        <p:txBody>
          <a:bodyPr>
            <a:normAutofit/>
          </a:bodyPr>
          <a:lstStyle/>
          <a:p>
            <a:pPr lvl="1">
              <a:spcAft>
                <a:spcPts val="600"/>
              </a:spcAft>
              <a:buFont typeface="+mj-lt"/>
              <a:buAutoNum type="arabicPeriod"/>
            </a:pPr>
            <a:r>
              <a:rPr lang="en-US" sz="1800" b="0" i="0" dirty="0">
                <a:solidFill>
                  <a:schemeClr val="tx2"/>
                </a:solidFill>
                <a:effectLst/>
                <a:latin typeface="Segoe Sans"/>
              </a:rPr>
              <a:t>After bargaining, our attention moves squarely into the present. Empty feelings present themselves, and grief enters our lives on a deeper level, deeper than we ever imagined.</a:t>
            </a:r>
          </a:p>
          <a:p>
            <a:pPr lvl="1">
              <a:spcAft>
                <a:spcPts val="600"/>
              </a:spcAft>
              <a:buFont typeface="+mj-lt"/>
              <a:buAutoNum type="arabicPeriod"/>
            </a:pPr>
            <a:r>
              <a:rPr lang="en-US" sz="1800" b="0" i="0" dirty="0">
                <a:solidFill>
                  <a:schemeClr val="tx2"/>
                </a:solidFill>
                <a:effectLst/>
                <a:latin typeface="Segoe Sans"/>
              </a:rPr>
              <a:t>Key Points:</a:t>
            </a:r>
          </a:p>
          <a:p>
            <a:pPr lvl="2">
              <a:spcAft>
                <a:spcPts val="600"/>
              </a:spcAft>
              <a:buFont typeface="+mj-lt"/>
              <a:buAutoNum type="arabicPeriod"/>
            </a:pPr>
            <a:r>
              <a:rPr lang="en-US" sz="1800" b="0" i="0" dirty="0">
                <a:solidFill>
                  <a:schemeClr val="tx2"/>
                </a:solidFill>
                <a:effectLst/>
                <a:latin typeface="Segoe Sans"/>
              </a:rPr>
              <a:t>Deep sadness and despair</a:t>
            </a:r>
          </a:p>
          <a:p>
            <a:pPr lvl="2">
              <a:spcAft>
                <a:spcPts val="600"/>
              </a:spcAft>
              <a:buFont typeface="+mj-lt"/>
              <a:buAutoNum type="arabicPeriod"/>
            </a:pPr>
            <a:r>
              <a:rPr lang="en-US" sz="1800" b="0" i="0" dirty="0">
                <a:solidFill>
                  <a:schemeClr val="tx2"/>
                </a:solidFill>
                <a:effectLst/>
                <a:latin typeface="Segoe Sans"/>
              </a:rPr>
              <a:t>Withdrawal from life</a:t>
            </a:r>
          </a:p>
          <a:p>
            <a:pPr lvl="2">
              <a:spcAft>
                <a:spcPts val="600"/>
              </a:spcAft>
              <a:buFont typeface="+mj-lt"/>
              <a:buAutoNum type="arabicPeriod"/>
            </a:pPr>
            <a:r>
              <a:rPr lang="en-US" sz="1800" b="0" i="0" dirty="0">
                <a:solidFill>
                  <a:schemeClr val="tx2"/>
                </a:solidFill>
                <a:effectLst/>
                <a:latin typeface="Segoe Sans"/>
              </a:rPr>
              <a:t>Feeling overwhelmed</a:t>
            </a:r>
          </a:p>
          <a:p>
            <a:endParaRPr lang="en-US" sz="1800" dirty="0">
              <a:solidFill>
                <a:schemeClr val="tx2"/>
              </a:solidFill>
            </a:endParaRPr>
          </a:p>
        </p:txBody>
      </p:sp>
      <p:grpSp>
        <p:nvGrpSpPr>
          <p:cNvPr id="30" name="Group 29">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31" name="Freeform: Shape 30">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027924" y="991261"/>
            <a:ext cx="5754696" cy="1837349"/>
          </a:xfrm>
        </p:spPr>
        <p:txBody>
          <a:bodyPr>
            <a:normAutofit/>
          </a:bodyPr>
          <a:lstStyle/>
          <a:p>
            <a:r>
              <a:rPr lang="en-IN" sz="3600">
                <a:solidFill>
                  <a:schemeClr val="tx2"/>
                </a:solidFill>
              </a:rPr>
              <a:t>Acceptance</a:t>
            </a:r>
          </a:p>
        </p:txBody>
      </p:sp>
      <p:grpSp>
        <p:nvGrpSpPr>
          <p:cNvPr id="25" name="Group 24">
            <a:extLst>
              <a:ext uri="{FF2B5EF4-FFF2-40B4-BE49-F238E27FC236}">
                <a16:creationId xmlns:a16="http://schemas.microsoft.com/office/drawing/2014/main" id="{05545017-2445-4AB3-95A6-48F17C80261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11" name="Freeform: Shape 10">
              <a:extLst>
                <a:ext uri="{FF2B5EF4-FFF2-40B4-BE49-F238E27FC236}">
                  <a16:creationId xmlns:a16="http://schemas.microsoft.com/office/drawing/2014/main" id="{F3B5D580-007D-4215-A10B-C8CF12EE02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24228C19-035F-4E8E-BAFD-56EC684B6F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C10D7C81-A1BE-4720-A66D-AEF9A11A54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1BF18FEE-BE44-4F4A-AA4E-EC795CB0B9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p:cNvSpPr>
            <a:spLocks noGrp="1"/>
          </p:cNvSpPr>
          <p:nvPr>
            <p:ph idx="1"/>
          </p:nvPr>
        </p:nvSpPr>
        <p:spPr>
          <a:xfrm>
            <a:off x="1334814" y="2979335"/>
            <a:ext cx="8818179" cy="2887403"/>
          </a:xfrm>
        </p:spPr>
        <p:txBody>
          <a:bodyPr anchor="t">
            <a:noAutofit/>
          </a:bodyPr>
          <a:lstStyle/>
          <a:p>
            <a:pPr lvl="1">
              <a:lnSpc>
                <a:spcPct val="90000"/>
              </a:lnSpc>
              <a:spcAft>
                <a:spcPts val="600"/>
              </a:spcAft>
              <a:buFont typeface="+mj-lt"/>
              <a:buAutoNum type="arabicPeriod"/>
            </a:pPr>
            <a:r>
              <a:rPr lang="en-US" sz="1800" b="0" i="0" dirty="0">
                <a:solidFill>
                  <a:schemeClr val="tx2"/>
                </a:solidFill>
                <a:effectLst/>
                <a:latin typeface="Segoe Sans"/>
              </a:rPr>
              <a:t>Acceptance is often confused with the notion of being 'all right' or 'OK' with what has happened. This is not the case. Most people don't ever feel OK or all right about the loss. This stage is about accepting the reality that our loved one is physically gone and recognizing that this new reality is the permanent reality.</a:t>
            </a:r>
          </a:p>
          <a:p>
            <a:pPr lvl="1">
              <a:lnSpc>
                <a:spcPct val="90000"/>
              </a:lnSpc>
              <a:spcAft>
                <a:spcPts val="600"/>
              </a:spcAft>
              <a:buFont typeface="+mj-lt"/>
              <a:buAutoNum type="arabicPeriod"/>
            </a:pPr>
            <a:r>
              <a:rPr lang="en-US" sz="1800" b="0" i="0" dirty="0">
                <a:solidFill>
                  <a:schemeClr val="tx2"/>
                </a:solidFill>
                <a:effectLst/>
                <a:latin typeface="Segoe Sans"/>
              </a:rPr>
              <a:t>Key Points:</a:t>
            </a:r>
          </a:p>
          <a:p>
            <a:pPr lvl="2">
              <a:lnSpc>
                <a:spcPct val="90000"/>
              </a:lnSpc>
              <a:spcAft>
                <a:spcPts val="600"/>
              </a:spcAft>
              <a:buFont typeface="+mj-lt"/>
              <a:buAutoNum type="arabicPeriod"/>
            </a:pPr>
            <a:r>
              <a:rPr lang="en-US" sz="1800" b="0" i="0" dirty="0">
                <a:solidFill>
                  <a:schemeClr val="tx2"/>
                </a:solidFill>
                <a:effectLst/>
                <a:latin typeface="Segoe Sans"/>
              </a:rPr>
              <a:t>Coming to terms with the loss</a:t>
            </a:r>
          </a:p>
          <a:p>
            <a:pPr lvl="2">
              <a:lnSpc>
                <a:spcPct val="90000"/>
              </a:lnSpc>
              <a:spcAft>
                <a:spcPts val="600"/>
              </a:spcAft>
              <a:buFont typeface="+mj-lt"/>
              <a:buAutoNum type="arabicPeriod"/>
            </a:pPr>
            <a:r>
              <a:rPr lang="en-US" sz="1800" b="0" i="0" dirty="0">
                <a:solidFill>
                  <a:schemeClr val="tx2"/>
                </a:solidFill>
                <a:effectLst/>
                <a:latin typeface="Segoe Sans"/>
              </a:rPr>
              <a:t>Finding ways to move forward</a:t>
            </a:r>
          </a:p>
          <a:p>
            <a:pPr lvl="2">
              <a:lnSpc>
                <a:spcPct val="90000"/>
              </a:lnSpc>
              <a:spcAft>
                <a:spcPts val="600"/>
              </a:spcAft>
              <a:buFont typeface="+mj-lt"/>
              <a:buAutoNum type="arabicPeriod"/>
            </a:pPr>
            <a:r>
              <a:rPr lang="en-US" sz="1800" b="0" i="0" dirty="0">
                <a:solidFill>
                  <a:schemeClr val="tx2"/>
                </a:solidFill>
                <a:effectLst/>
                <a:latin typeface="Segoe Sans"/>
              </a:rPr>
              <a:t>Adjusting to a new reality</a:t>
            </a:r>
          </a:p>
          <a:p>
            <a:pPr>
              <a:lnSpc>
                <a:spcPct val="90000"/>
              </a:lnSpc>
            </a:pPr>
            <a:endParaRPr lang="en-US" sz="1800" dirty="0">
              <a:solidFill>
                <a:schemeClr val="tx2"/>
              </a:solidFill>
            </a:endParaRPr>
          </a:p>
        </p:txBody>
      </p:sp>
      <p:grpSp>
        <p:nvGrpSpPr>
          <p:cNvPr id="29" name="Group 28">
            <a:extLst>
              <a:ext uri="{FF2B5EF4-FFF2-40B4-BE49-F238E27FC236}">
                <a16:creationId xmlns:a16="http://schemas.microsoft.com/office/drawing/2014/main" id="{06B7259D-F2AD-42FE-B984-6D1D74321C5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56264" y="3658536"/>
            <a:ext cx="3655725" cy="2743201"/>
            <a:chOff x="-305" y="-1"/>
            <a:chExt cx="3832880" cy="2876136"/>
          </a:xfrm>
        </p:grpSpPr>
        <p:sp>
          <p:nvSpPr>
            <p:cNvPr id="17" name="Freeform: Shape 16">
              <a:extLst>
                <a:ext uri="{FF2B5EF4-FFF2-40B4-BE49-F238E27FC236}">
                  <a16:creationId xmlns:a16="http://schemas.microsoft.com/office/drawing/2014/main" id="{9E5C38C6-2516-45D1-ADFC-3F59F8E34A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6C274C95-E7A7-401D-A8F5-FFF5EB9291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61D598C3-55D0-44FB-8766-A89B34B317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39EBC5C7-E54F-42F3-93F0-75AAC99FF9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DEC025-B200-0E7E-94A4-F0F606A07DD0}"/>
              </a:ext>
            </a:extLst>
          </p:cNvPr>
          <p:cNvSpPr>
            <a:spLocks noGrp="1"/>
          </p:cNvSpPr>
          <p:nvPr>
            <p:ph type="title"/>
          </p:nvPr>
        </p:nvSpPr>
        <p:spPr>
          <a:xfrm>
            <a:off x="804672" y="802955"/>
            <a:ext cx="4766330" cy="1454051"/>
          </a:xfrm>
        </p:spPr>
        <p:txBody>
          <a:bodyPr>
            <a:normAutofit/>
          </a:bodyPr>
          <a:lstStyle/>
          <a:p>
            <a:r>
              <a:rPr lang="en-US" sz="3600">
                <a:solidFill>
                  <a:schemeClr val="tx2"/>
                </a:solidFill>
              </a:rPr>
              <a:t>Catharsis</a:t>
            </a:r>
            <a:endParaRPr lang="en-IN" sz="3600">
              <a:solidFill>
                <a:schemeClr val="tx2"/>
              </a:solidFill>
            </a:endParaRPr>
          </a:p>
        </p:txBody>
      </p:sp>
      <p:sp>
        <p:nvSpPr>
          <p:cNvPr id="3" name="Content Placeholder 2">
            <a:extLst>
              <a:ext uri="{FF2B5EF4-FFF2-40B4-BE49-F238E27FC236}">
                <a16:creationId xmlns:a16="http://schemas.microsoft.com/office/drawing/2014/main" id="{17E7A8D3-0286-99C2-EBE3-3CD959B96959}"/>
              </a:ext>
            </a:extLst>
          </p:cNvPr>
          <p:cNvSpPr>
            <a:spLocks noGrp="1"/>
          </p:cNvSpPr>
          <p:nvPr>
            <p:ph idx="1"/>
          </p:nvPr>
        </p:nvSpPr>
        <p:spPr>
          <a:xfrm>
            <a:off x="804672" y="2421683"/>
            <a:ext cx="5575808" cy="3353476"/>
          </a:xfrm>
        </p:spPr>
        <p:txBody>
          <a:bodyPr anchor="t">
            <a:noAutofit/>
          </a:bodyPr>
          <a:lstStyle/>
          <a:p>
            <a:pPr>
              <a:spcAft>
                <a:spcPts val="1200"/>
              </a:spcAft>
            </a:pPr>
            <a:r>
              <a:rPr lang="en-US" sz="1800" b="0" i="0" dirty="0">
                <a:solidFill>
                  <a:schemeClr val="tx2"/>
                </a:solidFill>
                <a:effectLst/>
                <a:latin typeface="Segoe Sans"/>
              </a:rPr>
              <a:t>Catharsis is a term derived from the Greek word "katharsis," which means "purification" or "cleansing." </a:t>
            </a:r>
          </a:p>
          <a:p>
            <a:pPr>
              <a:spcAft>
                <a:spcPts val="1200"/>
              </a:spcAft>
            </a:pPr>
            <a:r>
              <a:rPr lang="en-US" sz="1800" b="0" i="0" dirty="0">
                <a:solidFill>
                  <a:schemeClr val="tx2"/>
                </a:solidFill>
                <a:effectLst/>
                <a:latin typeface="Segoe Sans"/>
              </a:rPr>
              <a:t>In psychological and emotional contexts, catharsis refers to the process of releasing, and thereby providing relief from, strong or repressed emotions. </a:t>
            </a:r>
          </a:p>
          <a:p>
            <a:pPr>
              <a:spcAft>
                <a:spcPts val="1200"/>
              </a:spcAft>
            </a:pPr>
            <a:r>
              <a:rPr lang="en-US" sz="1800" b="0" i="0" dirty="0">
                <a:solidFill>
                  <a:schemeClr val="tx2"/>
                </a:solidFill>
                <a:effectLst/>
                <a:latin typeface="Segoe Sans"/>
              </a:rPr>
              <a:t>This concept is often associated with therapeutic practices and the arts, where expressing emotions can lead to a sense of emotional liberation and healing.</a:t>
            </a:r>
            <a:endParaRPr lang="en-IN" sz="1800" dirty="0">
              <a:solidFill>
                <a:schemeClr val="tx2"/>
              </a:solidFill>
            </a:endParaRPr>
          </a:p>
        </p:txBody>
      </p:sp>
      <p:grpSp>
        <p:nvGrpSpPr>
          <p:cNvPr id="16" name="Group 15">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7" name="Freeform: Shape 16">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Picture 6">
            <a:extLst>
              <a:ext uri="{FF2B5EF4-FFF2-40B4-BE49-F238E27FC236}">
                <a16:creationId xmlns:a16="http://schemas.microsoft.com/office/drawing/2014/main" id="{20F2547D-9C2A-D3AD-F8B9-CB3C3B8B2797}"/>
              </a:ext>
            </a:extLst>
          </p:cNvPr>
          <p:cNvPicPr>
            <a:picLocks noChangeAspect="1"/>
          </p:cNvPicPr>
          <p:nvPr/>
        </p:nvPicPr>
        <p:blipFill>
          <a:blip r:embed="rId2"/>
          <a:stretch>
            <a:fillRect/>
          </a:stretch>
        </p:blipFill>
        <p:spPr>
          <a:xfrm>
            <a:off x="7708392" y="2850036"/>
            <a:ext cx="4142232" cy="2081471"/>
          </a:xfrm>
          <a:prstGeom prst="rect">
            <a:avLst/>
          </a:prstGeom>
        </p:spPr>
      </p:pic>
    </p:spTree>
    <p:extLst>
      <p:ext uri="{BB962C8B-B14F-4D97-AF65-F5344CB8AC3E}">
        <p14:creationId xmlns:p14="http://schemas.microsoft.com/office/powerpoint/2010/main" val="18196624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D7B6F82-373F-12CB-07B6-829D0642FB2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25CB05F7-965A-9D6A-02AC-B47F0BA5E12D}"/>
              </a:ext>
            </a:extLst>
          </p:cNvPr>
          <p:cNvSpPr>
            <a:spLocks noGrp="1"/>
          </p:cNvSpPr>
          <p:nvPr>
            <p:ph type="title"/>
          </p:nvPr>
        </p:nvSpPr>
        <p:spPr>
          <a:xfrm>
            <a:off x="1179226" y="1280679"/>
            <a:ext cx="9833548" cy="1325563"/>
          </a:xfrm>
        </p:spPr>
        <p:txBody>
          <a:bodyPr anchor="b">
            <a:normAutofit/>
          </a:bodyPr>
          <a:lstStyle/>
          <a:p>
            <a:r>
              <a:rPr lang="en-US" sz="3600">
                <a:solidFill>
                  <a:schemeClr val="tx2"/>
                </a:solidFill>
              </a:rPr>
              <a:t>Conclusion</a:t>
            </a:r>
            <a:endParaRPr lang="en-IN" sz="3600">
              <a:solidFill>
                <a:schemeClr val="tx2"/>
              </a:solidFill>
            </a:endParaRPr>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5F4E9978-6AEE-C1CB-3775-07D0DA597815}"/>
              </a:ext>
            </a:extLst>
          </p:cNvPr>
          <p:cNvSpPr>
            <a:spLocks noGrp="1"/>
          </p:cNvSpPr>
          <p:nvPr>
            <p:ph idx="1"/>
          </p:nvPr>
        </p:nvSpPr>
        <p:spPr>
          <a:xfrm>
            <a:off x="1179225" y="2890978"/>
            <a:ext cx="10182457" cy="3257574"/>
          </a:xfrm>
        </p:spPr>
        <p:txBody>
          <a:bodyPr>
            <a:noAutofit/>
          </a:bodyPr>
          <a:lstStyle/>
          <a:p>
            <a:pPr>
              <a:lnSpc>
                <a:spcPct val="90000"/>
              </a:lnSpc>
              <a:spcBef>
                <a:spcPts val="450"/>
              </a:spcBef>
              <a:spcAft>
                <a:spcPts val="750"/>
              </a:spcAft>
            </a:pPr>
            <a:r>
              <a:rPr lang="en-US" sz="1800" b="0" i="0" dirty="0">
                <a:solidFill>
                  <a:schemeClr val="tx2"/>
                </a:solidFill>
                <a:effectLst/>
                <a:latin typeface="Segoe Sans"/>
              </a:rPr>
              <a:t>Understanding these stages can provide a framework for recognizing and processing the emotions associated with grief. It's important to remember that everyone's grief journey is unique, and there is no right or wrong way to grieve.</a:t>
            </a:r>
          </a:p>
          <a:p>
            <a:pPr>
              <a:lnSpc>
                <a:spcPct val="90000"/>
              </a:lnSpc>
              <a:spcBef>
                <a:spcPts val="450"/>
              </a:spcBef>
              <a:spcAft>
                <a:spcPts val="750"/>
              </a:spcAft>
            </a:pPr>
            <a:endParaRPr lang="en-US" sz="1800" b="0" i="0" dirty="0">
              <a:solidFill>
                <a:schemeClr val="tx2"/>
              </a:solidFill>
              <a:effectLst/>
              <a:latin typeface="Segoe Sans"/>
            </a:endParaRPr>
          </a:p>
          <a:p>
            <a:pPr>
              <a:lnSpc>
                <a:spcPct val="90000"/>
              </a:lnSpc>
              <a:spcBef>
                <a:spcPts val="150"/>
              </a:spcBef>
              <a:spcAft>
                <a:spcPts val="450"/>
              </a:spcAft>
              <a:buNone/>
            </a:pPr>
            <a:r>
              <a:rPr lang="en-US" sz="1800" b="0" i="0" dirty="0">
                <a:solidFill>
                  <a:schemeClr val="tx2"/>
                </a:solidFill>
                <a:effectLst/>
                <a:latin typeface="Segoe Sans"/>
              </a:rPr>
              <a:t>Key Takeaways:</a:t>
            </a:r>
          </a:p>
          <a:p>
            <a:pPr>
              <a:lnSpc>
                <a:spcPct val="90000"/>
              </a:lnSpc>
              <a:spcAft>
                <a:spcPts val="600"/>
              </a:spcAft>
              <a:buFont typeface="Arial" panose="020B0604020202020204" pitchFamily="34" charset="0"/>
              <a:buChar char="•"/>
            </a:pPr>
            <a:r>
              <a:rPr lang="en-US" sz="1800" b="0" i="0" dirty="0">
                <a:solidFill>
                  <a:schemeClr val="tx2"/>
                </a:solidFill>
                <a:effectLst/>
                <a:latin typeface="Segoe Sans"/>
              </a:rPr>
              <a:t>The stages are a framework for understanding the emotional responses to loss.</a:t>
            </a:r>
          </a:p>
          <a:p>
            <a:pPr>
              <a:lnSpc>
                <a:spcPct val="90000"/>
              </a:lnSpc>
              <a:spcAft>
                <a:spcPts val="600"/>
              </a:spcAft>
              <a:buFont typeface="Arial" panose="020B0604020202020204" pitchFamily="34" charset="0"/>
              <a:buChar char="•"/>
            </a:pPr>
            <a:r>
              <a:rPr lang="en-US" sz="1800" b="0" i="0" dirty="0">
                <a:solidFill>
                  <a:schemeClr val="tx2"/>
                </a:solidFill>
                <a:effectLst/>
                <a:latin typeface="Segoe Sans"/>
              </a:rPr>
              <a:t>Not everyone will go through all the stages, and the order can vary.</a:t>
            </a:r>
          </a:p>
          <a:p>
            <a:pPr>
              <a:lnSpc>
                <a:spcPct val="90000"/>
              </a:lnSpc>
              <a:spcAft>
                <a:spcPts val="600"/>
              </a:spcAft>
              <a:buFont typeface="Arial" panose="020B0604020202020204" pitchFamily="34" charset="0"/>
              <a:buChar char="•"/>
            </a:pPr>
            <a:r>
              <a:rPr lang="en-US" sz="1800" b="0" i="0" dirty="0">
                <a:solidFill>
                  <a:schemeClr val="tx2"/>
                </a:solidFill>
                <a:effectLst/>
                <a:latin typeface="Segoe Sans"/>
              </a:rPr>
              <a:t>The model helps in recognizing and validating the emotions experienced during grief.</a:t>
            </a:r>
          </a:p>
          <a:p>
            <a:pPr>
              <a:lnSpc>
                <a:spcPct val="90000"/>
              </a:lnSpc>
              <a:spcBef>
                <a:spcPts val="450"/>
              </a:spcBef>
              <a:spcAft>
                <a:spcPts val="750"/>
              </a:spcAft>
            </a:pPr>
            <a:r>
              <a:rPr lang="en-US" sz="1800" b="0" i="0" dirty="0">
                <a:solidFill>
                  <a:schemeClr val="tx2"/>
                </a:solidFill>
                <a:effectLst/>
                <a:latin typeface="Segoe Sans"/>
              </a:rPr>
              <a:t>DABDA theory can provide valuable insights into the grieving process and help individuals, and their loved ones navigate through the difficult emotions associated with loss.</a:t>
            </a:r>
          </a:p>
          <a:p>
            <a:pPr>
              <a:lnSpc>
                <a:spcPct val="90000"/>
              </a:lnSpc>
              <a:spcBef>
                <a:spcPts val="450"/>
              </a:spcBef>
              <a:spcAft>
                <a:spcPts val="750"/>
              </a:spcAft>
            </a:pPr>
            <a:endParaRPr lang="en-US" sz="1800" b="0" i="0" dirty="0">
              <a:solidFill>
                <a:schemeClr val="tx2"/>
              </a:solidFill>
              <a:effectLst/>
              <a:latin typeface="Segoe Sans"/>
            </a:endParaRPr>
          </a:p>
          <a:p>
            <a:pPr>
              <a:lnSpc>
                <a:spcPct val="90000"/>
              </a:lnSpc>
            </a:pPr>
            <a:endParaRPr lang="en-IN" sz="1800" dirty="0">
              <a:solidFill>
                <a:schemeClr val="tx2"/>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399978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AF0518-B905-542F-981E-4E1A1648CAC0}"/>
              </a:ext>
            </a:extLst>
          </p:cNvPr>
          <p:cNvSpPr>
            <a:spLocks noGrp="1"/>
          </p:cNvSpPr>
          <p:nvPr>
            <p:ph type="title"/>
          </p:nvPr>
        </p:nvSpPr>
        <p:spPr>
          <a:xfrm>
            <a:off x="6590662" y="4267832"/>
            <a:ext cx="4805996" cy="1297115"/>
          </a:xfrm>
        </p:spPr>
        <p:txBody>
          <a:bodyPr vert="horz" lIns="91440" tIns="45720" rIns="91440" bIns="45720" rtlCol="0" anchor="t">
            <a:normAutofit/>
          </a:bodyPr>
          <a:lstStyle/>
          <a:p>
            <a:pPr algn="l" defTabSz="914400">
              <a:lnSpc>
                <a:spcPct val="90000"/>
              </a:lnSpc>
            </a:pPr>
            <a:r>
              <a:rPr lang="en-US" sz="4000" kern="1200">
                <a:solidFill>
                  <a:schemeClr val="tx2"/>
                </a:solidFill>
                <a:latin typeface="+mj-lt"/>
                <a:ea typeface="+mj-ea"/>
                <a:cs typeface="+mj-cs"/>
              </a:rPr>
              <a:t>Thank You</a:t>
            </a:r>
          </a:p>
        </p:txBody>
      </p:sp>
      <p:pic>
        <p:nvPicPr>
          <p:cNvPr id="6" name="Graphic 5" descr="Smiling Face with No Fill">
            <a:extLst>
              <a:ext uri="{FF2B5EF4-FFF2-40B4-BE49-F238E27FC236}">
                <a16:creationId xmlns:a16="http://schemas.microsoft.com/office/drawing/2014/main" id="{03F745C1-6883-A683-F122-1EEEC1B7593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3" name="Group 12">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4" name="Freeform: Shape 13">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14">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4492488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79</TotalTime>
  <Words>634</Words>
  <Application>Microsoft Office PowerPoint</Application>
  <PresentationFormat>Widescreen</PresentationFormat>
  <Paragraphs>53</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Segoe Sans</vt:lpstr>
      <vt:lpstr>Office Theme</vt:lpstr>
      <vt:lpstr>DABDA Model</vt:lpstr>
      <vt:lpstr>Grief?</vt:lpstr>
      <vt:lpstr>Denial</vt:lpstr>
      <vt:lpstr>Anger</vt:lpstr>
      <vt:lpstr>Bargaining</vt:lpstr>
      <vt:lpstr>Depression</vt:lpstr>
      <vt:lpstr>Acceptance</vt:lpstr>
      <vt:lpstr>Catharsis</vt:lpstr>
      <vt:lpstr>Conclusion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master.iraban@mavenir.com</dc:creator>
  <cp:keywords/>
  <dc:description>generated using python-pptx</dc:description>
  <cp:lastModifiedBy>Master Iraban</cp:lastModifiedBy>
  <cp:revision>6</cp:revision>
  <dcterms:created xsi:type="dcterms:W3CDTF">2013-01-27T09:14:16Z</dcterms:created>
  <dcterms:modified xsi:type="dcterms:W3CDTF">2025-05-21T08:49:51Z</dcterms:modified>
  <cp:category/>
</cp:coreProperties>
</file>