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Monkey Mind to</a:t>
            </a:r>
            <a:br>
              <a:rPr lang="en-US" sz="7200" dirty="0">
                <a:solidFill>
                  <a:schemeClr val="bg1"/>
                </a:solidFill>
              </a:rPr>
            </a:b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5024" y="3809998"/>
            <a:ext cx="7800976" cy="220472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3000" dirty="0">
                <a:solidFill>
                  <a:schemeClr val="bg1"/>
                </a:solidFill>
              </a:rPr>
              <a:t>Mental Discipline for Inner Peace</a:t>
            </a:r>
          </a:p>
          <a:p>
            <a:pPr algn="l">
              <a:lnSpc>
                <a:spcPct val="90000"/>
              </a:lnSpc>
            </a:pPr>
            <a:endParaRPr lang="en-IN" sz="3000" dirty="0">
              <a:solidFill>
                <a:schemeClr val="bg1"/>
              </a:solidFill>
            </a:endParaRPr>
          </a:p>
          <a:p>
            <a:pPr algn="r"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- </a:t>
            </a:r>
            <a:r>
              <a:rPr lang="en-IN" sz="2400" i="1" dirty="0">
                <a:solidFill>
                  <a:schemeClr val="bg1"/>
                </a:solidFill>
              </a:rPr>
              <a:t>Dr.</a:t>
            </a:r>
            <a:r>
              <a:rPr lang="en-IN" sz="2400" dirty="0">
                <a:solidFill>
                  <a:schemeClr val="bg1"/>
                </a:solidFill>
              </a:rPr>
              <a:t>IM, </a:t>
            </a:r>
            <a:r>
              <a:rPr lang="en-IN" sz="2400" i="1" dirty="0">
                <a:solidFill>
                  <a:schemeClr val="bg1"/>
                </a:solidFill>
              </a:rPr>
              <a:t>9880.IM.0868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54F379-C6AF-C48E-0839-71E0E2676477}"/>
              </a:ext>
            </a:extLst>
          </p:cNvPr>
          <p:cNvSpPr txBox="1">
            <a:spLocks/>
          </p:cNvSpPr>
          <p:nvPr/>
        </p:nvSpPr>
        <p:spPr>
          <a:xfrm>
            <a:off x="1614487" y="2481987"/>
            <a:ext cx="7021513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7200" dirty="0">
                <a:solidFill>
                  <a:schemeClr val="bg1"/>
                </a:solidFill>
              </a:rPr>
              <a:t>Monk Mind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What is the 'Monkey Mind'?</a:t>
            </a:r>
          </a:p>
        </p:txBody>
      </p:sp>
      <p:pic>
        <p:nvPicPr>
          <p:cNvPr id="1026" name="Picture 2" descr="Monkey Prayer Photos - Download Free High-Quality Pictures | Freepik">
            <a:extLst>
              <a:ext uri="{FF2B5EF4-FFF2-40B4-BE49-F238E27FC236}">
                <a16:creationId xmlns:a16="http://schemas.microsoft.com/office/drawing/2014/main" id="{21A7A931-2DC8-81C2-37B1-AD48EB44C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"/>
          <a:stretch>
            <a:fillRect/>
          </a:stretch>
        </p:blipFill>
        <p:spPr bwMode="auto"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3146400"/>
            <a:ext cx="6140449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Restless, random thoughts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Constant distractions and impulses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Irrational thinking and emotional reactivity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Symptoms of Monkey Mind</a:t>
            </a:r>
          </a:p>
        </p:txBody>
      </p:sp>
      <p:pic>
        <p:nvPicPr>
          <p:cNvPr id="2050" name="Picture 2" descr="Monkey Prayer Photos - Download Free High-Quality Pictures | Freepik">
            <a:extLst>
              <a:ext uri="{FF2B5EF4-FFF2-40B4-BE49-F238E27FC236}">
                <a16:creationId xmlns:a16="http://schemas.microsoft.com/office/drawing/2014/main" id="{BE6226BF-5A72-EFDE-1B45-4215E03A4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"/>
          <a:stretch>
            <a:fillRect/>
          </a:stretch>
        </p:blipFill>
        <p:spPr bwMode="auto"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3146400"/>
            <a:ext cx="6140449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Difficulty in focusing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Anxiety or stress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Impulsive decision-making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Overconsumption of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What is the 'Monk Mind'?</a:t>
            </a:r>
          </a:p>
        </p:txBody>
      </p:sp>
      <p:pic>
        <p:nvPicPr>
          <p:cNvPr id="5" name="Picture 4" descr="A baby sitting in a chair&#10;&#10;AI-generated content may be incorrect.">
            <a:extLst>
              <a:ext uri="{FF2B5EF4-FFF2-40B4-BE49-F238E27FC236}">
                <a16:creationId xmlns:a16="http://schemas.microsoft.com/office/drawing/2014/main" id="{A78667DA-451A-6D50-6BFC-35516661D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9" r="24139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3146400"/>
            <a:ext cx="6140449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Calm and focused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Present in the moment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Guided by awareness and wisdom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Emotionally balanced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450" y="1061421"/>
            <a:ext cx="4267200" cy="1351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Why Shift from Monkey to Monk Mind?</a:t>
            </a:r>
          </a:p>
        </p:txBody>
      </p:sp>
      <p:pic>
        <p:nvPicPr>
          <p:cNvPr id="5" name="Picture 4" descr="A baby sitting in a chair&#10;&#10;AI-generated content may be incorrect.">
            <a:extLst>
              <a:ext uri="{FF2B5EF4-FFF2-40B4-BE49-F238E27FC236}">
                <a16:creationId xmlns:a16="http://schemas.microsoft.com/office/drawing/2014/main" id="{8C5ABABE-0B72-9E75-0328-17DE20F7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92" r="28791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4618" y="2810836"/>
            <a:ext cx="5286933" cy="246041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Greater emotional intelligence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Improved concentration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Better decision-making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Enhanced well-being and peace</a:t>
            </a:r>
          </a:p>
        </p:txBody>
      </p:sp>
      <p:pic>
        <p:nvPicPr>
          <p:cNvPr id="4098" name="Picture 2" descr="Monkey Prayer Photos - Download Free High-Quality Pictures | Freepik">
            <a:extLst>
              <a:ext uri="{FF2B5EF4-FFF2-40B4-BE49-F238E27FC236}">
                <a16:creationId xmlns:a16="http://schemas.microsoft.com/office/drawing/2014/main" id="{37D178C1-C8F7-717D-C4D5-D41F4D2CA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3" r="11094"/>
          <a:stretch>
            <a:fillRect/>
          </a:stretch>
        </p:blipFill>
        <p:spPr bwMode="auto"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548" y="1641752"/>
            <a:ext cx="6381301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Cultivating Monk Mind</a:t>
            </a:r>
          </a:p>
        </p:txBody>
      </p:sp>
      <p:pic>
        <p:nvPicPr>
          <p:cNvPr id="4" name="Picture 3" descr="A baby sitting in a chair&#10;&#10;AI-generated content may be incorrect.">
            <a:extLst>
              <a:ext uri="{FF2B5EF4-FFF2-40B4-BE49-F238E27FC236}">
                <a16:creationId xmlns:a16="http://schemas.microsoft.com/office/drawing/2014/main" id="{4B36FCEA-D608-C2DD-D025-7EEA9AB640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9" r="24139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5162" y="3055943"/>
            <a:ext cx="6464151" cy="3102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>
                    <a:alpha val="80000"/>
                  </a:schemeClr>
                </a:solidFill>
              </a:rPr>
              <a:t>Mindfulness Practice </a:t>
            </a:r>
          </a:p>
          <a:p>
            <a:pPr lvl="1">
              <a:lnSpc>
                <a:spcPct val="90000"/>
              </a:lnSpc>
            </a:pPr>
            <a:r>
              <a:rPr lang="en-US" sz="2300" dirty="0">
                <a:solidFill>
                  <a:schemeClr val="bg1">
                    <a:alpha val="80000"/>
                  </a:schemeClr>
                </a:solidFill>
              </a:rPr>
              <a:t>Daily meditation, conscious breathing</a:t>
            </a:r>
          </a:p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>
                    <a:alpha val="80000"/>
                  </a:schemeClr>
                </a:solidFill>
              </a:rPr>
              <a:t>Minimalism </a:t>
            </a:r>
          </a:p>
          <a:p>
            <a:pPr lvl="1">
              <a:lnSpc>
                <a:spcPct val="90000"/>
              </a:lnSpc>
            </a:pPr>
            <a:r>
              <a:rPr lang="en-US" sz="2300" dirty="0">
                <a:solidFill>
                  <a:schemeClr val="bg1">
                    <a:alpha val="80000"/>
                  </a:schemeClr>
                </a:solidFill>
              </a:rPr>
              <a:t>Reduce mental and physical clutter</a:t>
            </a:r>
          </a:p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>
                    <a:alpha val="80000"/>
                  </a:schemeClr>
                </a:solidFill>
              </a:rPr>
              <a:t>Journaling </a:t>
            </a:r>
          </a:p>
          <a:p>
            <a:pPr lvl="1">
              <a:lnSpc>
                <a:spcPct val="90000"/>
              </a:lnSpc>
            </a:pPr>
            <a:r>
              <a:rPr lang="en-US" sz="2300" dirty="0">
                <a:solidFill>
                  <a:schemeClr val="bg1">
                    <a:alpha val="80000"/>
                  </a:schemeClr>
                </a:solidFill>
              </a:rPr>
              <a:t>Reflect to understand your thought patterns</a:t>
            </a:r>
          </a:p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>
                    <a:alpha val="80000"/>
                  </a:schemeClr>
                </a:solidFill>
              </a:rPr>
              <a:t>Digital Detox </a:t>
            </a:r>
          </a:p>
          <a:p>
            <a:pPr lvl="1">
              <a:lnSpc>
                <a:spcPct val="90000"/>
              </a:lnSpc>
            </a:pPr>
            <a:r>
              <a:rPr lang="en-US" sz="2300" dirty="0">
                <a:solidFill>
                  <a:schemeClr val="bg1">
                    <a:alpha val="80000"/>
                  </a:schemeClr>
                </a:solidFill>
              </a:rPr>
              <a:t>Limit distractions and overstimulation</a:t>
            </a:r>
          </a:p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>
                    <a:alpha val="80000"/>
                  </a:schemeClr>
                </a:solidFill>
              </a:rPr>
              <a:t>Intentional Living </a:t>
            </a:r>
          </a:p>
          <a:p>
            <a:pPr lvl="1">
              <a:lnSpc>
                <a:spcPct val="90000"/>
              </a:lnSpc>
            </a:pPr>
            <a:r>
              <a:rPr lang="en-US" sz="2300" dirty="0">
                <a:solidFill>
                  <a:schemeClr val="bg1">
                    <a:alpha val="80000"/>
                  </a:schemeClr>
                </a:solidFill>
              </a:rPr>
              <a:t>Align actions with values</a:t>
            </a:r>
            <a:endParaRPr lang="en-US" sz="20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Tools &amp; Techniques</a:t>
            </a:r>
          </a:p>
        </p:txBody>
      </p:sp>
      <p:pic>
        <p:nvPicPr>
          <p:cNvPr id="4" name="Picture 3" descr="A baby sitting in a chair&#10;&#10;AI-generated content may be incorrect.">
            <a:extLst>
              <a:ext uri="{FF2B5EF4-FFF2-40B4-BE49-F238E27FC236}">
                <a16:creationId xmlns:a16="http://schemas.microsoft.com/office/drawing/2014/main" id="{626AC78B-E0EC-1528-5ECB-C2A522557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9" r="24139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8721" y="3146400"/>
            <a:ext cx="6817360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Meditation apps (multiple apps available for this)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Pomodoro technique for structured work model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Gratitude journaling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Nature walks or tech-free time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Jacobson deep relaxation technique (PMR)</a:t>
            </a:r>
            <a:endParaRPr lang="en-US" sz="20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E9D1A-57B4-79C7-5DB6-2A8846C3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8EA2153A-5B4A-D6F8-072F-7B30004BD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5F47228A-D949-1CAD-1ACA-5AFAEDB5E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CD2C2-F917-12E9-8DEC-8825710B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450" y="1061421"/>
            <a:ext cx="4267200" cy="1351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/>
              <a:t>Challenges in the Transition</a:t>
            </a:r>
            <a:endParaRPr lang="en-US" sz="3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baby sitting in a chair&#10;&#10;AI-generated content may be incorrect.">
            <a:extLst>
              <a:ext uri="{FF2B5EF4-FFF2-40B4-BE49-F238E27FC236}">
                <a16:creationId xmlns:a16="http://schemas.microsoft.com/office/drawing/2014/main" id="{B05A6468-EBCB-B2C6-4EE9-311EF5A77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92" r="28791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E907-D72C-95B0-FD1C-0BD06923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705" y="2817512"/>
            <a:ext cx="5598582" cy="2460411"/>
          </a:xfrm>
        </p:spPr>
        <p:txBody>
          <a:bodyPr>
            <a:normAutofit/>
          </a:bodyPr>
          <a:lstStyle/>
          <a:p>
            <a:r>
              <a:rPr lang="en-US" sz="2400" dirty="0"/>
              <a:t>Restlessness in early practice</a:t>
            </a:r>
          </a:p>
          <a:p>
            <a:r>
              <a:rPr lang="en-US" sz="2400" dirty="0"/>
              <a:t>Social pressure to stay constantly “busy”</a:t>
            </a:r>
          </a:p>
          <a:p>
            <a:r>
              <a:rPr lang="en-US" sz="2400" dirty="0"/>
              <a:t>Requires patience and consistency</a:t>
            </a:r>
          </a:p>
        </p:txBody>
      </p:sp>
      <p:pic>
        <p:nvPicPr>
          <p:cNvPr id="4098" name="Picture 2" descr="Monkey Prayer Photos - Download Free High-Quality Pictures | Freepik">
            <a:extLst>
              <a:ext uri="{FF2B5EF4-FFF2-40B4-BE49-F238E27FC236}">
                <a16:creationId xmlns:a16="http://schemas.microsoft.com/office/drawing/2014/main" id="{CE0744DE-C433-8C5D-EB91-4E23C7A90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3" r="11094"/>
          <a:stretch>
            <a:fillRect/>
          </a:stretch>
        </p:blipFill>
        <p:spPr bwMode="auto"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60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IN" sz="4000">
                <a:solidFill>
                  <a:schemeClr val="bg1"/>
                </a:solidFill>
              </a:rPr>
              <a:t>Summary</a:t>
            </a:r>
          </a:p>
        </p:txBody>
      </p:sp>
      <p:pic>
        <p:nvPicPr>
          <p:cNvPr id="4" name="Picture 3" descr="A baby sitting in a chair&#10;&#10;AI-generated content may be incorrect.">
            <a:extLst>
              <a:ext uri="{FF2B5EF4-FFF2-40B4-BE49-F238E27FC236}">
                <a16:creationId xmlns:a16="http://schemas.microsoft.com/office/drawing/2014/main" id="{3928359F-7178-0511-924B-578288E2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9" r="24139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3146400"/>
            <a:ext cx="6140449" cy="2682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Monkey Mind is reactive and chaotic</a:t>
            </a:r>
          </a:p>
          <a:p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Monk Mind is intentional and calm</a:t>
            </a:r>
          </a:p>
          <a:p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Mind training transforms perception, behavior, and emotional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en-IN" sz="4000"/>
              <a:t>Final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6309" y="1721579"/>
            <a:ext cx="6978972" cy="395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“You don’t have to control your thoughts. You must stop letting them to control you.”</a:t>
            </a:r>
          </a:p>
          <a:p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 lvl="1" algn="r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Dan Millman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226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Monkey Mind to </vt:lpstr>
      <vt:lpstr>What is the 'Monkey Mind'?</vt:lpstr>
      <vt:lpstr>Symptoms of Monkey Mind</vt:lpstr>
      <vt:lpstr>What is the 'Monk Mind'?</vt:lpstr>
      <vt:lpstr>Why Shift from Monkey to Monk Mind?</vt:lpstr>
      <vt:lpstr>Cultivating Monk Mind</vt:lpstr>
      <vt:lpstr>Tools &amp; Techniques</vt:lpstr>
      <vt:lpstr>Challenges in the Transition</vt:lpstr>
      <vt:lpstr>Summary</vt:lpstr>
      <vt:lpstr>Final Thought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Master Iraban</cp:lastModifiedBy>
  <cp:revision>6</cp:revision>
  <dcterms:created xsi:type="dcterms:W3CDTF">2013-01-27T09:14:16Z</dcterms:created>
  <dcterms:modified xsi:type="dcterms:W3CDTF">2025-06-12T09:40:01Z</dcterms:modified>
  <cp:category/>
</cp:coreProperties>
</file>