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700" r:id="rId2"/>
  </p:sldMasterIdLst>
  <p:sldIdLst>
    <p:sldId id="256" r:id="rId3"/>
    <p:sldId id="257" r:id="rId4"/>
    <p:sldId id="258" r:id="rId5"/>
    <p:sldId id="259" r:id="rId6"/>
    <p:sldId id="262" r:id="rId7"/>
    <p:sldId id="261" r:id="rId8"/>
    <p:sldId id="263" r:id="rId9"/>
    <p:sldId id="352" r:id="rId10"/>
    <p:sldId id="351" r:id="rId11"/>
    <p:sldId id="35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7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6/10/2024</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77501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6/10/2024</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097953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6/10/2024</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370685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6/10/2024</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705463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6/10/2024</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742949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6/10/2024</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014931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6/10/2024</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474713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6/10/2024</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9791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6/10/2024</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24641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6/10/2024</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88023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6/10/2024</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09399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3780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05938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9142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5385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7333274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966755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4982507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112204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320613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20860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90547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6/10/2024</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977703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6/10/2024</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130307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6/10/2024</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9159309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E15305-164C-44CD-9E0F-420C2DC1B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1" name="Rectangle 10">
            <a:extLst>
              <a:ext uri="{FF2B5EF4-FFF2-40B4-BE49-F238E27FC236}">
                <a16:creationId xmlns:a16="http://schemas.microsoft.com/office/drawing/2014/main" id="{C49B6340-9D54-4548-B87C-24BA7EA53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olorful liquid art">
            <a:extLst>
              <a:ext uri="{FF2B5EF4-FFF2-40B4-BE49-F238E27FC236}">
                <a16:creationId xmlns:a16="http://schemas.microsoft.com/office/drawing/2014/main" id="{E9EF1FD0-A5AE-0018-D942-DF80EA98D3C9}"/>
              </a:ext>
            </a:extLst>
          </p:cNvPr>
          <p:cNvPicPr>
            <a:picLocks noChangeAspect="1"/>
          </p:cNvPicPr>
          <p:nvPr/>
        </p:nvPicPr>
        <p:blipFill rotWithShape="1">
          <a:blip r:embed="rId2"/>
          <a:srcRect l="7890" r="11741" b="1"/>
          <a:stretch/>
        </p:blipFill>
        <p:spPr>
          <a:xfrm>
            <a:off x="-50042" y="-39158"/>
            <a:ext cx="7918858" cy="6897158"/>
          </a:xfrm>
          <a:prstGeom prst="rect">
            <a:avLst/>
          </a:prstGeom>
        </p:spPr>
      </p:pic>
      <p:sp useBgFill="1">
        <p:nvSpPr>
          <p:cNvPr id="13" name="Freeform: Shape 12">
            <a:extLst>
              <a:ext uri="{FF2B5EF4-FFF2-40B4-BE49-F238E27FC236}">
                <a16:creationId xmlns:a16="http://schemas.microsoft.com/office/drawing/2014/main" id="{F1D5403D-09EC-41DB-B916-A09C0E5AE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99031" y="-39157"/>
            <a:ext cx="5592970" cy="6897158"/>
          </a:xfrm>
          <a:custGeom>
            <a:avLst/>
            <a:gdLst>
              <a:gd name="connsiteX0" fmla="*/ 4912746 w 5592970"/>
              <a:gd name="connsiteY0" fmla="*/ 2355321 h 6897159"/>
              <a:gd name="connsiteX1" fmla="*/ 4714738 w 5592970"/>
              <a:gd name="connsiteY1" fmla="*/ 2553329 h 6897159"/>
              <a:gd name="connsiteX2" fmla="*/ 4912746 w 5592970"/>
              <a:gd name="connsiteY2" fmla="*/ 2751337 h 6897159"/>
              <a:gd name="connsiteX3" fmla="*/ 5110754 w 5592970"/>
              <a:gd name="connsiteY3" fmla="*/ 2553329 h 6897159"/>
              <a:gd name="connsiteX4" fmla="*/ 4912746 w 5592970"/>
              <a:gd name="connsiteY4" fmla="*/ 2355321 h 6897159"/>
              <a:gd name="connsiteX5" fmla="*/ 4769785 w 5592970"/>
              <a:gd name="connsiteY5" fmla="*/ 1301525 h 6897159"/>
              <a:gd name="connsiteX6" fmla="*/ 4358192 w 5592970"/>
              <a:gd name="connsiteY6" fmla="*/ 1713118 h 6897159"/>
              <a:gd name="connsiteX7" fmla="*/ 4769785 w 5592970"/>
              <a:gd name="connsiteY7" fmla="*/ 2124711 h 6897159"/>
              <a:gd name="connsiteX8" fmla="*/ 5181378 w 5592970"/>
              <a:gd name="connsiteY8" fmla="*/ 1713118 h 6897159"/>
              <a:gd name="connsiteX9" fmla="*/ 4769785 w 5592970"/>
              <a:gd name="connsiteY9" fmla="*/ 1301525 h 6897159"/>
              <a:gd name="connsiteX10" fmla="*/ 1485712 w 5592970"/>
              <a:gd name="connsiteY10" fmla="*/ 0 h 6897159"/>
              <a:gd name="connsiteX11" fmla="*/ 1911850 w 5592970"/>
              <a:gd name="connsiteY11" fmla="*/ 0 h 6897159"/>
              <a:gd name="connsiteX12" fmla="*/ 4693359 w 5592970"/>
              <a:gd name="connsiteY12" fmla="*/ 0 h 6897159"/>
              <a:gd name="connsiteX13" fmla="*/ 4687196 w 5592970"/>
              <a:gd name="connsiteY13" fmla="*/ 186052 h 6897159"/>
              <a:gd name="connsiteX14" fmla="*/ 4689492 w 5592970"/>
              <a:gd name="connsiteY14" fmla="*/ 422393 h 6897159"/>
              <a:gd name="connsiteX15" fmla="*/ 5029277 w 5592970"/>
              <a:gd name="connsiteY15" fmla="*/ 1074198 h 6897159"/>
              <a:gd name="connsiteX16" fmla="*/ 5368989 w 5592970"/>
              <a:gd name="connsiteY16" fmla="*/ 2604190 h 6897159"/>
              <a:gd name="connsiteX17" fmla="*/ 5030698 w 5592970"/>
              <a:gd name="connsiteY17" fmla="*/ 3182337 h 6897159"/>
              <a:gd name="connsiteX18" fmla="*/ 4910556 w 5592970"/>
              <a:gd name="connsiteY18" fmla="*/ 4667756 h 6897159"/>
              <a:gd name="connsiteX19" fmla="*/ 5374561 w 5592970"/>
              <a:gd name="connsiteY19" fmla="*/ 5703238 h 6897159"/>
              <a:gd name="connsiteX20" fmla="*/ 5591170 w 5592970"/>
              <a:gd name="connsiteY20" fmla="*/ 6745970 h 6897159"/>
              <a:gd name="connsiteX21" fmla="*/ 5592970 w 5592970"/>
              <a:gd name="connsiteY21" fmla="*/ 6897158 h 6897159"/>
              <a:gd name="connsiteX22" fmla="*/ 2734191 w 5592970"/>
              <a:gd name="connsiteY22" fmla="*/ 6897158 h 6897159"/>
              <a:gd name="connsiteX23" fmla="*/ 2734191 w 5592970"/>
              <a:gd name="connsiteY23" fmla="*/ 6897159 h 6897159"/>
              <a:gd name="connsiteX24" fmla="*/ 0 w 5592970"/>
              <a:gd name="connsiteY24" fmla="*/ 6897159 h 6897159"/>
              <a:gd name="connsiteX25" fmla="*/ 0 w 5592970"/>
              <a:gd name="connsiteY25" fmla="*/ 1 h 6897159"/>
              <a:gd name="connsiteX26" fmla="*/ 1485712 w 5592970"/>
              <a:gd name="connsiteY26" fmla="*/ 1 h 689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592970" h="6897159">
                <a:moveTo>
                  <a:pt x="4912746" y="2355321"/>
                </a:moveTo>
                <a:cubicBezTo>
                  <a:pt x="4803389" y="2355321"/>
                  <a:pt x="4714738" y="2443972"/>
                  <a:pt x="4714738" y="2553329"/>
                </a:cubicBezTo>
                <a:cubicBezTo>
                  <a:pt x="4714738" y="2662686"/>
                  <a:pt x="4803389" y="2751337"/>
                  <a:pt x="4912746" y="2751337"/>
                </a:cubicBezTo>
                <a:cubicBezTo>
                  <a:pt x="5022103" y="2751337"/>
                  <a:pt x="5110754" y="2662686"/>
                  <a:pt x="5110754" y="2553329"/>
                </a:cubicBezTo>
                <a:cubicBezTo>
                  <a:pt x="5110754" y="2443972"/>
                  <a:pt x="5022103" y="2355321"/>
                  <a:pt x="4912746" y="2355321"/>
                </a:cubicBezTo>
                <a:close/>
                <a:moveTo>
                  <a:pt x="4769785" y="1301525"/>
                </a:moveTo>
                <a:cubicBezTo>
                  <a:pt x="4542468" y="1301525"/>
                  <a:pt x="4358192" y="1485801"/>
                  <a:pt x="4358192" y="1713118"/>
                </a:cubicBezTo>
                <a:cubicBezTo>
                  <a:pt x="4358192" y="1940435"/>
                  <a:pt x="4542468" y="2124711"/>
                  <a:pt x="4769785" y="2124711"/>
                </a:cubicBezTo>
                <a:cubicBezTo>
                  <a:pt x="4997102" y="2124711"/>
                  <a:pt x="5181378" y="1940435"/>
                  <a:pt x="5181378" y="1713118"/>
                </a:cubicBezTo>
                <a:cubicBezTo>
                  <a:pt x="5181378" y="1485801"/>
                  <a:pt x="4997102" y="1301525"/>
                  <a:pt x="4769785" y="1301525"/>
                </a:cubicBezTo>
                <a:close/>
                <a:moveTo>
                  <a:pt x="1485712" y="0"/>
                </a:moveTo>
                <a:lnTo>
                  <a:pt x="1911850" y="0"/>
                </a:lnTo>
                <a:lnTo>
                  <a:pt x="4693359" y="0"/>
                </a:lnTo>
                <a:lnTo>
                  <a:pt x="4687196" y="186052"/>
                </a:lnTo>
                <a:cubicBezTo>
                  <a:pt x="4686166" y="265025"/>
                  <a:pt x="4686829" y="343862"/>
                  <a:pt x="4689492" y="422393"/>
                </a:cubicBezTo>
                <a:cubicBezTo>
                  <a:pt x="4699496" y="713539"/>
                  <a:pt x="4872938" y="896626"/>
                  <a:pt x="5029277" y="1074198"/>
                </a:cubicBezTo>
                <a:cubicBezTo>
                  <a:pt x="5418992" y="1516672"/>
                  <a:pt x="5551614" y="2043761"/>
                  <a:pt x="5368989" y="2604190"/>
                </a:cubicBezTo>
                <a:cubicBezTo>
                  <a:pt x="5298163" y="2821542"/>
                  <a:pt x="5160452" y="3010355"/>
                  <a:pt x="5030698" y="3182337"/>
                </a:cubicBezTo>
                <a:cubicBezTo>
                  <a:pt x="4682698" y="3643429"/>
                  <a:pt x="4696957" y="4178177"/>
                  <a:pt x="4910556" y="4667756"/>
                </a:cubicBezTo>
                <a:cubicBezTo>
                  <a:pt x="5062728" y="5015306"/>
                  <a:pt x="5245193" y="5341884"/>
                  <a:pt x="5374561" y="5703238"/>
                </a:cubicBezTo>
                <a:cubicBezTo>
                  <a:pt x="5500512" y="6053410"/>
                  <a:pt x="5575240" y="6402760"/>
                  <a:pt x="5591170" y="6745970"/>
                </a:cubicBezTo>
                <a:lnTo>
                  <a:pt x="5592970" y="6897158"/>
                </a:lnTo>
                <a:lnTo>
                  <a:pt x="2734191" y="6897158"/>
                </a:lnTo>
                <a:lnTo>
                  <a:pt x="2734191" y="6897159"/>
                </a:lnTo>
                <a:lnTo>
                  <a:pt x="0" y="6897159"/>
                </a:lnTo>
                <a:lnTo>
                  <a:pt x="0" y="1"/>
                </a:lnTo>
                <a:lnTo>
                  <a:pt x="1485712" y="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9A45C29-7032-6C59-A012-8B83FFA73458}"/>
              </a:ext>
            </a:extLst>
          </p:cNvPr>
          <p:cNvSpPr>
            <a:spLocks noGrp="1"/>
          </p:cNvSpPr>
          <p:nvPr>
            <p:ph type="ctrTitle"/>
          </p:nvPr>
        </p:nvSpPr>
        <p:spPr>
          <a:xfrm>
            <a:off x="6599030" y="1122363"/>
            <a:ext cx="4983370" cy="2387600"/>
          </a:xfrm>
        </p:spPr>
        <p:txBody>
          <a:bodyPr>
            <a:normAutofit/>
          </a:bodyPr>
          <a:lstStyle/>
          <a:p>
            <a:pPr algn="r"/>
            <a:r>
              <a:rPr lang="en-US" sz="3600" dirty="0"/>
              <a:t>Experience Sharing </a:t>
            </a:r>
            <a:endParaRPr lang="en-IN" sz="3600" dirty="0"/>
          </a:p>
        </p:txBody>
      </p:sp>
      <p:sp>
        <p:nvSpPr>
          <p:cNvPr id="3" name="Subtitle 2">
            <a:extLst>
              <a:ext uri="{FF2B5EF4-FFF2-40B4-BE49-F238E27FC236}">
                <a16:creationId xmlns:a16="http://schemas.microsoft.com/office/drawing/2014/main" id="{E030052A-A6EA-BAAE-650C-8BADDC4BDB58}"/>
              </a:ext>
            </a:extLst>
          </p:cNvPr>
          <p:cNvSpPr>
            <a:spLocks noGrp="1"/>
          </p:cNvSpPr>
          <p:nvPr>
            <p:ph type="subTitle" idx="1"/>
          </p:nvPr>
        </p:nvSpPr>
        <p:spPr>
          <a:xfrm>
            <a:off x="6971071" y="3602038"/>
            <a:ext cx="4611329" cy="1655762"/>
          </a:xfrm>
        </p:spPr>
        <p:txBody>
          <a:bodyPr>
            <a:normAutofit/>
          </a:bodyPr>
          <a:lstStyle/>
          <a:p>
            <a:pPr algn="r"/>
            <a:r>
              <a:rPr lang="en-US" i="1" dirty="0"/>
              <a:t>from</a:t>
            </a:r>
            <a:r>
              <a:rPr lang="en-US" dirty="0"/>
              <a:t> My PhD – </a:t>
            </a:r>
            <a:r>
              <a:rPr lang="en-US" i="1" dirty="0"/>
              <a:t>Dr. Master Iraban</a:t>
            </a:r>
            <a:endParaRPr lang="en-IN" i="1" dirty="0"/>
          </a:p>
        </p:txBody>
      </p:sp>
    </p:spTree>
    <p:extLst>
      <p:ext uri="{BB962C8B-B14F-4D97-AF65-F5344CB8AC3E}">
        <p14:creationId xmlns:p14="http://schemas.microsoft.com/office/powerpoint/2010/main" val="321826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E6BF-A989-596F-27F5-68A166FFB2E5}"/>
              </a:ext>
            </a:extLst>
          </p:cNvPr>
          <p:cNvSpPr>
            <a:spLocks noGrp="1"/>
          </p:cNvSpPr>
          <p:nvPr>
            <p:ph type="title"/>
          </p:nvPr>
        </p:nvSpPr>
        <p:spPr>
          <a:xfrm>
            <a:off x="83127" y="132911"/>
            <a:ext cx="10972800" cy="582351"/>
          </a:xfrm>
        </p:spPr>
        <p:txBody>
          <a:bodyPr anchor="t">
            <a:normAutofit/>
          </a:bodyPr>
          <a:lstStyle/>
          <a:p>
            <a:r>
              <a:rPr lang="en-US" sz="3200" dirty="0"/>
              <a:t>The Process</a:t>
            </a:r>
            <a:endParaRPr lang="en-IN" sz="3200" dirty="0"/>
          </a:p>
        </p:txBody>
      </p:sp>
      <p:sp>
        <p:nvSpPr>
          <p:cNvPr id="3" name="Content Placeholder 2">
            <a:extLst>
              <a:ext uri="{FF2B5EF4-FFF2-40B4-BE49-F238E27FC236}">
                <a16:creationId xmlns:a16="http://schemas.microsoft.com/office/drawing/2014/main" id="{FBE69E94-7409-17D0-FCC9-C2757063D37E}"/>
              </a:ext>
            </a:extLst>
          </p:cNvPr>
          <p:cNvSpPr>
            <a:spLocks noGrp="1"/>
          </p:cNvSpPr>
          <p:nvPr>
            <p:ph idx="1"/>
          </p:nvPr>
        </p:nvSpPr>
        <p:spPr>
          <a:xfrm>
            <a:off x="341745" y="1704109"/>
            <a:ext cx="4075551" cy="4008270"/>
          </a:xfrm>
        </p:spPr>
        <p:txBody>
          <a:bodyPr>
            <a:normAutofit/>
          </a:bodyPr>
          <a:lstStyle/>
          <a:p>
            <a:pPr marL="457200" indent="-457200">
              <a:buFont typeface="+mj-lt"/>
              <a:buAutoNum type="arabicPeriod"/>
            </a:pPr>
            <a:r>
              <a:rPr lang="en-US" dirty="0">
                <a:latin typeface="Times New Roman" panose="02020603050405020304" pitchFamily="18" charset="0"/>
                <a:cs typeface="Times New Roman" panose="02020603050405020304" pitchFamily="18" charset="0"/>
              </a:rPr>
              <a:t>Admission</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Course Work</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Research Work</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Publication</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Pre-Viva Submission</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Final Defense </a:t>
            </a:r>
          </a:p>
        </p:txBody>
      </p:sp>
      <p:sp>
        <p:nvSpPr>
          <p:cNvPr id="4" name="TextBox 3">
            <a:extLst>
              <a:ext uri="{FF2B5EF4-FFF2-40B4-BE49-F238E27FC236}">
                <a16:creationId xmlns:a16="http://schemas.microsoft.com/office/drawing/2014/main" id="{F93A55DB-5AA2-92B1-91BB-10845BFB9B84}"/>
              </a:ext>
            </a:extLst>
          </p:cNvPr>
          <p:cNvSpPr txBox="1"/>
          <p:nvPr/>
        </p:nvSpPr>
        <p:spPr>
          <a:xfrm>
            <a:off x="4207163" y="1043458"/>
            <a:ext cx="2854037"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Written Test</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Synopsis Proposal</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Title Submission</a:t>
            </a:r>
          </a:p>
          <a:p>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CDF8C4C-5FA2-DC10-B352-831E26D839DF}"/>
              </a:ext>
            </a:extLst>
          </p:cNvPr>
          <p:cNvSpPr txBox="1"/>
          <p:nvPr/>
        </p:nvSpPr>
        <p:spPr>
          <a:xfrm>
            <a:off x="8086436" y="1555156"/>
            <a:ext cx="3505199"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2)</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Theory Study (Research Methodology, Subject)</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Examination</a:t>
            </a:r>
          </a:p>
        </p:txBody>
      </p:sp>
      <p:sp>
        <p:nvSpPr>
          <p:cNvPr id="6" name="TextBox 5">
            <a:extLst>
              <a:ext uri="{FF2B5EF4-FFF2-40B4-BE49-F238E27FC236}">
                <a16:creationId xmlns:a16="http://schemas.microsoft.com/office/drawing/2014/main" id="{73F5AD0E-E2C1-12C2-4A9E-F2FD23025904}"/>
              </a:ext>
            </a:extLst>
          </p:cNvPr>
          <p:cNvSpPr txBox="1"/>
          <p:nvPr/>
        </p:nvSpPr>
        <p:spPr>
          <a:xfrm>
            <a:off x="4312230" y="2889891"/>
            <a:ext cx="3462476"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3)</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Define Hypothesis</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Literature Survey</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Periodic Progress Report</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Data Collection</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Data Interpretation</a:t>
            </a:r>
          </a:p>
        </p:txBody>
      </p:sp>
      <p:sp>
        <p:nvSpPr>
          <p:cNvPr id="7" name="TextBox 6">
            <a:extLst>
              <a:ext uri="{FF2B5EF4-FFF2-40B4-BE49-F238E27FC236}">
                <a16:creationId xmlns:a16="http://schemas.microsoft.com/office/drawing/2014/main" id="{79ACC685-D92B-BD77-6D8E-F744117EE9F1}"/>
              </a:ext>
            </a:extLst>
          </p:cNvPr>
          <p:cNvSpPr txBox="1"/>
          <p:nvPr/>
        </p:nvSpPr>
        <p:spPr>
          <a:xfrm>
            <a:off x="8086436" y="3807861"/>
            <a:ext cx="3505200"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4)</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Publish Papers</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Presentation in Seminars</a:t>
            </a:r>
          </a:p>
        </p:txBody>
      </p:sp>
      <p:sp>
        <p:nvSpPr>
          <p:cNvPr id="8" name="TextBox 7">
            <a:extLst>
              <a:ext uri="{FF2B5EF4-FFF2-40B4-BE49-F238E27FC236}">
                <a16:creationId xmlns:a16="http://schemas.microsoft.com/office/drawing/2014/main" id="{4416D601-BDBF-959A-E97E-62A647B0F64A}"/>
              </a:ext>
            </a:extLst>
          </p:cNvPr>
          <p:cNvSpPr txBox="1"/>
          <p:nvPr/>
        </p:nvSpPr>
        <p:spPr>
          <a:xfrm>
            <a:off x="4312230" y="5138640"/>
            <a:ext cx="3223490"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5)</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Thesis Validation</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Document Submission</a:t>
            </a:r>
          </a:p>
        </p:txBody>
      </p:sp>
      <p:sp>
        <p:nvSpPr>
          <p:cNvPr id="9" name="TextBox 8">
            <a:extLst>
              <a:ext uri="{FF2B5EF4-FFF2-40B4-BE49-F238E27FC236}">
                <a16:creationId xmlns:a16="http://schemas.microsoft.com/office/drawing/2014/main" id="{28D3AB70-7943-DDCC-F048-AFF96E225EB6}"/>
              </a:ext>
            </a:extLst>
          </p:cNvPr>
          <p:cNvSpPr txBox="1"/>
          <p:nvPr/>
        </p:nvSpPr>
        <p:spPr>
          <a:xfrm>
            <a:off x="8086436" y="5461805"/>
            <a:ext cx="3223490"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6)</a:t>
            </a:r>
          </a:p>
          <a:p>
            <a:pPr marL="571500" lvl="1"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Defending Thesis </a:t>
            </a:r>
          </a:p>
          <a:p>
            <a:pPr marL="571500" lvl="1" indent="-342900">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Justifying Hypothesis</a:t>
            </a:r>
          </a:p>
          <a:p>
            <a:pPr marL="571500" lvl="1" indent="-342900">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Societal Use</a:t>
            </a:r>
          </a:p>
        </p:txBody>
      </p:sp>
    </p:spTree>
    <p:extLst>
      <p:ext uri="{BB962C8B-B14F-4D97-AF65-F5344CB8AC3E}">
        <p14:creationId xmlns:p14="http://schemas.microsoft.com/office/powerpoint/2010/main" val="4076074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E6BF-A989-596F-27F5-68A166FFB2E5}"/>
              </a:ext>
            </a:extLst>
          </p:cNvPr>
          <p:cNvSpPr>
            <a:spLocks noGrp="1"/>
          </p:cNvSpPr>
          <p:nvPr>
            <p:ph type="title"/>
          </p:nvPr>
        </p:nvSpPr>
        <p:spPr>
          <a:xfrm>
            <a:off x="83127" y="132911"/>
            <a:ext cx="10972800" cy="582351"/>
          </a:xfrm>
        </p:spPr>
        <p:txBody>
          <a:bodyPr anchor="t">
            <a:normAutofit/>
          </a:bodyPr>
          <a:lstStyle/>
          <a:p>
            <a:r>
              <a:rPr lang="en-US" sz="3200" dirty="0"/>
              <a:t>The Title</a:t>
            </a:r>
            <a:endParaRPr lang="en-IN" sz="3200" dirty="0"/>
          </a:p>
        </p:txBody>
      </p:sp>
      <p:sp>
        <p:nvSpPr>
          <p:cNvPr id="10" name="Content Placeholder 2">
            <a:extLst>
              <a:ext uri="{FF2B5EF4-FFF2-40B4-BE49-F238E27FC236}">
                <a16:creationId xmlns:a16="http://schemas.microsoft.com/office/drawing/2014/main" id="{F0927AF2-5563-E741-A410-3506B93DE400}"/>
              </a:ext>
            </a:extLst>
          </p:cNvPr>
          <p:cNvSpPr txBox="1">
            <a:spLocks/>
          </p:cNvSpPr>
          <p:nvPr/>
        </p:nvSpPr>
        <p:spPr>
          <a:xfrm>
            <a:off x="311727" y="1014153"/>
            <a:ext cx="10515600" cy="2414847"/>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Aft>
                <a:spcPts val="600"/>
              </a:spcAft>
            </a:pPr>
            <a:r>
              <a:rPr lang="en-US" sz="2800" dirty="0">
                <a:latin typeface="Times New Roman" panose="02020603050405020304" pitchFamily="18" charset="0"/>
                <a:cs typeface="Times New Roman" panose="02020603050405020304" pitchFamily="18" charset="0"/>
              </a:rPr>
              <a:t>Strategic role of HR in </a:t>
            </a:r>
          </a:p>
          <a:p>
            <a:pPr>
              <a:lnSpc>
                <a:spcPct val="120000"/>
              </a:lnSpc>
              <a:spcAft>
                <a:spcPts val="600"/>
              </a:spcAft>
            </a:pPr>
            <a:r>
              <a:rPr lang="en-US" sz="2800" dirty="0">
                <a:latin typeface="Times New Roman" panose="02020603050405020304" pitchFamily="18" charset="0"/>
                <a:cs typeface="Times New Roman" panose="02020603050405020304" pitchFamily="18" charset="0"/>
              </a:rPr>
              <a:t>	optimizing organizational performance</a:t>
            </a:r>
          </a:p>
          <a:p>
            <a:pPr indent="568325">
              <a:lnSpc>
                <a:spcPct val="120000"/>
              </a:lnSpc>
              <a:spcAft>
                <a:spcPts val="600"/>
              </a:spcAft>
            </a:pPr>
            <a:r>
              <a:rPr lang="en-US" sz="2800" dirty="0">
                <a:latin typeface="Times New Roman" panose="02020603050405020304" pitchFamily="18" charset="0"/>
                <a:cs typeface="Times New Roman" panose="02020603050405020304" pitchFamily="18" charset="0"/>
              </a:rPr>
              <a:t>	via Positive Psychosocial ties of employee with top management </a:t>
            </a:r>
          </a:p>
          <a:p>
            <a:pPr indent="895350">
              <a:lnSpc>
                <a:spcPct val="120000"/>
              </a:lnSpc>
              <a:spcAft>
                <a:spcPts val="600"/>
              </a:spcAft>
            </a:pPr>
            <a:r>
              <a:rPr lang="en-US" sz="2800" dirty="0">
                <a:latin typeface="Times New Roman" panose="02020603050405020304" pitchFamily="18" charset="0"/>
                <a:cs typeface="Times New Roman" panose="02020603050405020304" pitchFamily="18" charset="0"/>
              </a:rPr>
              <a:t>and KPI assessments processes.</a:t>
            </a:r>
          </a:p>
        </p:txBody>
      </p:sp>
      <p:sp>
        <p:nvSpPr>
          <p:cNvPr id="13" name="Content Placeholder 2">
            <a:extLst>
              <a:ext uri="{FF2B5EF4-FFF2-40B4-BE49-F238E27FC236}">
                <a16:creationId xmlns:a16="http://schemas.microsoft.com/office/drawing/2014/main" id="{F269E3C2-EBE1-9E08-D779-A6B64C83CB23}"/>
              </a:ext>
            </a:extLst>
          </p:cNvPr>
          <p:cNvSpPr>
            <a:spLocks noGrp="1"/>
          </p:cNvSpPr>
          <p:nvPr>
            <p:ph idx="1"/>
          </p:nvPr>
        </p:nvSpPr>
        <p:spPr>
          <a:xfrm>
            <a:off x="311727" y="3727891"/>
            <a:ext cx="10557164" cy="2788274"/>
          </a:xfrm>
        </p:spPr>
        <p:txBody>
          <a:bodyPr>
            <a:normAutofit/>
          </a:bodyPr>
          <a:lstStyle/>
          <a:p>
            <a:r>
              <a:rPr lang="en-US" b="1" dirty="0">
                <a:latin typeface="Times New Roman" panose="02020603050405020304" pitchFamily="18" charset="0"/>
                <a:cs typeface="Times New Roman" panose="02020603050405020304" pitchFamily="18" charset="0"/>
              </a:rPr>
              <a:t>Publications:</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FORMATION OF ORGANIZATIONS ECONOMIC MOTIVATION SYSTEM BASED ON </a:t>
            </a:r>
            <a:r>
              <a:rPr lang="en-IN" dirty="0">
                <a:latin typeface="Times New Roman" panose="02020603050405020304" pitchFamily="18" charset="0"/>
                <a:cs typeface="Times New Roman" panose="02020603050405020304" pitchFamily="18" charset="0"/>
              </a:rPr>
              <a:t>KPI INDICATORS – </a:t>
            </a:r>
            <a:r>
              <a:rPr lang="en-IN" sz="1900" i="1" dirty="0">
                <a:latin typeface="Times New Roman" panose="02020603050405020304" pitchFamily="18" charset="0"/>
                <a:cs typeface="Times New Roman" panose="02020603050405020304" pitchFamily="18" charset="0"/>
              </a:rPr>
              <a:t>Journal of Oriental Research</a:t>
            </a:r>
            <a:endParaRPr lang="en-IN" i="1"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ANALYSIS OF POSSIBLE GAPS BETWEEN ACTUAL AND TARGETED PERFORMANCE POINTED OUT THROUGH STRATEGIC KPIS – </a:t>
            </a:r>
            <a:r>
              <a:rPr lang="en-US" sz="1900" i="1" dirty="0">
                <a:latin typeface="Times New Roman" panose="02020603050405020304" pitchFamily="18" charset="0"/>
                <a:cs typeface="Times New Roman" panose="02020603050405020304" pitchFamily="18" charset="0"/>
              </a:rPr>
              <a:t>Shodhasamhita, UGC Care Group</a:t>
            </a:r>
            <a:endParaRPr lang="en-US" sz="21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dirty="0"/>
          </a:p>
        </p:txBody>
      </p:sp>
    </p:spTree>
    <p:extLst>
      <p:ext uri="{BB962C8B-B14F-4D97-AF65-F5344CB8AC3E}">
        <p14:creationId xmlns:p14="http://schemas.microsoft.com/office/powerpoint/2010/main" val="1712179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E6BF-A989-596F-27F5-68A166FFB2E5}"/>
              </a:ext>
            </a:extLst>
          </p:cNvPr>
          <p:cNvSpPr>
            <a:spLocks noGrp="1"/>
          </p:cNvSpPr>
          <p:nvPr>
            <p:ph type="title"/>
          </p:nvPr>
        </p:nvSpPr>
        <p:spPr>
          <a:xfrm>
            <a:off x="83127" y="132911"/>
            <a:ext cx="10972800" cy="582351"/>
          </a:xfrm>
        </p:spPr>
        <p:txBody>
          <a:bodyPr anchor="t">
            <a:normAutofit/>
          </a:bodyPr>
          <a:lstStyle/>
          <a:p>
            <a:r>
              <a:rPr lang="en-US" sz="3200" dirty="0"/>
              <a:t>The Objectives</a:t>
            </a:r>
            <a:endParaRPr lang="en-IN" sz="3200" dirty="0"/>
          </a:p>
        </p:txBody>
      </p:sp>
      <p:sp>
        <p:nvSpPr>
          <p:cNvPr id="6" name="Content Placeholder 2">
            <a:extLst>
              <a:ext uri="{FF2B5EF4-FFF2-40B4-BE49-F238E27FC236}">
                <a16:creationId xmlns:a16="http://schemas.microsoft.com/office/drawing/2014/main" id="{93F1E043-1F83-2ED3-854B-8081864D9E1A}"/>
              </a:ext>
            </a:extLst>
          </p:cNvPr>
          <p:cNvSpPr txBox="1">
            <a:spLocks noGrp="1"/>
          </p:cNvSpPr>
          <p:nvPr>
            <p:ph idx="1"/>
          </p:nvPr>
        </p:nvSpPr>
        <p:spPr>
          <a:xfrm>
            <a:off x="535709" y="1411287"/>
            <a:ext cx="10972800" cy="403542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68275" marR="0" lvl="0" indent="-168275">
              <a:lnSpc>
                <a:spcPct val="150000"/>
              </a:lnSpc>
              <a:spcBef>
                <a:spcPts val="600"/>
              </a:spcBef>
              <a:spcAft>
                <a:spcPts val="600"/>
              </a:spcAft>
            </a:pPr>
            <a:r>
              <a:rPr lang="en-IN" sz="2400" dirty="0">
                <a:latin typeface="Times New Roman" panose="02020603050405020304" pitchFamily="18" charset="0"/>
                <a:cs typeface="Times New Roman" panose="02020603050405020304" pitchFamily="18" charset="0"/>
              </a:rPr>
              <a:t>To investigate the impact of top management’s core self-evaluation and grandiose narcissism (feeling of superiority) on organizations performance.</a:t>
            </a:r>
            <a:endParaRPr lang="en-US" sz="2400" dirty="0">
              <a:latin typeface="Times New Roman" panose="02020603050405020304" pitchFamily="18" charset="0"/>
              <a:cs typeface="Times New Roman" panose="02020603050405020304" pitchFamily="18" charset="0"/>
            </a:endParaRPr>
          </a:p>
          <a:p>
            <a:pPr marL="168275" marR="0" lvl="0" indent="-168275">
              <a:lnSpc>
                <a:spcPct val="150000"/>
              </a:lnSpc>
              <a:spcBef>
                <a:spcPts val="600"/>
              </a:spcBef>
              <a:spcAft>
                <a:spcPts val="600"/>
              </a:spcAft>
            </a:pPr>
            <a:r>
              <a:rPr lang="en-IN" sz="2400" dirty="0">
                <a:latin typeface="Times New Roman" panose="02020603050405020304" pitchFamily="18" charset="0"/>
                <a:cs typeface="Times New Roman" panose="02020603050405020304" pitchFamily="18" charset="0"/>
              </a:rPr>
              <a:t>To analyse the Role of strategic HR to enhance the performance of organization</a:t>
            </a:r>
            <a:endParaRPr lang="en-US" sz="2400" dirty="0">
              <a:latin typeface="Times New Roman" panose="02020603050405020304" pitchFamily="18" charset="0"/>
              <a:cs typeface="Times New Roman" panose="02020603050405020304" pitchFamily="18" charset="0"/>
            </a:endParaRPr>
          </a:p>
          <a:p>
            <a:pPr marL="168275" marR="0" lvl="0" indent="-168275">
              <a:lnSpc>
                <a:spcPct val="150000"/>
              </a:lnSpc>
              <a:spcBef>
                <a:spcPts val="600"/>
              </a:spcBef>
              <a:spcAft>
                <a:spcPts val="600"/>
              </a:spcAft>
            </a:pPr>
            <a:r>
              <a:rPr lang="en-IN" sz="2400" dirty="0">
                <a:latin typeface="Times New Roman" panose="02020603050405020304" pitchFamily="18" charset="0"/>
                <a:cs typeface="Times New Roman" panose="02020603050405020304" pitchFamily="18" charset="0"/>
              </a:rPr>
              <a:t>HR to analyse psychosocial relationship with top management and Key Performance Indicator (KPI) assessments techniques.</a:t>
            </a:r>
            <a:endParaRPr lang="en-US" sz="2400" dirty="0">
              <a:latin typeface="Times New Roman" panose="02020603050405020304" pitchFamily="18" charset="0"/>
              <a:cs typeface="Times New Roman" panose="02020603050405020304" pitchFamily="18" charset="0"/>
            </a:endParaRPr>
          </a:p>
          <a:p>
            <a:pPr marL="168275" marR="0" lvl="0" indent="-168275">
              <a:lnSpc>
                <a:spcPct val="150000"/>
              </a:lnSpc>
              <a:spcBef>
                <a:spcPts val="600"/>
              </a:spcBef>
              <a:spcAft>
                <a:spcPts val="600"/>
              </a:spcAft>
            </a:pPr>
            <a:r>
              <a:rPr lang="en-IN" sz="2400" dirty="0">
                <a:latin typeface="Times New Roman" panose="02020603050405020304" pitchFamily="18" charset="0"/>
                <a:cs typeface="Times New Roman" panose="02020603050405020304" pitchFamily="18" charset="0"/>
              </a:rPr>
              <a:t>To explore how complex Top Management’s behavioural characteristics affect Organizations' outcomes.</a:t>
            </a:r>
          </a:p>
        </p:txBody>
      </p:sp>
    </p:spTree>
    <p:extLst>
      <p:ext uri="{BB962C8B-B14F-4D97-AF65-F5344CB8AC3E}">
        <p14:creationId xmlns:p14="http://schemas.microsoft.com/office/powerpoint/2010/main" val="653147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E6BF-A989-596F-27F5-68A166FFB2E5}"/>
              </a:ext>
            </a:extLst>
          </p:cNvPr>
          <p:cNvSpPr>
            <a:spLocks noGrp="1"/>
          </p:cNvSpPr>
          <p:nvPr>
            <p:ph type="title"/>
          </p:nvPr>
        </p:nvSpPr>
        <p:spPr>
          <a:xfrm>
            <a:off x="83127" y="132911"/>
            <a:ext cx="10972800" cy="582351"/>
          </a:xfrm>
        </p:spPr>
        <p:txBody>
          <a:bodyPr anchor="t">
            <a:normAutofit/>
          </a:bodyPr>
          <a:lstStyle/>
          <a:p>
            <a:r>
              <a:rPr lang="en-US" sz="3200" dirty="0"/>
              <a:t>The Data</a:t>
            </a:r>
            <a:endParaRPr lang="en-IN" sz="3200" dirty="0"/>
          </a:p>
        </p:txBody>
      </p:sp>
      <p:sp>
        <p:nvSpPr>
          <p:cNvPr id="5" name="Content Placeholder 4">
            <a:extLst>
              <a:ext uri="{FF2B5EF4-FFF2-40B4-BE49-F238E27FC236}">
                <a16:creationId xmlns:a16="http://schemas.microsoft.com/office/drawing/2014/main" id="{C1F57A84-5095-BD45-6F94-C33A245905DB}"/>
              </a:ext>
            </a:extLst>
          </p:cNvPr>
          <p:cNvSpPr>
            <a:spLocks noGrp="1"/>
          </p:cNvSpPr>
          <p:nvPr>
            <p:ph idx="1"/>
          </p:nvPr>
        </p:nvSpPr>
        <p:spPr>
          <a:xfrm>
            <a:off x="411134" y="1044022"/>
            <a:ext cx="5338618" cy="4036534"/>
          </a:xfrm>
        </p:spPr>
        <p:txBody>
          <a:bodyPr/>
          <a:lstStyle/>
          <a:p>
            <a:r>
              <a:rPr lang="en-IN" sz="2000" dirty="0">
                <a:solidFill>
                  <a:srgbClr val="002060"/>
                </a:solidFill>
                <a:latin typeface="Times New Roman" panose="02020603050405020304" pitchFamily="18" charset="0"/>
                <a:cs typeface="Times New Roman" panose="02020603050405020304" pitchFamily="18" charset="0"/>
              </a:rPr>
              <a:t>The variables considered for this study include:</a:t>
            </a:r>
          </a:p>
          <a:p>
            <a:pPr marL="342900" indent="-342900">
              <a:buFont typeface="Arial" panose="020B0604020202020204" pitchFamily="34" charset="0"/>
              <a:buChar char="•"/>
            </a:pPr>
            <a:r>
              <a:rPr lang="en-IN" sz="2000" dirty="0">
                <a:solidFill>
                  <a:srgbClr val="002060"/>
                </a:solidFill>
                <a:latin typeface="Times New Roman" panose="02020603050405020304" pitchFamily="18" charset="0"/>
                <a:cs typeface="Times New Roman" panose="02020603050405020304" pitchFamily="18" charset="0"/>
              </a:rPr>
              <a:t>Five Demographic variables (Gender, Age, Level of Job, Qualification, Tenure)</a:t>
            </a:r>
          </a:p>
          <a:p>
            <a:pPr marL="342900" indent="-342900">
              <a:buFont typeface="Arial" panose="020B0604020202020204" pitchFamily="34" charset="0"/>
              <a:buChar char="•"/>
            </a:pPr>
            <a:r>
              <a:rPr lang="en-IN" dirty="0">
                <a:solidFill>
                  <a:srgbClr val="002060"/>
                </a:solidFill>
                <a:latin typeface="Times New Roman" panose="02020603050405020304" pitchFamily="18" charset="0"/>
                <a:cs typeface="Times New Roman" panose="02020603050405020304" pitchFamily="18" charset="0"/>
              </a:rPr>
              <a:t>Two Org variables (# of Emp, Industry Type)</a:t>
            </a:r>
            <a:endParaRPr lang="en-IN" sz="20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solidFill>
                  <a:srgbClr val="002060"/>
                </a:solidFill>
                <a:latin typeface="Times New Roman" panose="02020603050405020304" pitchFamily="18" charset="0"/>
                <a:cs typeface="Times New Roman" panose="02020603050405020304" pitchFamily="18" charset="0"/>
              </a:rPr>
              <a:t>Five HR practices (Recruitment &amp; Selection, Compensation Practices, Training Practices, Performance Appraisal, and Promotion Practices)</a:t>
            </a:r>
          </a:p>
          <a:p>
            <a:pPr marL="342900" indent="-342900">
              <a:buFont typeface="Arial" panose="020B0604020202020204" pitchFamily="34" charset="0"/>
              <a:buChar char="•"/>
            </a:pPr>
            <a:r>
              <a:rPr lang="en-IN" dirty="0">
                <a:solidFill>
                  <a:srgbClr val="002060"/>
                </a:solidFill>
                <a:latin typeface="Times New Roman" panose="02020603050405020304" pitchFamily="18" charset="0"/>
                <a:cs typeface="Times New Roman" panose="02020603050405020304" pitchFamily="18" charset="0"/>
              </a:rPr>
              <a:t>T</a:t>
            </a:r>
            <a:r>
              <a:rPr lang="en-IN" sz="2000" dirty="0">
                <a:solidFill>
                  <a:srgbClr val="002060"/>
                </a:solidFill>
                <a:latin typeface="Times New Roman" panose="02020603050405020304" pitchFamily="18" charset="0"/>
                <a:cs typeface="Times New Roman" panose="02020603050405020304" pitchFamily="18" charset="0"/>
              </a:rPr>
              <a:t>wo Dependent variables (perceived employee  and organizational performance)</a:t>
            </a:r>
            <a:endParaRPr lang="en-US" sz="2000" dirty="0">
              <a:solidFill>
                <a:srgbClr val="002060"/>
              </a:solidFill>
              <a:latin typeface="Times New Roman" panose="02020603050405020304" pitchFamily="18" charset="0"/>
              <a:cs typeface="Times New Roman" panose="02020603050405020304" pitchFamily="18" charset="0"/>
            </a:endParaRPr>
          </a:p>
          <a:p>
            <a:endParaRPr lang="en-IN" dirty="0"/>
          </a:p>
        </p:txBody>
      </p:sp>
      <p:graphicFrame>
        <p:nvGraphicFramePr>
          <p:cNvPr id="6" name="Table 5">
            <a:extLst>
              <a:ext uri="{FF2B5EF4-FFF2-40B4-BE49-F238E27FC236}">
                <a16:creationId xmlns:a16="http://schemas.microsoft.com/office/drawing/2014/main" id="{2F95C3E6-F58D-40AD-12A9-E938BB944B99}"/>
              </a:ext>
            </a:extLst>
          </p:cNvPr>
          <p:cNvGraphicFramePr>
            <a:graphicFrameLocks noGrp="1"/>
          </p:cNvGraphicFramePr>
          <p:nvPr>
            <p:extLst>
              <p:ext uri="{D42A27DB-BD31-4B8C-83A1-F6EECF244321}">
                <p14:modId xmlns:p14="http://schemas.microsoft.com/office/powerpoint/2010/main" val="3208112583"/>
              </p:ext>
            </p:extLst>
          </p:nvPr>
        </p:nvGraphicFramePr>
        <p:xfrm>
          <a:off x="6096000" y="459493"/>
          <a:ext cx="5795703" cy="5205591"/>
        </p:xfrm>
        <a:graphic>
          <a:graphicData uri="http://schemas.openxmlformats.org/drawingml/2006/table">
            <a:tbl>
              <a:tblPr firstRow="1" firstCol="1" bandRow="1">
                <a:tableStyleId>{5C22544A-7EE6-4342-B048-85BDC9FD1C3A}</a:tableStyleId>
              </a:tblPr>
              <a:tblGrid>
                <a:gridCol w="868217">
                  <a:extLst>
                    <a:ext uri="{9D8B030D-6E8A-4147-A177-3AD203B41FA5}">
                      <a16:colId xmlns:a16="http://schemas.microsoft.com/office/drawing/2014/main" val="1649363029"/>
                    </a:ext>
                  </a:extLst>
                </a:gridCol>
                <a:gridCol w="1136073">
                  <a:extLst>
                    <a:ext uri="{9D8B030D-6E8A-4147-A177-3AD203B41FA5}">
                      <a16:colId xmlns:a16="http://schemas.microsoft.com/office/drawing/2014/main" val="2988446548"/>
                    </a:ext>
                  </a:extLst>
                </a:gridCol>
                <a:gridCol w="481735">
                  <a:extLst>
                    <a:ext uri="{9D8B030D-6E8A-4147-A177-3AD203B41FA5}">
                      <a16:colId xmlns:a16="http://schemas.microsoft.com/office/drawing/2014/main" val="1678714973"/>
                    </a:ext>
                  </a:extLst>
                </a:gridCol>
                <a:gridCol w="3309678">
                  <a:extLst>
                    <a:ext uri="{9D8B030D-6E8A-4147-A177-3AD203B41FA5}">
                      <a16:colId xmlns:a16="http://schemas.microsoft.com/office/drawing/2014/main" val="950853627"/>
                    </a:ext>
                  </a:extLst>
                </a:gridCol>
              </a:tblGrid>
              <a:tr h="272437">
                <a:tc gridSpan="4">
                  <a:txBody>
                    <a:bodyPr/>
                    <a:lstStyle/>
                    <a:p>
                      <a:pPr marL="0" marR="0">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Independent Variables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endParaRPr lang="en-IN"/>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9407426"/>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RS  </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Recruitment &amp; Selection</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4224130607"/>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CP</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Compensation Practices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374057155"/>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TP</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Training Practices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445856690"/>
                  </a:ext>
                </a:extLst>
              </a:tr>
              <a:tr h="272437">
                <a:tc>
                  <a:txBody>
                    <a:bodyPr/>
                    <a:lstStyle/>
                    <a:p>
                      <a:pPr marL="0" marR="0" algn="ctr">
                        <a:lnSpc>
                          <a:spcPts val="1200"/>
                        </a:lnSpc>
                        <a:spcBef>
                          <a:spcPts val="600"/>
                        </a:spcBef>
                        <a:spcAft>
                          <a:spcPts val="600"/>
                        </a:spcAft>
                      </a:pPr>
                      <a:r>
                        <a:rPr lang="en-US" sz="1600">
                          <a:effectLst/>
                          <a:latin typeface="Times New Roman" panose="02020603050405020304" pitchFamily="18" charset="0"/>
                          <a:cs typeface="Times New Roman" panose="02020603050405020304" pitchFamily="18" charset="0"/>
                        </a:rPr>
                        <a:t>4</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PA</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Performance Appraisal</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579781613"/>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5</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 PP</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Promotion Practices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691038170"/>
                  </a:ext>
                </a:extLst>
              </a:tr>
              <a:tr h="272437">
                <a:tc gridSpan="4">
                  <a:txBody>
                    <a:bodyPr/>
                    <a:lstStyle/>
                    <a:p>
                      <a:pPr marL="0" marR="0">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Dependent Variables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endParaRPr lang="en-IN"/>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68489191"/>
                  </a:ext>
                </a:extLst>
              </a:tr>
              <a:tr h="287081">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6</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PEP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Perceived Employee Performance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endParaRPr lang="en-US"/>
                    </a:p>
                  </a:txBody>
                  <a:tcPr/>
                </a:tc>
                <a:extLst>
                  <a:ext uri="{0D108BD9-81ED-4DB2-BD59-A6C34878D82A}">
                    <a16:rowId xmlns:a16="http://schemas.microsoft.com/office/drawing/2014/main" val="617988208"/>
                  </a:ext>
                </a:extLst>
              </a:tr>
              <a:tr h="287081">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7</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POP</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Perceived Organizational Performance</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endParaRPr lang="en-US"/>
                    </a:p>
                  </a:txBody>
                  <a:tcPr/>
                </a:tc>
                <a:extLst>
                  <a:ext uri="{0D108BD9-81ED-4DB2-BD59-A6C34878D82A}">
                    <a16:rowId xmlns:a16="http://schemas.microsoft.com/office/drawing/2014/main" val="1174896864"/>
                  </a:ext>
                </a:extLst>
              </a:tr>
              <a:tr h="272437">
                <a:tc gridSpan="4">
                  <a:txBody>
                    <a:bodyPr/>
                    <a:lstStyle/>
                    <a:p>
                      <a:pPr marL="0" marR="0">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Demographic Variables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endParaRPr lang="en-IN"/>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30160202"/>
                  </a:ext>
                </a:extLst>
              </a:tr>
              <a:tr h="272437">
                <a:tc gridSpan="4">
                  <a:txBody>
                    <a:bodyPr/>
                    <a:lstStyle/>
                    <a:p>
                      <a:pPr marL="0" marR="0">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Individual Characteristic</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endParaRPr lang="en-IN"/>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98066720"/>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8</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GEN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Gender</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1256977700"/>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9</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AGE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Age </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67079760"/>
                  </a:ext>
                </a:extLst>
              </a:tr>
              <a:tr h="272437">
                <a:tc>
                  <a:txBody>
                    <a:bodyPr/>
                    <a:lstStyle/>
                    <a:p>
                      <a:pPr marL="0" marR="0" algn="ctr">
                        <a:lnSpc>
                          <a:spcPts val="1200"/>
                        </a:lnSpc>
                        <a:spcBef>
                          <a:spcPts val="600"/>
                        </a:spcBef>
                        <a:spcAft>
                          <a:spcPts val="600"/>
                        </a:spcAft>
                      </a:pPr>
                      <a:r>
                        <a:rPr lang="en-US" sz="1600">
                          <a:effectLst/>
                          <a:latin typeface="Times New Roman" panose="02020603050405020304" pitchFamily="18" charset="0"/>
                          <a:cs typeface="Times New Roman" panose="02020603050405020304" pitchFamily="18" charset="0"/>
                        </a:rPr>
                        <a:t>10</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Level of Job</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LJ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2523007429"/>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11</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QL</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dirty="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Qualification (Educational) </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2568531888"/>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12</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TE</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Tenure (in years)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3206050067"/>
                  </a:ext>
                </a:extLst>
              </a:tr>
              <a:tr h="272437">
                <a:tc gridSpan="4">
                  <a:txBody>
                    <a:bodyPr/>
                    <a:lstStyle/>
                    <a:p>
                      <a:pPr marL="0" marR="0">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Organizational Characteristic</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endParaRPr lang="en-IN"/>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74400653"/>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13</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NOE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No of Employees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33323670"/>
                  </a:ext>
                </a:extLst>
              </a:tr>
              <a:tr h="272437">
                <a:tc>
                  <a:txBody>
                    <a:bodyPr/>
                    <a:lstStyle/>
                    <a:p>
                      <a:pPr marL="0" marR="0" algn="ctr">
                        <a:lnSpc>
                          <a:spcPts val="12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14</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gridSpan="2">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IT</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hMerge="1">
                  <a:txBody>
                    <a:bodyPr/>
                    <a:lstStyle/>
                    <a:p>
                      <a:pPr marL="0" marR="0" algn="ctr">
                        <a:lnSpc>
                          <a:spcPts val="1200"/>
                        </a:lnSpc>
                        <a:spcBef>
                          <a:spcPts val="600"/>
                        </a:spcBef>
                        <a:spcAft>
                          <a:spcPts val="600"/>
                        </a:spcAft>
                      </a:pPr>
                      <a:endParaRPr lang="en-US" sz="1600">
                        <a:effectLst/>
                        <a:latin typeface="Times New Roman" panose="02020603050405020304" pitchFamily="18" charset="0"/>
                        <a:ea typeface="Times New Roman" panose="02020603050405020304" pitchFamily="18" charset="0"/>
                      </a:endParaRPr>
                    </a:p>
                  </a:txBody>
                  <a:tcPr marR="68580" marT="91440" marB="0" anchor="ctr"/>
                </a:tc>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Industry Type</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3149931186"/>
                  </a:ext>
                </a:extLst>
              </a:tr>
            </a:tbl>
          </a:graphicData>
        </a:graphic>
      </p:graphicFrame>
      <p:sp>
        <p:nvSpPr>
          <p:cNvPr id="7" name="TextBox 6">
            <a:extLst>
              <a:ext uri="{FF2B5EF4-FFF2-40B4-BE49-F238E27FC236}">
                <a16:creationId xmlns:a16="http://schemas.microsoft.com/office/drawing/2014/main" id="{5613C4EC-D331-F420-B478-EDD42853A9BF}"/>
              </a:ext>
            </a:extLst>
          </p:cNvPr>
          <p:cNvSpPr txBox="1"/>
          <p:nvPr/>
        </p:nvSpPr>
        <p:spPr>
          <a:xfrm>
            <a:off x="411134" y="5749534"/>
            <a:ext cx="8834465" cy="923330"/>
          </a:xfrm>
          <a:prstGeom prst="rect">
            <a:avLst/>
          </a:prstGeom>
          <a:noFill/>
        </p:spPr>
        <p:txBody>
          <a:bodyPr wrap="square" rtlCol="0">
            <a:spAutoFit/>
          </a:bodyPr>
          <a:lstStyle/>
          <a:p>
            <a:r>
              <a:rPr lang="en-US" sz="1800" dirty="0">
                <a:solidFill>
                  <a:srgbClr val="002060"/>
                </a:solidFill>
                <a:latin typeface="Times New Roman" panose="02020603050405020304" pitchFamily="18" charset="0"/>
                <a:cs typeface="Times New Roman" panose="02020603050405020304" pitchFamily="18" charset="0"/>
              </a:rPr>
              <a:t>The target groups were made up of three levels of participation: one from the top, one from the middle, and one from the lower levels of management in three separate firms. 630 HR experts from 210 organizations were chosen for the study.</a:t>
            </a:r>
          </a:p>
        </p:txBody>
      </p:sp>
    </p:spTree>
    <p:extLst>
      <p:ext uri="{BB962C8B-B14F-4D97-AF65-F5344CB8AC3E}">
        <p14:creationId xmlns:p14="http://schemas.microsoft.com/office/powerpoint/2010/main" val="153352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E6BF-A989-596F-27F5-68A166FFB2E5}"/>
              </a:ext>
            </a:extLst>
          </p:cNvPr>
          <p:cNvSpPr>
            <a:spLocks noGrp="1"/>
          </p:cNvSpPr>
          <p:nvPr>
            <p:ph type="title"/>
          </p:nvPr>
        </p:nvSpPr>
        <p:spPr>
          <a:xfrm>
            <a:off x="83127" y="132911"/>
            <a:ext cx="10972800" cy="582351"/>
          </a:xfrm>
        </p:spPr>
        <p:txBody>
          <a:bodyPr anchor="t">
            <a:normAutofit/>
          </a:bodyPr>
          <a:lstStyle/>
          <a:p>
            <a:r>
              <a:rPr lang="en-US" sz="3200" dirty="0"/>
              <a:t>The Findings</a:t>
            </a:r>
            <a:endParaRPr lang="en-IN" sz="3200" dirty="0"/>
          </a:p>
        </p:txBody>
      </p:sp>
      <p:sp>
        <p:nvSpPr>
          <p:cNvPr id="3" name="Content Placeholder 2">
            <a:extLst>
              <a:ext uri="{FF2B5EF4-FFF2-40B4-BE49-F238E27FC236}">
                <a16:creationId xmlns:a16="http://schemas.microsoft.com/office/drawing/2014/main" id="{FBE69E94-7409-17D0-FCC9-C2757063D37E}"/>
              </a:ext>
            </a:extLst>
          </p:cNvPr>
          <p:cNvSpPr>
            <a:spLocks noGrp="1"/>
          </p:cNvSpPr>
          <p:nvPr>
            <p:ph idx="1"/>
          </p:nvPr>
        </p:nvSpPr>
        <p:spPr>
          <a:xfrm>
            <a:off x="290945" y="942328"/>
            <a:ext cx="11476182" cy="5366107"/>
          </a:xfrm>
        </p:spPr>
        <p:txBody>
          <a:bodyPr>
            <a:normAutofit fontScale="85000" lnSpcReduction="10000"/>
          </a:bodyPr>
          <a:lstStyle/>
          <a:p>
            <a:pPr marL="0" marR="0" lvl="1" fontAlgn="auto">
              <a:lnSpc>
                <a:spcPct val="150000"/>
              </a:lnSpc>
              <a:spcBef>
                <a:spcPts val="1000"/>
              </a:spcBef>
              <a:spcAft>
                <a:spcPts val="600"/>
              </a:spcAft>
              <a:buSzTx/>
              <a:tabLst>
                <a:tab pos="269875" algn="l"/>
              </a:tabLst>
              <a:defRPr/>
            </a:pPr>
            <a:r>
              <a:rPr lang="en-US" sz="2300" dirty="0">
                <a:latin typeface="Times New Roman" panose="02020603050405020304" pitchFamily="18" charset="0"/>
                <a:cs typeface="Times New Roman" panose="02020603050405020304" pitchFamily="18" charset="0"/>
              </a:rPr>
              <a:t>Findings From </a:t>
            </a:r>
            <a:r>
              <a:rPr lang="en-IN" sz="2300" dirty="0">
                <a:latin typeface="Times New Roman" panose="02020603050405020304" pitchFamily="18" charset="0"/>
                <a:cs typeface="Times New Roman" panose="02020603050405020304" pitchFamily="18" charset="0"/>
              </a:rPr>
              <a:t>Perceived Employee Performance (PEP) </a:t>
            </a:r>
            <a:r>
              <a:rPr lang="en-US" sz="2300" dirty="0">
                <a:latin typeface="Times New Roman" panose="02020603050405020304" pitchFamily="18" charset="0"/>
                <a:cs typeface="Times New Roman" panose="02020603050405020304" pitchFamily="18" charset="0"/>
              </a:rPr>
              <a:t>And </a:t>
            </a:r>
            <a:r>
              <a:rPr lang="en-IN" sz="2300" dirty="0">
                <a:latin typeface="Times New Roman" panose="02020603050405020304" pitchFamily="18" charset="0"/>
                <a:cs typeface="Times New Roman" panose="02020603050405020304" pitchFamily="18" charset="0"/>
              </a:rPr>
              <a:t>Perceived </a:t>
            </a:r>
            <a:r>
              <a:rPr lang="en-US" sz="2300" dirty="0">
                <a:latin typeface="Times New Roman" panose="02020603050405020304" pitchFamily="18" charset="0"/>
                <a:cs typeface="Times New Roman" panose="02020603050405020304" pitchFamily="18" charset="0"/>
              </a:rPr>
              <a:t>Organization</a:t>
            </a:r>
            <a:r>
              <a:rPr lang="en-IN" sz="2300" dirty="0">
                <a:latin typeface="Times New Roman" panose="02020603050405020304" pitchFamily="18" charset="0"/>
                <a:cs typeface="Times New Roman" panose="02020603050405020304" pitchFamily="18" charset="0"/>
              </a:rPr>
              <a:t> Performance (POP):</a:t>
            </a:r>
          </a:p>
          <a:p>
            <a:pPr marL="342900" marR="0" lvl="2" indent="-342900" fontAlgn="auto">
              <a:lnSpc>
                <a:spcPct val="150000"/>
              </a:lnSpc>
              <a:spcBef>
                <a:spcPts val="1000"/>
              </a:spcBef>
              <a:spcAft>
                <a:spcPts val="0"/>
              </a:spcAft>
              <a:buSzTx/>
              <a:buFont typeface="Arial" panose="020B0604020202020204" pitchFamily="34" charset="0"/>
              <a:buChar char="•"/>
              <a:tabLst>
                <a:tab pos="269875" algn="l"/>
              </a:tabLst>
              <a:defRPr/>
            </a:pPr>
            <a:r>
              <a:rPr lang="en-US" sz="2000" dirty="0">
                <a:latin typeface="Times New Roman" panose="02020603050405020304" pitchFamily="18" charset="0"/>
                <a:cs typeface="Times New Roman" panose="02020603050405020304" pitchFamily="18" charset="0"/>
              </a:rPr>
              <a:t>PEP was found to be independent of all demographic variables except "level of job" </a:t>
            </a:r>
            <a:endParaRPr lang="en-IN" sz="2000" dirty="0">
              <a:latin typeface="Times New Roman" panose="02020603050405020304" pitchFamily="18" charset="0"/>
              <a:cs typeface="Times New Roman" panose="02020603050405020304" pitchFamily="18" charset="0"/>
            </a:endParaRPr>
          </a:p>
          <a:p>
            <a:pPr marL="342900" marR="0" lvl="2" indent="-342900" fontAlgn="auto">
              <a:lnSpc>
                <a:spcPct val="150000"/>
              </a:lnSpc>
              <a:spcBef>
                <a:spcPts val="1000"/>
              </a:spcBef>
              <a:spcAft>
                <a:spcPts val="0"/>
              </a:spcAft>
              <a:buSzTx/>
              <a:buFont typeface="Arial" panose="020B0604020202020204" pitchFamily="34" charset="0"/>
              <a:buChar char="•"/>
              <a:tabLst>
                <a:tab pos="269875" algn="l"/>
              </a:tabLst>
              <a:defRPr/>
            </a:pPr>
            <a:r>
              <a:rPr lang="en-US" sz="2000" dirty="0">
                <a:latin typeface="Times New Roman" panose="02020603050405020304" pitchFamily="18" charset="0"/>
                <a:cs typeface="Times New Roman" panose="02020603050405020304" pitchFamily="18" charset="0"/>
              </a:rPr>
              <a:t>POP in Indian service organizations is independent of all person demographic variables </a:t>
            </a:r>
          </a:p>
          <a:p>
            <a:pPr marL="342900" marR="0" lvl="2" indent="-342900" fontAlgn="auto">
              <a:lnSpc>
                <a:spcPct val="150000"/>
              </a:lnSpc>
              <a:spcBef>
                <a:spcPts val="1000"/>
              </a:spcBef>
              <a:spcAft>
                <a:spcPts val="0"/>
              </a:spcAft>
              <a:buSzTx/>
              <a:buFont typeface="Arial" panose="020B0604020202020204" pitchFamily="34" charset="0"/>
              <a:buChar char="•"/>
              <a:tabLst>
                <a:tab pos="269875" algn="l"/>
              </a:tabLst>
              <a:defRPr/>
            </a:pPr>
            <a:r>
              <a:rPr lang="en-US" sz="2000" dirty="0">
                <a:latin typeface="Times New Roman" panose="02020603050405020304" pitchFamily="18" charset="0"/>
                <a:cs typeface="Times New Roman" panose="02020603050405020304" pitchFamily="18" charset="0"/>
              </a:rPr>
              <a:t>It can be concluded that Indian service firms with good human resources strategies will have employees who do a better job.</a:t>
            </a:r>
            <a:endParaRPr lang="en-IN" sz="2000" dirty="0">
              <a:latin typeface="Times New Roman" panose="02020603050405020304" pitchFamily="18" charset="0"/>
              <a:cs typeface="Times New Roman" panose="02020603050405020304" pitchFamily="18" charset="0"/>
            </a:endParaRPr>
          </a:p>
          <a:p>
            <a:pPr marL="342900" marR="0" lvl="2" indent="-342900" fontAlgn="auto">
              <a:lnSpc>
                <a:spcPct val="150000"/>
              </a:lnSpc>
              <a:spcBef>
                <a:spcPts val="1000"/>
              </a:spcBef>
              <a:spcAft>
                <a:spcPts val="0"/>
              </a:spcAft>
              <a:buSzTx/>
              <a:buFont typeface="Arial" panose="020B0604020202020204" pitchFamily="34" charset="0"/>
              <a:buChar char="•"/>
              <a:tabLst>
                <a:tab pos="269875" algn="l"/>
              </a:tabLst>
              <a:defRPr/>
            </a:pPr>
            <a:r>
              <a:rPr lang="en-US" sz="2000" dirty="0">
                <a:latin typeface="Times New Roman" panose="02020603050405020304" pitchFamily="18" charset="0"/>
                <a:cs typeface="Times New Roman" panose="02020603050405020304" pitchFamily="18" charset="0"/>
              </a:rPr>
              <a:t>Compensation practices (CP) and Training practices (TP) in Indian service org.  can be used to predict org.  outcomes.</a:t>
            </a:r>
          </a:p>
          <a:p>
            <a:pPr marL="342900" marR="0" lvl="2" indent="-342900" fontAlgn="auto">
              <a:lnSpc>
                <a:spcPct val="150000"/>
              </a:lnSpc>
              <a:spcBef>
                <a:spcPts val="1000"/>
              </a:spcBef>
              <a:spcAft>
                <a:spcPts val="0"/>
              </a:spcAft>
              <a:buSzTx/>
              <a:buFont typeface="Arial" panose="020B0604020202020204" pitchFamily="34" charset="0"/>
              <a:buChar char="•"/>
              <a:tabLst>
                <a:tab pos="269875" algn="l"/>
              </a:tabLst>
              <a:defRPr/>
            </a:pPr>
            <a:r>
              <a:rPr lang="en-IN" sz="2000" dirty="0">
                <a:latin typeface="Times New Roman" panose="02020603050405020304" pitchFamily="18" charset="0"/>
                <a:cs typeface="Times New Roman" panose="02020603050405020304" pitchFamily="18" charset="0"/>
              </a:rPr>
              <a:t>Three HR practices—pay practices, recruitment &amp;selection, pay practices, and promotion practices—had a big effect on how well employees did their jobs in Indian service organizations. </a:t>
            </a:r>
          </a:p>
          <a:p>
            <a:pPr marL="342900" marR="0" lvl="2" indent="-342900" fontAlgn="auto">
              <a:lnSpc>
                <a:spcPct val="150000"/>
              </a:lnSpc>
              <a:spcBef>
                <a:spcPts val="1000"/>
              </a:spcBef>
              <a:spcAft>
                <a:spcPts val="0"/>
              </a:spcAft>
              <a:buSzTx/>
              <a:buFont typeface="Arial" panose="020B0604020202020204" pitchFamily="34" charset="0"/>
              <a:buChar char="•"/>
              <a:tabLst>
                <a:tab pos="269875" algn="l"/>
              </a:tabLst>
              <a:defRPr/>
            </a:pPr>
            <a:r>
              <a:rPr lang="en-IN" sz="2000" dirty="0">
                <a:latin typeface="Times New Roman" panose="02020603050405020304" pitchFamily="18" charset="0"/>
                <a:cs typeface="Times New Roman" panose="02020603050405020304" pitchFamily="18" charset="0"/>
              </a:rPr>
              <a:t>Two HR practices—recruitment and performance appraisal—are good predictors of how well employees do their jobs in Indian manufacturing organizations.</a:t>
            </a:r>
          </a:p>
          <a:p>
            <a:pPr marL="342900" indent="-342900" algn="l">
              <a:buFont typeface="Arial" panose="020B0604020202020204" pitchFamily="34" charset="0"/>
              <a:buChar char="•"/>
            </a:pPr>
            <a:endParaRPr lang="en-IN" sz="2100" i="1" dirty="0">
              <a:latin typeface="Times New Roman" panose="02020603050405020304" pitchFamily="18" charset="0"/>
              <a:cs typeface="Times New Roman" panose="02020603050405020304" pitchFamily="18" charset="0"/>
            </a:endParaRPr>
          </a:p>
          <a:p>
            <a:pPr>
              <a:lnSpc>
                <a:spcPct val="150000"/>
              </a:lnSpc>
            </a:pPr>
            <a:endParaRPr lang="en-US" sz="21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dirty="0"/>
          </a:p>
        </p:txBody>
      </p:sp>
    </p:spTree>
    <p:extLst>
      <p:ext uri="{BB962C8B-B14F-4D97-AF65-F5344CB8AC3E}">
        <p14:creationId xmlns:p14="http://schemas.microsoft.com/office/powerpoint/2010/main" val="2234564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E6BF-A989-596F-27F5-68A166FFB2E5}"/>
              </a:ext>
            </a:extLst>
          </p:cNvPr>
          <p:cNvSpPr>
            <a:spLocks noGrp="1"/>
          </p:cNvSpPr>
          <p:nvPr>
            <p:ph type="title"/>
          </p:nvPr>
        </p:nvSpPr>
        <p:spPr>
          <a:xfrm>
            <a:off x="83127" y="132911"/>
            <a:ext cx="10972800" cy="582351"/>
          </a:xfrm>
        </p:spPr>
        <p:txBody>
          <a:bodyPr anchor="t">
            <a:normAutofit/>
          </a:bodyPr>
          <a:lstStyle/>
          <a:p>
            <a:r>
              <a:rPr lang="en-US" sz="3200" dirty="0"/>
              <a:t>The Regression Factors</a:t>
            </a:r>
            <a:endParaRPr lang="en-IN" sz="3200" dirty="0"/>
          </a:p>
        </p:txBody>
      </p:sp>
      <p:graphicFrame>
        <p:nvGraphicFramePr>
          <p:cNvPr id="6" name="Content Placeholder 5">
            <a:extLst>
              <a:ext uri="{FF2B5EF4-FFF2-40B4-BE49-F238E27FC236}">
                <a16:creationId xmlns:a16="http://schemas.microsoft.com/office/drawing/2014/main" id="{905778AA-2DDE-194D-E53F-C0F9FE6BCFB6}"/>
              </a:ext>
            </a:extLst>
          </p:cNvPr>
          <p:cNvGraphicFramePr>
            <a:graphicFrameLocks noGrp="1"/>
          </p:cNvGraphicFramePr>
          <p:nvPr>
            <p:ph idx="1"/>
            <p:extLst>
              <p:ext uri="{D42A27DB-BD31-4B8C-83A1-F6EECF244321}">
                <p14:modId xmlns:p14="http://schemas.microsoft.com/office/powerpoint/2010/main" val="3432221500"/>
              </p:ext>
            </p:extLst>
          </p:nvPr>
        </p:nvGraphicFramePr>
        <p:xfrm>
          <a:off x="494145" y="1367703"/>
          <a:ext cx="11346873" cy="3084224"/>
        </p:xfrm>
        <a:graphic>
          <a:graphicData uri="http://schemas.openxmlformats.org/drawingml/2006/table">
            <a:tbl>
              <a:tblPr firstRow="1" bandRow="1">
                <a:tableStyleId>{5C22544A-7EE6-4342-B048-85BDC9FD1C3A}</a:tableStyleId>
              </a:tblPr>
              <a:tblGrid>
                <a:gridCol w="637309">
                  <a:extLst>
                    <a:ext uri="{9D8B030D-6E8A-4147-A177-3AD203B41FA5}">
                      <a16:colId xmlns:a16="http://schemas.microsoft.com/office/drawing/2014/main" val="1521588276"/>
                    </a:ext>
                  </a:extLst>
                </a:gridCol>
                <a:gridCol w="4886036">
                  <a:extLst>
                    <a:ext uri="{9D8B030D-6E8A-4147-A177-3AD203B41FA5}">
                      <a16:colId xmlns:a16="http://schemas.microsoft.com/office/drawing/2014/main" val="3486319855"/>
                    </a:ext>
                  </a:extLst>
                </a:gridCol>
                <a:gridCol w="5823528">
                  <a:extLst>
                    <a:ext uri="{9D8B030D-6E8A-4147-A177-3AD203B41FA5}">
                      <a16:colId xmlns:a16="http://schemas.microsoft.com/office/drawing/2014/main" val="2127554423"/>
                    </a:ext>
                  </a:extLst>
                </a:gridCol>
              </a:tblGrid>
              <a:tr h="478022">
                <a:tc>
                  <a:txBody>
                    <a:bodyPr/>
                    <a:lstStyle/>
                    <a:p>
                      <a:pPr algn="ctr"/>
                      <a:r>
                        <a:rPr lang="en-US" dirty="0" err="1">
                          <a:latin typeface="Times New Roman" panose="02020603050405020304" pitchFamily="18" charset="0"/>
                          <a:cs typeface="Times New Roman" panose="02020603050405020304" pitchFamily="18" charset="0"/>
                        </a:rPr>
                        <a:t>Sl</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KPI Dependencies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Regression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5346153"/>
                  </a:ext>
                </a:extLst>
              </a:tr>
              <a:tr h="478022">
                <a:tc>
                  <a:txBody>
                    <a:bodyPr/>
                    <a:lstStyle/>
                    <a:p>
                      <a:pPr algn="ct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kumimoji="0" lang="en-US"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Predictors of PEP in Indian Service Organizations. </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PEP = .818 +.372 (RS) + .248 (CP) + .194 (PP)</a:t>
                      </a:r>
                    </a:p>
                  </a:txBody>
                  <a:tcPr/>
                </a:tc>
                <a:extLst>
                  <a:ext uri="{0D108BD9-81ED-4DB2-BD59-A6C34878D82A}">
                    <a16:rowId xmlns:a16="http://schemas.microsoft.com/office/drawing/2014/main" val="3968867046"/>
                  </a:ext>
                </a:extLst>
              </a:tr>
              <a:tr h="825079">
                <a:tc>
                  <a:txBody>
                    <a:bodyPr/>
                    <a:lstStyle/>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kumimoji="0" lang="en-US"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Predictors of PEP in Indian Manufacturing Organizations. </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PEP = .305 + .254 (RS) + .205 (CP) + .318 (TP) + .176 (PA)</a:t>
                      </a:r>
                      <a:endParaRPr kumimoji="0" lang="en-US"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4284748658"/>
                  </a:ext>
                </a:extLst>
              </a:tr>
              <a:tr h="478022">
                <a:tc>
                  <a:txBody>
                    <a:bodyPr/>
                    <a:lstStyle/>
                    <a:p>
                      <a:pPr algn="ctr"/>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kumimoji="0" lang="en-US"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Predictors of POP in Indian Service Organizations. </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POP = .378 + .453 (CP) + .420 (TP)</a:t>
                      </a:r>
                      <a:endParaRPr kumimoji="0" lang="en-US"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935264217"/>
                  </a:ext>
                </a:extLst>
              </a:tr>
              <a:tr h="825079">
                <a:tc>
                  <a:txBody>
                    <a:bodyPr/>
                    <a:lstStyle/>
                    <a:p>
                      <a:pPr algn="ctr"/>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kumimoji="0" lang="en-US"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Predictors of (POP) in Indian Manufacturing Organizations.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POP = .010 + .249 (RS) + .348 (CP) + .401 (TP)</a:t>
                      </a:r>
                      <a:endParaRPr kumimoji="0" lang="en-US" sz="18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160236201"/>
                  </a:ext>
                </a:extLst>
              </a:tr>
            </a:tbl>
          </a:graphicData>
        </a:graphic>
      </p:graphicFrame>
      <p:graphicFrame>
        <p:nvGraphicFramePr>
          <p:cNvPr id="7" name="Table 6">
            <a:extLst>
              <a:ext uri="{FF2B5EF4-FFF2-40B4-BE49-F238E27FC236}">
                <a16:creationId xmlns:a16="http://schemas.microsoft.com/office/drawing/2014/main" id="{2847076E-3FC8-ADAE-0729-540B69C77C73}"/>
              </a:ext>
            </a:extLst>
          </p:cNvPr>
          <p:cNvGraphicFramePr>
            <a:graphicFrameLocks noGrp="1"/>
          </p:cNvGraphicFramePr>
          <p:nvPr>
            <p:extLst>
              <p:ext uri="{D42A27DB-BD31-4B8C-83A1-F6EECF244321}">
                <p14:modId xmlns:p14="http://schemas.microsoft.com/office/powerpoint/2010/main" val="3546770193"/>
              </p:ext>
            </p:extLst>
          </p:nvPr>
        </p:nvGraphicFramePr>
        <p:xfrm>
          <a:off x="6696363" y="4692795"/>
          <a:ext cx="4511849" cy="1362185"/>
        </p:xfrm>
        <a:graphic>
          <a:graphicData uri="http://schemas.openxmlformats.org/drawingml/2006/table">
            <a:tbl>
              <a:tblPr firstRow="1" firstCol="1" bandRow="1">
                <a:tableStyleId>{8799B23B-EC83-4686-B30A-512413B5E67A}</a:tableStyleId>
              </a:tblPr>
              <a:tblGrid>
                <a:gridCol w="1219201">
                  <a:extLst>
                    <a:ext uri="{9D8B030D-6E8A-4147-A177-3AD203B41FA5}">
                      <a16:colId xmlns:a16="http://schemas.microsoft.com/office/drawing/2014/main" val="1686109513"/>
                    </a:ext>
                  </a:extLst>
                </a:gridCol>
                <a:gridCol w="3292648">
                  <a:extLst>
                    <a:ext uri="{9D8B030D-6E8A-4147-A177-3AD203B41FA5}">
                      <a16:colId xmlns:a16="http://schemas.microsoft.com/office/drawing/2014/main" val="4061289535"/>
                    </a:ext>
                  </a:extLst>
                </a:gridCol>
              </a:tblGrid>
              <a:tr h="272437">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RS  </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a:txBody>
                    <a:bodyPr/>
                    <a:lstStyle/>
                    <a:p>
                      <a:pPr marL="0" marR="0" algn="l">
                        <a:lnSpc>
                          <a:spcPts val="1200"/>
                        </a:lnSpc>
                        <a:spcBef>
                          <a:spcPts val="600"/>
                        </a:spcBef>
                        <a:spcAft>
                          <a:spcPts val="600"/>
                        </a:spcAft>
                      </a:pPr>
                      <a:r>
                        <a:rPr lang="en-IN" sz="1600" b="0" dirty="0">
                          <a:effectLst/>
                          <a:latin typeface="Times New Roman" panose="02020603050405020304" pitchFamily="18" charset="0"/>
                          <a:cs typeface="Times New Roman" panose="02020603050405020304" pitchFamily="18" charset="0"/>
                        </a:rPr>
                        <a:t>Recruitment &amp; Selection</a:t>
                      </a:r>
                      <a:endParaRPr lang="en-US" sz="16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107924825"/>
                  </a:ext>
                </a:extLst>
              </a:tr>
              <a:tr h="272437">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CP</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a:txBody>
                    <a:bodyPr/>
                    <a:lstStyle/>
                    <a:p>
                      <a:pPr marL="0" marR="0" algn="l">
                        <a:lnSpc>
                          <a:spcPts val="1200"/>
                        </a:lnSpc>
                        <a:spcBef>
                          <a:spcPts val="600"/>
                        </a:spcBef>
                        <a:spcAft>
                          <a:spcPts val="600"/>
                        </a:spcAft>
                      </a:pPr>
                      <a:r>
                        <a:rPr lang="en-IN" sz="1600" b="0" dirty="0">
                          <a:effectLst/>
                          <a:latin typeface="Times New Roman" panose="02020603050405020304" pitchFamily="18" charset="0"/>
                          <a:cs typeface="Times New Roman" panose="02020603050405020304" pitchFamily="18" charset="0"/>
                        </a:rPr>
                        <a:t>Compensation Practices</a:t>
                      </a:r>
                      <a:endParaRPr lang="en-US" sz="16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1794043297"/>
                  </a:ext>
                </a:extLst>
              </a:tr>
              <a:tr h="272437">
                <a:tc>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TP</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a:txBody>
                    <a:bodyPr/>
                    <a:lstStyle/>
                    <a:p>
                      <a:pPr marL="0" marR="0" algn="l">
                        <a:lnSpc>
                          <a:spcPts val="1200"/>
                        </a:lnSpc>
                        <a:spcBef>
                          <a:spcPts val="600"/>
                        </a:spcBef>
                        <a:spcAft>
                          <a:spcPts val="600"/>
                        </a:spcAft>
                      </a:pPr>
                      <a:r>
                        <a:rPr lang="en-IN" sz="1600" b="0" dirty="0">
                          <a:effectLst/>
                          <a:latin typeface="Times New Roman" panose="02020603050405020304" pitchFamily="18" charset="0"/>
                          <a:cs typeface="Times New Roman" panose="02020603050405020304" pitchFamily="18" charset="0"/>
                        </a:rPr>
                        <a:t>Training Practices</a:t>
                      </a:r>
                      <a:endParaRPr lang="en-US" sz="16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3587224518"/>
                  </a:ext>
                </a:extLst>
              </a:tr>
              <a:tr h="272437">
                <a:tc>
                  <a:txBody>
                    <a:bodyPr/>
                    <a:lstStyle/>
                    <a:p>
                      <a:pPr marL="0" marR="0" algn="ctr">
                        <a:lnSpc>
                          <a:spcPts val="1200"/>
                        </a:lnSpc>
                        <a:spcBef>
                          <a:spcPts val="600"/>
                        </a:spcBef>
                        <a:spcAft>
                          <a:spcPts val="600"/>
                        </a:spcAft>
                      </a:pPr>
                      <a:r>
                        <a:rPr lang="en-IN" sz="1600">
                          <a:effectLst/>
                          <a:latin typeface="Times New Roman" panose="02020603050405020304" pitchFamily="18" charset="0"/>
                          <a:cs typeface="Times New Roman" panose="02020603050405020304" pitchFamily="18" charset="0"/>
                        </a:rPr>
                        <a:t>PA</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a:txBody>
                    <a:bodyPr/>
                    <a:lstStyle/>
                    <a:p>
                      <a:pPr marL="0" marR="0" algn="l">
                        <a:lnSpc>
                          <a:spcPts val="1200"/>
                        </a:lnSpc>
                        <a:spcBef>
                          <a:spcPts val="600"/>
                        </a:spcBef>
                        <a:spcAft>
                          <a:spcPts val="600"/>
                        </a:spcAft>
                      </a:pPr>
                      <a:r>
                        <a:rPr lang="en-IN" sz="1600" b="0" dirty="0">
                          <a:effectLst/>
                          <a:latin typeface="Times New Roman" panose="02020603050405020304" pitchFamily="18" charset="0"/>
                          <a:cs typeface="Times New Roman" panose="02020603050405020304" pitchFamily="18" charset="0"/>
                        </a:rPr>
                        <a:t>Performance Appraisal</a:t>
                      </a:r>
                      <a:endParaRPr lang="en-US" sz="16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3149341454"/>
                  </a:ext>
                </a:extLst>
              </a:tr>
              <a:tr h="272437">
                <a:tc>
                  <a:txBody>
                    <a:bodyPr/>
                    <a:lstStyle/>
                    <a:p>
                      <a:pPr marL="0" marR="0" algn="ctr">
                        <a:lnSpc>
                          <a:spcPts val="1200"/>
                        </a:lnSpc>
                        <a:spcBef>
                          <a:spcPts val="600"/>
                        </a:spcBef>
                        <a:spcAft>
                          <a:spcPts val="600"/>
                        </a:spcAft>
                      </a:pPr>
                      <a:r>
                        <a:rPr lang="en-IN" sz="1600" dirty="0">
                          <a:effectLst/>
                          <a:latin typeface="Times New Roman" panose="02020603050405020304" pitchFamily="18" charset="0"/>
                          <a:cs typeface="Times New Roman" panose="02020603050405020304" pitchFamily="18" charset="0"/>
                        </a:rPr>
                        <a:t> PP</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tc>
                  <a:txBody>
                    <a:bodyPr/>
                    <a:lstStyle/>
                    <a:p>
                      <a:pPr marL="0" marR="0" algn="l">
                        <a:lnSpc>
                          <a:spcPts val="1200"/>
                        </a:lnSpc>
                        <a:spcBef>
                          <a:spcPts val="600"/>
                        </a:spcBef>
                        <a:spcAft>
                          <a:spcPts val="600"/>
                        </a:spcAft>
                      </a:pPr>
                      <a:r>
                        <a:rPr lang="en-IN" sz="1600" b="0" dirty="0">
                          <a:effectLst/>
                          <a:latin typeface="Times New Roman" panose="02020603050405020304" pitchFamily="18" charset="0"/>
                          <a:cs typeface="Times New Roman" panose="02020603050405020304" pitchFamily="18" charset="0"/>
                        </a:rPr>
                        <a:t>Promotion Practices</a:t>
                      </a:r>
                      <a:endParaRPr lang="en-US" sz="16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R="68580" marT="91440" marB="0" anchor="ctr"/>
                </a:tc>
                <a:extLst>
                  <a:ext uri="{0D108BD9-81ED-4DB2-BD59-A6C34878D82A}">
                    <a16:rowId xmlns:a16="http://schemas.microsoft.com/office/drawing/2014/main" val="2925475738"/>
                  </a:ext>
                </a:extLst>
              </a:tr>
            </a:tbl>
          </a:graphicData>
        </a:graphic>
      </p:graphicFrame>
    </p:spTree>
    <p:extLst>
      <p:ext uri="{BB962C8B-B14F-4D97-AF65-F5344CB8AC3E}">
        <p14:creationId xmlns:p14="http://schemas.microsoft.com/office/powerpoint/2010/main" val="782977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E6BF-A989-596F-27F5-68A166FFB2E5}"/>
              </a:ext>
            </a:extLst>
          </p:cNvPr>
          <p:cNvSpPr>
            <a:spLocks noGrp="1"/>
          </p:cNvSpPr>
          <p:nvPr>
            <p:ph type="title"/>
          </p:nvPr>
        </p:nvSpPr>
        <p:spPr>
          <a:xfrm>
            <a:off x="83127" y="132911"/>
            <a:ext cx="10972800" cy="582351"/>
          </a:xfrm>
        </p:spPr>
        <p:txBody>
          <a:bodyPr anchor="t">
            <a:normAutofit/>
          </a:bodyPr>
          <a:lstStyle/>
          <a:p>
            <a:r>
              <a:rPr lang="en-US" sz="3200" dirty="0"/>
              <a:t>The Findings</a:t>
            </a:r>
            <a:endParaRPr lang="en-IN" sz="3200" dirty="0"/>
          </a:p>
        </p:txBody>
      </p:sp>
      <p:sp>
        <p:nvSpPr>
          <p:cNvPr id="3" name="Content Placeholder 2">
            <a:extLst>
              <a:ext uri="{FF2B5EF4-FFF2-40B4-BE49-F238E27FC236}">
                <a16:creationId xmlns:a16="http://schemas.microsoft.com/office/drawing/2014/main" id="{FBE69E94-7409-17D0-FCC9-C2757063D37E}"/>
              </a:ext>
            </a:extLst>
          </p:cNvPr>
          <p:cNvSpPr>
            <a:spLocks noGrp="1"/>
          </p:cNvSpPr>
          <p:nvPr>
            <p:ph idx="1"/>
          </p:nvPr>
        </p:nvSpPr>
        <p:spPr>
          <a:xfrm>
            <a:off x="290945" y="942328"/>
            <a:ext cx="11476182" cy="5366107"/>
          </a:xfrm>
        </p:spPr>
        <p:txBody>
          <a:bodyPr>
            <a:normAutofit fontScale="85000" lnSpcReduction="10000"/>
          </a:bodyPr>
          <a:lstStyle/>
          <a:p>
            <a:pPr marL="0" lvl="1">
              <a:lnSpc>
                <a:spcPct val="150000"/>
              </a:lnSpc>
              <a:spcBef>
                <a:spcPts val="1000"/>
              </a:spcBef>
              <a:spcAft>
                <a:spcPts val="600"/>
              </a:spcAft>
              <a:tabLst>
                <a:tab pos="269875" algn="l"/>
              </a:tabLst>
              <a:defRPr/>
            </a:pPr>
            <a:r>
              <a:rPr lang="en-US" sz="2400" dirty="0">
                <a:latin typeface="Times New Roman" panose="02020603050405020304" pitchFamily="18" charset="0"/>
                <a:cs typeface="Times New Roman" panose="02020603050405020304" pitchFamily="18" charset="0"/>
              </a:rPr>
              <a:t>Findings From The </a:t>
            </a:r>
            <a:r>
              <a:rPr lang="en-IN" sz="2400" dirty="0">
                <a:latin typeface="Times New Roman" panose="02020603050405020304" pitchFamily="18" charset="0"/>
                <a:cs typeface="Times New Roman" panose="02020603050405020304" pitchFamily="18" charset="0"/>
              </a:rPr>
              <a:t>Impact Of Top Management's </a:t>
            </a:r>
            <a:r>
              <a:rPr lang="en-US" sz="2400" dirty="0">
                <a:latin typeface="Times New Roman" panose="02020603050405020304" pitchFamily="18" charset="0"/>
                <a:cs typeface="Times New Roman" panose="02020603050405020304" pitchFamily="18" charset="0"/>
              </a:rPr>
              <a:t>Psycho-Social</a:t>
            </a:r>
            <a:r>
              <a:rPr lang="en-IN" sz="2400" dirty="0">
                <a:latin typeface="Times New Roman" panose="02020603050405020304" pitchFamily="18" charset="0"/>
                <a:cs typeface="Times New Roman" panose="02020603050405020304" pitchFamily="18" charset="0"/>
              </a:rPr>
              <a:t> Relationship With Employees:</a:t>
            </a:r>
          </a:p>
          <a:p>
            <a:pPr marL="342900" lvl="2" indent="-342900">
              <a:lnSpc>
                <a:spcPct val="150000"/>
              </a:lnSpc>
              <a:spcBef>
                <a:spcPts val="1000"/>
              </a:spcBef>
              <a:buFont typeface="Arial" panose="020B0604020202020204" pitchFamily="34" charset="0"/>
              <a:buChar char="•"/>
              <a:tabLst>
                <a:tab pos="269875" algn="l"/>
              </a:tabLst>
              <a:defRPr/>
            </a:pPr>
            <a:r>
              <a:rPr lang="en-IN" sz="2000" dirty="0">
                <a:latin typeface="Times New Roman" panose="02020603050405020304" pitchFamily="18" charset="0"/>
                <a:cs typeface="Times New Roman" panose="02020603050405020304" pitchFamily="18" charset="0"/>
              </a:rPr>
              <a:t>Employees who feel valued and supported by top management are more engaged and committed to their work. This can lead to higher levels of productivity, job satisfaction, and lower turnover rates.</a:t>
            </a:r>
          </a:p>
          <a:p>
            <a:pPr marL="342900" lvl="2" indent="-342900">
              <a:lnSpc>
                <a:spcPct val="150000"/>
              </a:lnSpc>
              <a:spcBef>
                <a:spcPts val="1000"/>
              </a:spcBef>
              <a:buFont typeface="Arial" panose="020B0604020202020204" pitchFamily="34" charset="0"/>
              <a:buChar char="•"/>
              <a:tabLst>
                <a:tab pos="269875" algn="l"/>
              </a:tabLst>
              <a:defRPr/>
            </a:pPr>
            <a:r>
              <a:rPr lang="en-IN" sz="2000" dirty="0">
                <a:latin typeface="Times New Roman" panose="02020603050405020304" pitchFamily="18" charset="0"/>
                <a:cs typeface="Times New Roman" panose="02020603050405020304" pitchFamily="18" charset="0"/>
              </a:rPr>
              <a:t>Communication is a key factor in the </a:t>
            </a:r>
            <a:r>
              <a:rPr lang="en-US" sz="2000" dirty="0">
                <a:latin typeface="Times New Roman" panose="02020603050405020304" pitchFamily="18" charset="0"/>
                <a:cs typeface="Times New Roman" panose="02020603050405020304" pitchFamily="18" charset="0"/>
              </a:rPr>
              <a:t>psycho-social</a:t>
            </a:r>
            <a:r>
              <a:rPr lang="en-IN" sz="2000" dirty="0">
                <a:latin typeface="Times New Roman" panose="02020603050405020304" pitchFamily="18" charset="0"/>
                <a:cs typeface="Times New Roman" panose="02020603050405020304" pitchFamily="18" charset="0"/>
              </a:rPr>
              <a:t> relationship between top management and employees. </a:t>
            </a:r>
          </a:p>
          <a:p>
            <a:pPr marL="342900" lvl="2" indent="-342900">
              <a:lnSpc>
                <a:spcPct val="150000"/>
              </a:lnSpc>
              <a:spcBef>
                <a:spcPts val="1000"/>
              </a:spcBef>
              <a:buFont typeface="Arial" panose="020B0604020202020204" pitchFamily="34" charset="0"/>
              <a:buChar char="•"/>
              <a:tabLst>
                <a:tab pos="269875" algn="l"/>
              </a:tabLst>
              <a:defRPr/>
            </a:pPr>
            <a:r>
              <a:rPr lang="en-IN" sz="2000" dirty="0">
                <a:latin typeface="Times New Roman" panose="02020603050405020304" pitchFamily="18" charset="0"/>
                <a:cs typeface="Times New Roman" panose="02020603050405020304" pitchFamily="18" charset="0"/>
              </a:rPr>
              <a:t>Employees who feel that top management communicates openly and honestly are more likely to feel valued and supported.</a:t>
            </a:r>
            <a:endParaRPr lang="en-US" sz="2000" dirty="0">
              <a:latin typeface="Times New Roman" panose="02020603050405020304" pitchFamily="18" charset="0"/>
              <a:cs typeface="Times New Roman" panose="02020603050405020304" pitchFamily="18" charset="0"/>
            </a:endParaRPr>
          </a:p>
          <a:p>
            <a:pPr marL="342900" lvl="2" indent="-342900">
              <a:lnSpc>
                <a:spcPct val="150000"/>
              </a:lnSpc>
              <a:spcBef>
                <a:spcPts val="1000"/>
              </a:spcBef>
              <a:buFont typeface="Arial" panose="020B0604020202020204" pitchFamily="34" charset="0"/>
              <a:buChar char="•"/>
              <a:tabLst>
                <a:tab pos="269875" algn="l"/>
              </a:tabLst>
              <a:defRPr/>
            </a:pPr>
            <a:r>
              <a:rPr lang="en-IN" sz="2000" dirty="0">
                <a:latin typeface="Times New Roman" panose="02020603050405020304" pitchFamily="18" charset="0"/>
                <a:cs typeface="Times New Roman" panose="02020603050405020304" pitchFamily="18" charset="0"/>
              </a:rPr>
              <a:t>Regular communication channels such as one-on-one meetings, employee surveys, and company-wide updates can improve the </a:t>
            </a:r>
            <a:r>
              <a:rPr lang="en-US" sz="2000" dirty="0">
                <a:latin typeface="Times New Roman" panose="02020603050405020304" pitchFamily="18" charset="0"/>
                <a:cs typeface="Times New Roman" panose="02020603050405020304" pitchFamily="18" charset="0"/>
              </a:rPr>
              <a:t>psycho-social</a:t>
            </a:r>
            <a:r>
              <a:rPr lang="en-IN" sz="2000" dirty="0">
                <a:latin typeface="Times New Roman" panose="02020603050405020304" pitchFamily="18" charset="0"/>
                <a:cs typeface="Times New Roman" panose="02020603050405020304" pitchFamily="18" charset="0"/>
              </a:rPr>
              <a:t> relationship between top management and employees.</a:t>
            </a:r>
            <a:endParaRPr lang="en-US" sz="2000" dirty="0">
              <a:latin typeface="Times New Roman" panose="02020603050405020304" pitchFamily="18" charset="0"/>
              <a:cs typeface="Times New Roman" panose="02020603050405020304" pitchFamily="18" charset="0"/>
            </a:endParaRPr>
          </a:p>
          <a:p>
            <a:pPr marL="342900" lvl="2" indent="-342900">
              <a:lnSpc>
                <a:spcPct val="150000"/>
              </a:lnSpc>
              <a:spcBef>
                <a:spcPts val="1000"/>
              </a:spcBef>
              <a:buFont typeface="Arial" panose="020B0604020202020204" pitchFamily="34" charset="0"/>
              <a:buChar char="•"/>
              <a:tabLst>
                <a:tab pos="269875" algn="l"/>
              </a:tabLst>
              <a:defRPr/>
            </a:pPr>
            <a:r>
              <a:rPr lang="en-IN" sz="2000" dirty="0">
                <a:latin typeface="Times New Roman" panose="02020603050405020304" pitchFamily="18" charset="0"/>
                <a:cs typeface="Times New Roman" panose="02020603050405020304" pitchFamily="18" charset="0"/>
              </a:rPr>
              <a:t>The impact of the </a:t>
            </a:r>
            <a:r>
              <a:rPr lang="en-US" sz="2000" dirty="0">
                <a:latin typeface="Times New Roman" panose="02020603050405020304" pitchFamily="18" charset="0"/>
                <a:cs typeface="Times New Roman" panose="02020603050405020304" pitchFamily="18" charset="0"/>
              </a:rPr>
              <a:t>psycho-social</a:t>
            </a:r>
            <a:r>
              <a:rPr lang="en-IN" sz="2000" dirty="0">
                <a:latin typeface="Times New Roman" panose="02020603050405020304" pitchFamily="18" charset="0"/>
                <a:cs typeface="Times New Roman" panose="02020603050405020304" pitchFamily="18" charset="0"/>
              </a:rPr>
              <a:t> relationship between top management and employees may be more significant in service-oriented organizations, where employees may have more direct contact with customers.</a:t>
            </a:r>
            <a:endParaRPr lang="en-US" sz="2000" dirty="0">
              <a:latin typeface="Times New Roman" panose="02020603050405020304" pitchFamily="18" charset="0"/>
              <a:cs typeface="Times New Roman" panose="02020603050405020304" pitchFamily="18" charset="0"/>
            </a:endParaRPr>
          </a:p>
          <a:p>
            <a:pPr marL="342900" lvl="2" indent="-342900">
              <a:lnSpc>
                <a:spcPct val="150000"/>
              </a:lnSpc>
              <a:spcBef>
                <a:spcPts val="1000"/>
              </a:spcBef>
              <a:buFont typeface="Arial" panose="020B0604020202020204" pitchFamily="34" charset="0"/>
              <a:buChar char="•"/>
              <a:tabLst>
                <a:tab pos="269875" algn="l"/>
              </a:tabLst>
              <a:defRPr/>
            </a:pPr>
            <a:r>
              <a:rPr lang="en-IN" sz="2000" dirty="0">
                <a:latin typeface="Times New Roman" panose="02020603050405020304" pitchFamily="18" charset="0"/>
                <a:cs typeface="Times New Roman" panose="02020603050405020304" pitchFamily="18" charset="0"/>
              </a:rPr>
              <a:t>Employee turnover rates, absenteeism, and productivity can be used to measure the impact of top management's </a:t>
            </a:r>
            <a:r>
              <a:rPr lang="en-US" sz="2000" dirty="0">
                <a:latin typeface="Times New Roman" panose="02020603050405020304" pitchFamily="18" charset="0"/>
                <a:cs typeface="Times New Roman" panose="02020603050405020304" pitchFamily="18" charset="0"/>
              </a:rPr>
              <a:t>psycho-social</a:t>
            </a:r>
            <a:r>
              <a:rPr lang="en-IN" sz="2000" dirty="0">
                <a:latin typeface="Times New Roman" panose="02020603050405020304" pitchFamily="18" charset="0"/>
                <a:cs typeface="Times New Roman" panose="02020603050405020304" pitchFamily="18" charset="0"/>
              </a:rPr>
              <a:t> relationship with employees.</a:t>
            </a:r>
          </a:p>
          <a:p>
            <a:pPr marL="342900" marR="0" lvl="2" indent="-342900" fontAlgn="auto">
              <a:lnSpc>
                <a:spcPct val="150000"/>
              </a:lnSpc>
              <a:spcBef>
                <a:spcPts val="1000"/>
              </a:spcBef>
              <a:spcAft>
                <a:spcPts val="0"/>
              </a:spcAft>
              <a:buSzTx/>
              <a:buFont typeface="Arial" panose="020B0604020202020204" pitchFamily="34" charset="0"/>
              <a:buChar char="•"/>
              <a:tabLst>
                <a:tab pos="269875" algn="l"/>
              </a:tabLst>
              <a:defRPr/>
            </a:pPr>
            <a:endParaRPr lang="en-IN" sz="200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endParaRPr lang="en-IN" sz="2100" i="1" dirty="0">
              <a:latin typeface="Times New Roman" panose="02020603050405020304" pitchFamily="18" charset="0"/>
              <a:cs typeface="Times New Roman" panose="02020603050405020304" pitchFamily="18" charset="0"/>
            </a:endParaRPr>
          </a:p>
          <a:p>
            <a:pPr>
              <a:lnSpc>
                <a:spcPct val="150000"/>
              </a:lnSpc>
            </a:pPr>
            <a:endParaRPr lang="en-US" sz="21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dirty="0"/>
          </a:p>
        </p:txBody>
      </p:sp>
    </p:spTree>
    <p:extLst>
      <p:ext uri="{BB962C8B-B14F-4D97-AF65-F5344CB8AC3E}">
        <p14:creationId xmlns:p14="http://schemas.microsoft.com/office/powerpoint/2010/main" val="4019236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E6BF-A989-596F-27F5-68A166FFB2E5}"/>
              </a:ext>
            </a:extLst>
          </p:cNvPr>
          <p:cNvSpPr>
            <a:spLocks noGrp="1"/>
          </p:cNvSpPr>
          <p:nvPr>
            <p:ph type="title"/>
          </p:nvPr>
        </p:nvSpPr>
        <p:spPr>
          <a:xfrm>
            <a:off x="83127" y="132911"/>
            <a:ext cx="10972800" cy="582351"/>
          </a:xfrm>
        </p:spPr>
        <p:txBody>
          <a:bodyPr anchor="t">
            <a:normAutofit/>
          </a:bodyPr>
          <a:lstStyle/>
          <a:p>
            <a:r>
              <a:rPr lang="en-US" sz="3200" dirty="0"/>
              <a:t>The Societal Use</a:t>
            </a:r>
            <a:endParaRPr lang="en-IN" sz="3200" dirty="0"/>
          </a:p>
        </p:txBody>
      </p:sp>
      <p:sp>
        <p:nvSpPr>
          <p:cNvPr id="3" name="Content Placeholder 2">
            <a:extLst>
              <a:ext uri="{FF2B5EF4-FFF2-40B4-BE49-F238E27FC236}">
                <a16:creationId xmlns:a16="http://schemas.microsoft.com/office/drawing/2014/main" id="{FBE69E94-7409-17D0-FCC9-C2757063D37E}"/>
              </a:ext>
            </a:extLst>
          </p:cNvPr>
          <p:cNvSpPr>
            <a:spLocks noGrp="1"/>
          </p:cNvSpPr>
          <p:nvPr>
            <p:ph idx="1"/>
          </p:nvPr>
        </p:nvSpPr>
        <p:spPr>
          <a:xfrm>
            <a:off x="341745" y="1422620"/>
            <a:ext cx="10557164" cy="4008270"/>
          </a:xfrm>
        </p:spPr>
        <p:txBody>
          <a:bodyPr>
            <a:normAutofit/>
          </a:bodyPr>
          <a:lstStyle/>
          <a:p>
            <a:pPr marL="285750" marR="0" lvl="0" indent="-228600" algn="l" defTabSz="914400" rtl="0" eaLnBrk="1" fontAlgn="auto" latinLnBrk="0" hangingPunct="1">
              <a:lnSpc>
                <a:spcPct val="120000"/>
              </a:lnSpc>
              <a:spcBef>
                <a:spcPts val="600"/>
              </a:spcBef>
              <a:spcAft>
                <a:spcPts val="600"/>
              </a:spcAft>
              <a:buClrTx/>
              <a:buSzTx/>
              <a:buFont typeface="Arial" panose="020B0604020202020204" pitchFamily="34" charset="0"/>
              <a:buChar char="•"/>
              <a:tabLst/>
              <a:defRPr/>
            </a:pPr>
            <a:r>
              <a:rPr kumimoji="0" lang="en-GB" sz="20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This study helps in defining the significance of a SHRM role in organizational growth.</a:t>
            </a:r>
          </a:p>
          <a:p>
            <a:pPr marL="285750" marR="0" lvl="0" indent="-228600" algn="l" defTabSz="914400" rtl="0" eaLnBrk="1" fontAlgn="auto" latinLnBrk="0" hangingPunct="1">
              <a:lnSpc>
                <a:spcPct val="120000"/>
              </a:lnSpc>
              <a:spcBef>
                <a:spcPts val="600"/>
              </a:spcBef>
              <a:spcAft>
                <a:spcPts val="600"/>
              </a:spcAft>
              <a:buClrTx/>
              <a:buSzTx/>
              <a:buFont typeface="Arial" panose="020B0604020202020204" pitchFamily="34" charset="0"/>
              <a:buChar char="•"/>
              <a:tabLst/>
              <a:defRPr/>
            </a:pPr>
            <a:r>
              <a:rPr kumimoji="0" lang="en-GB" sz="20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This can be used defining various KPI parameters for organizational performance measurement.</a:t>
            </a:r>
          </a:p>
          <a:p>
            <a:pPr marL="285750" marR="0" lvl="0" indent="-228600" algn="l" defTabSz="914400" rtl="0" eaLnBrk="1" fontAlgn="auto" latinLnBrk="0" hangingPunct="1">
              <a:lnSpc>
                <a:spcPct val="120000"/>
              </a:lnSpc>
              <a:spcBef>
                <a:spcPts val="600"/>
              </a:spcBef>
              <a:spcAft>
                <a:spcPts val="600"/>
              </a:spcAft>
              <a:buClrTx/>
              <a:buSzTx/>
              <a:buFont typeface="Arial" panose="020B0604020202020204" pitchFamily="34" charset="0"/>
              <a:buChar char="•"/>
              <a:tabLst/>
              <a:defRPr/>
            </a:pPr>
            <a:r>
              <a:rPr kumimoji="0" lang="en-GB" sz="20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The Study reveals the productivity improvement by various motivational factors that includes the psychosocial relationship of executives with employees.</a:t>
            </a:r>
          </a:p>
          <a:p>
            <a:pPr marL="285750" marR="0" lvl="0" indent="-228600" algn="l" defTabSz="914400" rtl="0" eaLnBrk="1" fontAlgn="auto" latinLnBrk="0" hangingPunct="1">
              <a:lnSpc>
                <a:spcPct val="120000"/>
              </a:lnSpc>
              <a:spcBef>
                <a:spcPts val="600"/>
              </a:spcBef>
              <a:spcAft>
                <a:spcPts val="600"/>
              </a:spcAft>
              <a:buClrTx/>
              <a:buSzTx/>
              <a:buFont typeface="Arial" panose="020B0604020202020204" pitchFamily="34" charset="0"/>
              <a:buChar char="•"/>
              <a:tabLst/>
              <a:defRPr/>
            </a:pPr>
            <a:r>
              <a:rPr kumimoji="0" lang="en-GB" sz="20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The regression factors can be used for further KPI improvements and defining individual success factor of employees.</a:t>
            </a:r>
          </a:p>
          <a:p>
            <a:pPr marL="285750" marR="0" lvl="0" indent="-228600" algn="l" defTabSz="914400" rtl="0" eaLnBrk="1" fontAlgn="auto" latinLnBrk="0" hangingPunct="1">
              <a:lnSpc>
                <a:spcPct val="120000"/>
              </a:lnSpc>
              <a:spcBef>
                <a:spcPts val="600"/>
              </a:spcBef>
              <a:spcAft>
                <a:spcPts val="600"/>
              </a:spcAft>
              <a:buClrTx/>
              <a:buSzTx/>
              <a:buFont typeface="Arial" panose="020B0604020202020204" pitchFamily="34" charset="0"/>
              <a:buChar char="•"/>
              <a:tabLst/>
              <a:defRPr/>
            </a:pPr>
            <a:r>
              <a:rPr kumimoji="0" lang="en-GB" sz="20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Further study can be made for defining and measuring the relationship in a quantitative measurement criteria and implementing the same for organizations.</a:t>
            </a:r>
          </a:p>
          <a:p>
            <a:pPr marL="457200" indent="-457200">
              <a:buFont typeface="+mj-lt"/>
              <a:buAutoNum type="arabicPeriod"/>
            </a:pPr>
            <a:endParaRPr lang="en-US" dirty="0"/>
          </a:p>
        </p:txBody>
      </p:sp>
    </p:spTree>
    <p:extLst>
      <p:ext uri="{BB962C8B-B14F-4D97-AF65-F5344CB8AC3E}">
        <p14:creationId xmlns:p14="http://schemas.microsoft.com/office/powerpoint/2010/main" val="4041566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E69E94-7409-17D0-FCC9-C2757063D37E}"/>
              </a:ext>
            </a:extLst>
          </p:cNvPr>
          <p:cNvSpPr>
            <a:spLocks noGrp="1"/>
          </p:cNvSpPr>
          <p:nvPr>
            <p:ph idx="1"/>
          </p:nvPr>
        </p:nvSpPr>
        <p:spPr>
          <a:xfrm>
            <a:off x="2576945" y="3071403"/>
            <a:ext cx="7850910" cy="3024597"/>
          </a:xfrm>
        </p:spPr>
        <p:txBody>
          <a:bodyPr>
            <a:normAutofit fontScale="92500" lnSpcReduction="10000"/>
          </a:bodyPr>
          <a:lstStyle/>
          <a:p>
            <a:endParaRPr lang="en-US" dirty="0">
              <a:latin typeface="Times New Roman" panose="02020603050405020304" pitchFamily="18" charset="0"/>
              <a:cs typeface="Times New Roman" panose="02020603050405020304" pitchFamily="18" charset="0"/>
            </a:endParaRPr>
          </a:p>
          <a:p>
            <a:r>
              <a:rPr lang="en-US" sz="2400" u="sng" dirty="0"/>
              <a:t>Acknowledgement</a:t>
            </a:r>
            <a:r>
              <a:rPr lang="en-US" dirty="0"/>
              <a:t>:</a:t>
            </a:r>
          </a:p>
          <a:p>
            <a:endParaRPr lang="en-US" dirty="0"/>
          </a:p>
          <a:p>
            <a:pPr marL="457200" indent="-457200">
              <a:buAutoNum type="arabicParenR"/>
            </a:pPr>
            <a:r>
              <a:rPr lang="en-US" dirty="0"/>
              <a:t>Guide: Dr. Aswhini K Raj, Dept. of Psychology</a:t>
            </a:r>
          </a:p>
          <a:p>
            <a:pPr marL="457200" indent="-457200">
              <a:buAutoNum type="arabicParenR"/>
            </a:pPr>
            <a:r>
              <a:rPr lang="en-US" dirty="0"/>
              <a:t>Research Cells, RGU, Jharkhand</a:t>
            </a:r>
          </a:p>
          <a:p>
            <a:pPr marL="457200" indent="-457200">
              <a:buAutoNum type="arabicParenR"/>
            </a:pPr>
            <a:r>
              <a:rPr lang="en-US" dirty="0"/>
              <a:t>Family and Friends</a:t>
            </a:r>
          </a:p>
          <a:p>
            <a:pPr marL="457200" indent="-457200">
              <a:buFont typeface="Avenir Next LT Pro" panose="020B0504020202020204" pitchFamily="34" charset="0"/>
              <a:buAutoNum type="arabicParenR"/>
            </a:pPr>
            <a:r>
              <a:rPr lang="en-US" dirty="0"/>
              <a:t>HR Practitioners</a:t>
            </a:r>
          </a:p>
        </p:txBody>
      </p:sp>
      <p:sp>
        <p:nvSpPr>
          <p:cNvPr id="5" name="Title 4">
            <a:extLst>
              <a:ext uri="{FF2B5EF4-FFF2-40B4-BE49-F238E27FC236}">
                <a16:creationId xmlns:a16="http://schemas.microsoft.com/office/drawing/2014/main" id="{4F2D9E9D-6663-0CE9-CA4D-394A7D7495AA}"/>
              </a:ext>
            </a:extLst>
          </p:cNvPr>
          <p:cNvSpPr>
            <a:spLocks noGrp="1"/>
          </p:cNvSpPr>
          <p:nvPr>
            <p:ph type="title"/>
          </p:nvPr>
        </p:nvSpPr>
        <p:spPr>
          <a:xfrm>
            <a:off x="609600" y="557784"/>
            <a:ext cx="4165600" cy="1325563"/>
          </a:xfrm>
        </p:spPr>
        <p:txBody>
          <a:bodyPr/>
          <a:lstStyle/>
          <a:p>
            <a:r>
              <a:rPr lang="en-US" dirty="0"/>
              <a:t>Thank You</a:t>
            </a:r>
            <a:endParaRPr lang="en-IN" dirty="0"/>
          </a:p>
        </p:txBody>
      </p:sp>
    </p:spTree>
    <p:extLst>
      <p:ext uri="{BB962C8B-B14F-4D97-AF65-F5344CB8AC3E}">
        <p14:creationId xmlns:p14="http://schemas.microsoft.com/office/powerpoint/2010/main" val="1269954905"/>
      </p:ext>
    </p:extLst>
  </p:cSld>
  <p:clrMapOvr>
    <a:masterClrMapping/>
  </p:clrMapOvr>
</p:sld>
</file>

<file path=ppt/theme/theme1.xml><?xml version="1.0" encoding="utf-8"?>
<a:theme xmlns:a="http://schemas.openxmlformats.org/drawingml/2006/main" name="SplashVTI">
  <a:themeElements>
    <a:clrScheme name="AnalogousFromLightSeedLeftStep">
      <a:dk1>
        <a:srgbClr val="000000"/>
      </a:dk1>
      <a:lt1>
        <a:srgbClr val="FFFFFF"/>
      </a:lt1>
      <a:dk2>
        <a:srgbClr val="3C2441"/>
      </a:dk2>
      <a:lt2>
        <a:srgbClr val="E2E5E8"/>
      </a:lt2>
      <a:accent1>
        <a:srgbClr val="C49B6D"/>
      </a:accent1>
      <a:accent2>
        <a:srgbClr val="C67B72"/>
      </a:accent2>
      <a:accent3>
        <a:srgbClr val="D18CA1"/>
      </a:accent3>
      <a:accent4>
        <a:srgbClr val="C672B0"/>
      </a:accent4>
      <a:accent5>
        <a:srgbClr val="C78CD1"/>
      </a:accent5>
      <a:accent6>
        <a:srgbClr val="9772C6"/>
      </a:accent6>
      <a:hlink>
        <a:srgbClr val="6184AA"/>
      </a:hlink>
      <a:folHlink>
        <a:srgbClr val="7F7F7F"/>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ppt/theme/theme2.xml><?xml version="1.0" encoding="utf-8"?>
<a:theme xmlns:a="http://schemas.openxmlformats.org/drawingml/2006/main" name="BrushVTI">
  <a:themeElements>
    <a:clrScheme name="AnalogousFromLightSeedLeftStep">
      <a:dk1>
        <a:srgbClr val="000000"/>
      </a:dk1>
      <a:lt1>
        <a:srgbClr val="FFFFFF"/>
      </a:lt1>
      <a:dk2>
        <a:srgbClr val="243541"/>
      </a:dk2>
      <a:lt2>
        <a:srgbClr val="E2E8E7"/>
      </a:lt2>
      <a:accent1>
        <a:srgbClr val="C6969C"/>
      </a:accent1>
      <a:accent2>
        <a:srgbClr val="BA7F9F"/>
      </a:accent2>
      <a:accent3>
        <a:srgbClr val="C492C2"/>
      </a:accent3>
      <a:accent4>
        <a:srgbClr val="A47FBA"/>
      </a:accent4>
      <a:accent5>
        <a:srgbClr val="A096C6"/>
      </a:accent5>
      <a:accent6>
        <a:srgbClr val="7F8BBA"/>
      </a:accent6>
      <a:hlink>
        <a:srgbClr val="568E87"/>
      </a:hlink>
      <a:folHlink>
        <a:srgbClr val="7F7F7F"/>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otalTime>260</TotalTime>
  <Words>973</Words>
  <Application>Microsoft Office PowerPoint</Application>
  <PresentationFormat>Widescreen</PresentationFormat>
  <Paragraphs>160</Paragraphs>
  <Slides>10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Arial</vt:lpstr>
      <vt:lpstr>Avenir Next LT Pro</vt:lpstr>
      <vt:lpstr>Century Gothic</vt:lpstr>
      <vt:lpstr>Posterama</vt:lpstr>
      <vt:lpstr>Times New Roman</vt:lpstr>
      <vt:lpstr>Wingdings</vt:lpstr>
      <vt:lpstr>SplashVTI</vt:lpstr>
      <vt:lpstr>BrushVTI</vt:lpstr>
      <vt:lpstr>Experience Sharing </vt:lpstr>
      <vt:lpstr>The Process</vt:lpstr>
      <vt:lpstr>The Title</vt:lpstr>
      <vt:lpstr>The Objectives</vt:lpstr>
      <vt:lpstr>The Data</vt:lpstr>
      <vt:lpstr>The Findings</vt:lpstr>
      <vt:lpstr>The Regression Factors</vt:lpstr>
      <vt:lpstr>The Findings</vt:lpstr>
      <vt:lpstr>The Societal Use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Experience Sharing </dc:title>
  <dc:creator>Master Iraban</dc:creator>
  <cp:lastModifiedBy>Master Iraban</cp:lastModifiedBy>
  <cp:revision>12</cp:revision>
  <dcterms:created xsi:type="dcterms:W3CDTF">2024-06-03T02:26:51Z</dcterms:created>
  <dcterms:modified xsi:type="dcterms:W3CDTF">2024-06-10T09:51:20Z</dcterms:modified>
</cp:coreProperties>
</file>