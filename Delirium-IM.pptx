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2" r:id="rId5"/>
    <p:sldId id="263" r:id="rId6"/>
    <p:sldId id="264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22" y="6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966BA-9082-4D2E-ADC4-7BCCA8CD3C5E}" type="datetimeFigureOut">
              <a:rPr lang="en-IN" smtClean="0"/>
              <a:t>05-11-2025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55C1CF-6EC7-487B-8F48-1500CB1D5A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9875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Note: ASB: Attention Seeking Behaviour … converted to A</a:t>
            </a:r>
            <a:r>
              <a:rPr lang="en-IN" i="1" dirty="0"/>
              <a:t>rtificial Show-off Behaviour, considering the current trend in AI in corporates.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55C1CF-6EC7-487B-8F48-1500CB1D5AB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5353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9708" y="1014574"/>
            <a:ext cx="9725730" cy="2226769"/>
          </a:xfrm>
        </p:spPr>
        <p:txBody>
          <a:bodyPr anchor="ctr">
            <a:normAutofit/>
          </a:bodyPr>
          <a:lstStyle/>
          <a:p>
            <a:pPr algn="l"/>
            <a:r>
              <a:rPr lang="en-IN" sz="4800" dirty="0">
                <a:solidFill>
                  <a:schemeClr val="bg1"/>
                </a:solidFill>
              </a:rPr>
              <a:t>Understanding Delirium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3596" y="4077450"/>
            <a:ext cx="7981759" cy="1878879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tx2"/>
                </a:solidFill>
              </a:rPr>
              <a:t>Causes, Symptoms, Prevention, and Recovery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920D25C-0AEC-6B77-F4BD-22C3FE270FDA}"/>
              </a:ext>
            </a:extLst>
          </p:cNvPr>
          <p:cNvSpPr txBox="1">
            <a:spLocks/>
          </p:cNvSpPr>
          <p:nvPr/>
        </p:nvSpPr>
        <p:spPr>
          <a:xfrm>
            <a:off x="4497493" y="2528826"/>
            <a:ext cx="4856480" cy="57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800" i="1" dirty="0">
                <a:solidFill>
                  <a:schemeClr val="tx2"/>
                </a:solidFill>
              </a:rPr>
              <a:t>- In Corporate Culture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45A9F99-D9B1-4094-A2E2-B90AC1DB7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7FAF607-473A-4A43-A23D-BBFF5C411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4105" y="802955"/>
            <a:ext cx="4977976" cy="1454051"/>
          </a:xfrm>
        </p:spPr>
        <p:txBody>
          <a:bodyPr>
            <a:normAutofit/>
          </a:bodyPr>
          <a:lstStyle/>
          <a:p>
            <a:r>
              <a:rPr lang="en-IN" sz="3600">
                <a:solidFill>
                  <a:schemeClr val="tx2"/>
                </a:solidFill>
              </a:rPr>
              <a:t>What is Delirium?</a:t>
            </a:r>
          </a:p>
        </p:txBody>
      </p:sp>
      <p:pic>
        <p:nvPicPr>
          <p:cNvPr id="7" name="Graphic 6" descr="Brain">
            <a:extLst>
              <a:ext uri="{FF2B5EF4-FFF2-40B4-BE49-F238E27FC236}">
                <a16:creationId xmlns:a16="http://schemas.microsoft.com/office/drawing/2014/main" id="{A4E050FB-E8E6-E6EC-B066-54134B6EB0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6951" y="1793846"/>
            <a:ext cx="3620021" cy="3620021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0574" y="2421682"/>
            <a:ext cx="5512146" cy="3639289"/>
          </a:xfrm>
        </p:spPr>
        <p:txBody>
          <a:bodyPr anchor="t">
            <a:normAutofit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Delirium is a sudden and serious disturbance in mental abilities that results in confused thinking and reduced awareness of the environment.</a:t>
            </a:r>
          </a:p>
          <a:p>
            <a:endParaRPr lang="en-US" sz="1100" dirty="0">
              <a:solidFill>
                <a:schemeClr val="tx2"/>
              </a:solidFill>
            </a:endParaRPr>
          </a:p>
          <a:p>
            <a:pPr marL="685800" lvl="1"/>
            <a:r>
              <a:rPr lang="en-US" sz="1800" dirty="0">
                <a:solidFill>
                  <a:schemeClr val="tx2"/>
                </a:solidFill>
              </a:rPr>
              <a:t>Develops over hours or days</a:t>
            </a:r>
          </a:p>
          <a:p>
            <a:pPr marL="685800" lvl="1"/>
            <a:r>
              <a:rPr lang="en-US" sz="1800" dirty="0">
                <a:solidFill>
                  <a:schemeClr val="tx2"/>
                </a:solidFill>
              </a:rPr>
              <a:t>Often reversible with proper treatment</a:t>
            </a:r>
          </a:p>
          <a:p>
            <a:pPr marL="685800" lvl="1"/>
            <a:r>
              <a:rPr lang="en-US" sz="1800" dirty="0">
                <a:solidFill>
                  <a:schemeClr val="tx2"/>
                </a:solidFill>
              </a:rPr>
              <a:t>Common in hospitalized or elderly patients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5F6476F-D303-44D3-B30F-1BA348F0F6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2635" y="52996"/>
            <a:ext cx="5928607" cy="6805005"/>
            <a:chOff x="6095999" y="52996"/>
            <a:chExt cx="6093363" cy="6805005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972EB4B-0539-4430-9340-8117B9D7C3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1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CA5348F-9FF6-485F-898D-1BED7EC727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5999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3B89F41-1D91-447A-88C5-8A917809FE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9226" y="1280679"/>
            <a:ext cx="4992974" cy="864773"/>
          </a:xfrm>
        </p:spPr>
        <p:txBody>
          <a:bodyPr anchor="b">
            <a:normAutofit/>
          </a:bodyPr>
          <a:lstStyle/>
          <a:p>
            <a:pPr algn="l"/>
            <a:r>
              <a:rPr lang="en-IN" sz="3600" dirty="0">
                <a:solidFill>
                  <a:schemeClr val="tx2"/>
                </a:solidFill>
              </a:rPr>
              <a:t>Causes of Delirium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9226" y="2564244"/>
            <a:ext cx="4705107" cy="2265221"/>
          </a:xfrm>
        </p:spPr>
        <p:txBody>
          <a:bodyPr>
            <a:normAutofit/>
          </a:bodyPr>
          <a:lstStyle/>
          <a:p>
            <a:r>
              <a:rPr lang="en-IN" sz="1800" dirty="0">
                <a:solidFill>
                  <a:schemeClr val="tx2"/>
                </a:solidFill>
              </a:rPr>
              <a:t>Infections (e.g., UTI, pneumonia)</a:t>
            </a:r>
          </a:p>
          <a:p>
            <a:r>
              <a:rPr lang="en-IN" sz="1800" dirty="0">
                <a:solidFill>
                  <a:schemeClr val="tx2"/>
                </a:solidFill>
              </a:rPr>
              <a:t>Medication side effects or withdrawal</a:t>
            </a:r>
          </a:p>
          <a:p>
            <a:r>
              <a:rPr lang="en-IN" sz="1800" dirty="0">
                <a:solidFill>
                  <a:schemeClr val="tx2"/>
                </a:solidFill>
              </a:rPr>
              <a:t>Surgery or anaesthesia</a:t>
            </a:r>
          </a:p>
          <a:p>
            <a:r>
              <a:rPr lang="en-IN" sz="1800" dirty="0">
                <a:solidFill>
                  <a:schemeClr val="tx2"/>
                </a:solidFill>
              </a:rPr>
              <a:t>Dehydration or electrolyte imbalance</a:t>
            </a:r>
          </a:p>
          <a:p>
            <a:r>
              <a:rPr lang="en-IN" sz="1800" dirty="0">
                <a:solidFill>
                  <a:schemeClr val="tx2"/>
                </a:solidFill>
              </a:rPr>
              <a:t>Organ failure (kidney, liver)</a:t>
            </a:r>
          </a:p>
          <a:p>
            <a:r>
              <a:rPr lang="en-IN" sz="1800" dirty="0">
                <a:solidFill>
                  <a:schemeClr val="tx2"/>
                </a:solidFill>
              </a:rPr>
              <a:t>Alcohol withdrawal (delirium tremens)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Subtitle 2">
            <a:extLst>
              <a:ext uri="{FF2B5EF4-FFF2-40B4-BE49-F238E27FC236}">
                <a16:creationId xmlns:a16="http://schemas.microsoft.com/office/drawing/2014/main" id="{6FC49C3D-F2AA-28A8-DEA2-68D074779A23}"/>
              </a:ext>
            </a:extLst>
          </p:cNvPr>
          <p:cNvSpPr txBox="1">
            <a:spLocks/>
          </p:cNvSpPr>
          <p:nvPr/>
        </p:nvSpPr>
        <p:spPr>
          <a:xfrm>
            <a:off x="6755777" y="2123641"/>
            <a:ext cx="3162564" cy="57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2400" i="1" dirty="0">
                <a:solidFill>
                  <a:schemeClr val="tx2"/>
                </a:solidFill>
              </a:rPr>
              <a:t>- In Corporate Culture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4ED284F-4E73-5D49-BA5F-1638151D0550}"/>
              </a:ext>
            </a:extLst>
          </p:cNvPr>
          <p:cNvSpPr/>
          <p:nvPr/>
        </p:nvSpPr>
        <p:spPr>
          <a:xfrm>
            <a:off x="6781800" y="3242733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2BE3CEB-44CD-7A41-5175-34B9B98A5933}"/>
              </a:ext>
            </a:extLst>
          </p:cNvPr>
          <p:cNvSpPr/>
          <p:nvPr/>
        </p:nvSpPr>
        <p:spPr>
          <a:xfrm>
            <a:off x="6790268" y="3242733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2AA9C7C-D11D-0B3F-D3FA-80EC90448F36}"/>
              </a:ext>
            </a:extLst>
          </p:cNvPr>
          <p:cNvSpPr/>
          <p:nvPr/>
        </p:nvSpPr>
        <p:spPr>
          <a:xfrm>
            <a:off x="6781800" y="4072355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D1D5514-D390-460C-3578-E1ED1366EA37}"/>
              </a:ext>
            </a:extLst>
          </p:cNvPr>
          <p:cNvSpPr/>
          <p:nvPr/>
        </p:nvSpPr>
        <p:spPr>
          <a:xfrm>
            <a:off x="6790268" y="4072355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7C03908-71E7-CBD6-0D3C-0A6DBAC2FEAF}"/>
              </a:ext>
            </a:extLst>
          </p:cNvPr>
          <p:cNvSpPr/>
          <p:nvPr/>
        </p:nvSpPr>
        <p:spPr>
          <a:xfrm>
            <a:off x="6790268" y="4901977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10362B9-7F04-CFB2-EC35-9F596DD65D8D}"/>
              </a:ext>
            </a:extLst>
          </p:cNvPr>
          <p:cNvSpPr/>
          <p:nvPr/>
        </p:nvSpPr>
        <p:spPr>
          <a:xfrm>
            <a:off x="6798736" y="4901977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82B11B92-2301-6869-132A-35AFA49A52AF}"/>
              </a:ext>
            </a:extLst>
          </p:cNvPr>
          <p:cNvSpPr txBox="1">
            <a:spLocks/>
          </p:cNvSpPr>
          <p:nvPr/>
        </p:nvSpPr>
        <p:spPr>
          <a:xfrm>
            <a:off x="7828384" y="4086252"/>
            <a:ext cx="3055289" cy="716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indent="-176213" algn="r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chemeClr val="tx2"/>
                </a:solidFill>
              </a:rPr>
              <a:t>Conflict with manager</a:t>
            </a:r>
          </a:p>
          <a:p>
            <a:pPr marL="176213" indent="-176213" algn="r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chemeClr val="tx2"/>
                </a:solidFill>
              </a:rPr>
              <a:t>Overperformed peer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AAA1D96-2567-8012-A784-764DD8F1E41C}"/>
              </a:ext>
            </a:extLst>
          </p:cNvPr>
          <p:cNvSpPr txBox="1">
            <a:spLocks/>
          </p:cNvSpPr>
          <p:nvPr/>
        </p:nvSpPr>
        <p:spPr>
          <a:xfrm>
            <a:off x="6417939" y="4924241"/>
            <a:ext cx="4705107" cy="72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indent="-176213" algn="r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chemeClr val="tx2"/>
                </a:solidFill>
              </a:rPr>
              <a:t>Stress related to delayed delivery</a:t>
            </a:r>
          </a:p>
          <a:p>
            <a:pPr marL="176213" indent="-176213" algn="r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chemeClr val="tx2"/>
                </a:solidFill>
              </a:rPr>
              <a:t>Nearing Appraisal / Evaluation time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0BB2A0E-9605-F283-3F41-E31C41F051CF}"/>
              </a:ext>
            </a:extLst>
          </p:cNvPr>
          <p:cNvSpPr txBox="1">
            <a:spLocks/>
          </p:cNvSpPr>
          <p:nvPr/>
        </p:nvSpPr>
        <p:spPr>
          <a:xfrm>
            <a:off x="6502094" y="3253866"/>
            <a:ext cx="4705107" cy="728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indent="-176213" algn="r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chemeClr val="tx2"/>
                </a:solidFill>
              </a:rPr>
              <a:t>Sudden change in company performance</a:t>
            </a:r>
          </a:p>
          <a:p>
            <a:pPr marL="176213" indent="-176213" algn="r">
              <a:buFont typeface="Courier New" panose="02070309020205020404" pitchFamily="49" charset="0"/>
              <a:buChar char="o"/>
            </a:pPr>
            <a:r>
              <a:rPr lang="en-IN" sz="1800" dirty="0">
                <a:solidFill>
                  <a:schemeClr val="tx2"/>
                </a:solidFill>
              </a:rPr>
              <a:t>Downsizing of company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66709E4-E762-E0C9-992D-45A555784D64}"/>
              </a:ext>
            </a:extLst>
          </p:cNvPr>
          <p:cNvSpPr txBox="1"/>
          <p:nvPr/>
        </p:nvSpPr>
        <p:spPr>
          <a:xfrm>
            <a:off x="6755777" y="3304909"/>
            <a:ext cx="367216" cy="63998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IN" sz="1000" b="1" dirty="0"/>
              <a:t>Org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A8FC00A-A3F2-7EBF-544C-1B72B753DD1D}"/>
              </a:ext>
            </a:extLst>
          </p:cNvPr>
          <p:cNvSpPr txBox="1"/>
          <p:nvPr/>
        </p:nvSpPr>
        <p:spPr>
          <a:xfrm>
            <a:off x="6755472" y="4040154"/>
            <a:ext cx="367216" cy="82253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IN" sz="1000" b="1" dirty="0"/>
              <a:t>Peer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7033F4-F300-FA6E-CB63-B91C2D9BC981}"/>
              </a:ext>
            </a:extLst>
          </p:cNvPr>
          <p:cNvSpPr txBox="1"/>
          <p:nvPr/>
        </p:nvSpPr>
        <p:spPr>
          <a:xfrm>
            <a:off x="6755472" y="4849129"/>
            <a:ext cx="367216" cy="82253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r>
              <a:rPr lang="en-IN" sz="1000" b="1" dirty="0"/>
              <a:t>Self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CEF88-89B6-96C5-0401-B0DA34E1E6C8}"/>
              </a:ext>
            </a:extLst>
          </p:cNvPr>
          <p:cNvSpPr txBox="1"/>
          <p:nvPr/>
        </p:nvSpPr>
        <p:spPr>
          <a:xfrm>
            <a:off x="8356471" y="2616457"/>
            <a:ext cx="25569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… loosing self confidence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E9636E9-C06E-17E3-799C-D8572F16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FAE2A9B-886F-25F3-950E-8402E362F3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98BF96-27CA-B20E-7592-9C177F866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874D50-2889-71EC-72F7-729B7028F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4992974" cy="864773"/>
          </a:xfrm>
        </p:spPr>
        <p:txBody>
          <a:bodyPr anchor="b">
            <a:normAutofit/>
          </a:bodyPr>
          <a:lstStyle/>
          <a:p>
            <a:pPr algn="l"/>
            <a:r>
              <a:rPr lang="en-IN" sz="3600" dirty="0">
                <a:solidFill>
                  <a:schemeClr val="tx2"/>
                </a:solidFill>
              </a:rPr>
              <a:t>Symptoms of Delirium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DD094D3-AA29-66B2-20B5-216655CC8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8DF8D5A-FB77-DB9B-D02A-B051A7EBC1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8465510-69C3-D8E5-F7B3-20338E3B1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AA09A83-67B0-3044-B10D-18C4F9EAB8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3B364EEC-9F1C-6CFE-7A8B-22984C119F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B8B28-FF14-9881-0CB7-176B437DB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564244"/>
            <a:ext cx="4705107" cy="2265221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Confusion and disorientation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Poor memory and attention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Disorganized thinking</a:t>
            </a:r>
          </a:p>
          <a:p>
            <a:r>
              <a:rPr lang="en-US" sz="1800" dirty="0">
                <a:solidFill>
                  <a:schemeClr val="tx2"/>
                </a:solidFill>
              </a:rPr>
              <a:t>Mood swings and hallucinations</a:t>
            </a:r>
          </a:p>
          <a:p>
            <a:r>
              <a:rPr lang="en-US" sz="1800" dirty="0">
                <a:solidFill>
                  <a:schemeClr val="tx2"/>
                </a:solidFill>
              </a:rPr>
              <a:t>Sleep disturbances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Restlessness or withdrawal</a:t>
            </a:r>
            <a:endParaRPr lang="en-IN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70183E4-EF24-8F29-63D3-BD9AB15A57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CC1C6B6-1582-93E9-E3AF-EBE0C0A330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0581596-7F0D-C095-ABF7-09E75FE8BD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F4F7FB3-D9E2-B761-5722-2C272CC4D5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A21F8B7-A629-878B-4A79-E53909942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ubtitle 2">
            <a:extLst>
              <a:ext uri="{FF2B5EF4-FFF2-40B4-BE49-F238E27FC236}">
                <a16:creationId xmlns:a16="http://schemas.microsoft.com/office/drawing/2014/main" id="{33E049E9-93E2-B22F-D259-84062360F04C}"/>
              </a:ext>
            </a:extLst>
          </p:cNvPr>
          <p:cNvSpPr txBox="1">
            <a:spLocks/>
          </p:cNvSpPr>
          <p:nvPr/>
        </p:nvSpPr>
        <p:spPr>
          <a:xfrm>
            <a:off x="6342253" y="2564244"/>
            <a:ext cx="3522716" cy="57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In Corporate Culture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809CCD2F-9332-4237-0425-527EE7B10778}"/>
              </a:ext>
            </a:extLst>
          </p:cNvPr>
          <p:cNvSpPr/>
          <p:nvPr/>
        </p:nvSpPr>
        <p:spPr>
          <a:xfrm>
            <a:off x="6781800" y="3805442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2570A77-EA63-6689-23A1-45A7A7BDF551}"/>
              </a:ext>
            </a:extLst>
          </p:cNvPr>
          <p:cNvSpPr/>
          <p:nvPr/>
        </p:nvSpPr>
        <p:spPr>
          <a:xfrm>
            <a:off x="6790268" y="3805442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D2DA7AC6-640F-6297-A72D-C17C25DE6B6E}"/>
              </a:ext>
            </a:extLst>
          </p:cNvPr>
          <p:cNvSpPr/>
          <p:nvPr/>
        </p:nvSpPr>
        <p:spPr>
          <a:xfrm>
            <a:off x="6781800" y="4635064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AE1B01F-B71C-7294-C523-4926C8FFC907}"/>
              </a:ext>
            </a:extLst>
          </p:cNvPr>
          <p:cNvSpPr/>
          <p:nvPr/>
        </p:nvSpPr>
        <p:spPr>
          <a:xfrm>
            <a:off x="6790268" y="4635064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ECC2BA0-D87A-761F-78A7-77A39DB05272}"/>
              </a:ext>
            </a:extLst>
          </p:cNvPr>
          <p:cNvSpPr/>
          <p:nvPr/>
        </p:nvSpPr>
        <p:spPr>
          <a:xfrm>
            <a:off x="6790268" y="5464686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626230E-0156-7070-C798-E2B9ED524D03}"/>
              </a:ext>
            </a:extLst>
          </p:cNvPr>
          <p:cNvSpPr/>
          <p:nvPr/>
        </p:nvSpPr>
        <p:spPr>
          <a:xfrm>
            <a:off x="6798736" y="5464686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A3A74708-07F1-7984-B4A6-878235146C7E}"/>
              </a:ext>
            </a:extLst>
          </p:cNvPr>
          <p:cNvSpPr txBox="1">
            <a:spLocks/>
          </p:cNvSpPr>
          <p:nvPr/>
        </p:nvSpPr>
        <p:spPr>
          <a:xfrm>
            <a:off x="7828384" y="4648961"/>
            <a:ext cx="3055289" cy="716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Arguments with Colleagues</a:t>
            </a:r>
          </a:p>
          <a:p>
            <a:pPr marL="176213" indent="-176213" algn="r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2"/>
                </a:solidFill>
              </a:rPr>
              <a:t>Confusion and disorientation</a:t>
            </a:r>
          </a:p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8E050842-4240-14DF-B264-282A608A5E33}"/>
              </a:ext>
            </a:extLst>
          </p:cNvPr>
          <p:cNvSpPr txBox="1">
            <a:spLocks/>
          </p:cNvSpPr>
          <p:nvPr/>
        </p:nvSpPr>
        <p:spPr>
          <a:xfrm>
            <a:off x="6417939" y="5486950"/>
            <a:ext cx="4705107" cy="72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lvl="0" indent="-176213" algn="r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2"/>
                </a:solidFill>
              </a:rPr>
              <a:t>Poor memory and attention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176213" lvl="0" indent="-176213" algn="r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2"/>
                </a:solidFill>
              </a:rPr>
              <a:t>Mood swings and hallucinations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F979369-17DA-A888-6896-BCC781BDCCC4}"/>
              </a:ext>
            </a:extLst>
          </p:cNvPr>
          <p:cNvSpPr txBox="1">
            <a:spLocks/>
          </p:cNvSpPr>
          <p:nvPr/>
        </p:nvSpPr>
        <p:spPr>
          <a:xfrm>
            <a:off x="6502094" y="3816575"/>
            <a:ext cx="4705107" cy="728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indent="-176213" algn="r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2"/>
                </a:solidFill>
              </a:rPr>
              <a:t>Restlessness or withdrawal</a:t>
            </a:r>
            <a:endParaRPr lang="en-IN" sz="1800" dirty="0">
              <a:solidFill>
                <a:schemeClr val="tx2"/>
              </a:solidFill>
            </a:endParaRPr>
          </a:p>
          <a:p>
            <a:pPr marL="176213" indent="-176213" algn="r">
              <a:buFont typeface="Courier New" panose="02070309020205020404" pitchFamily="49" charset="0"/>
              <a:buChar char="o"/>
            </a:pPr>
            <a:r>
              <a:rPr lang="en-US" sz="1800" dirty="0">
                <a:solidFill>
                  <a:schemeClr val="tx2"/>
                </a:solidFill>
              </a:rPr>
              <a:t>Disorganized Approach</a:t>
            </a:r>
          </a:p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D61DD5-77C7-B710-ED25-1601CE129EB2}"/>
              </a:ext>
            </a:extLst>
          </p:cNvPr>
          <p:cNvSpPr txBox="1"/>
          <p:nvPr/>
        </p:nvSpPr>
        <p:spPr>
          <a:xfrm>
            <a:off x="6755777" y="3867618"/>
            <a:ext cx="367216" cy="63998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768B89B-95DF-B36E-B7FB-1CEF27E886CD}"/>
              </a:ext>
            </a:extLst>
          </p:cNvPr>
          <p:cNvSpPr txBox="1"/>
          <p:nvPr/>
        </p:nvSpPr>
        <p:spPr>
          <a:xfrm>
            <a:off x="6755472" y="4602863"/>
            <a:ext cx="367216" cy="82253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9A284F-3538-05F4-CC08-08BBE11995F2}"/>
              </a:ext>
            </a:extLst>
          </p:cNvPr>
          <p:cNvSpPr txBox="1"/>
          <p:nvPr/>
        </p:nvSpPr>
        <p:spPr>
          <a:xfrm>
            <a:off x="6755472" y="5411838"/>
            <a:ext cx="367216" cy="82253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Self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B9F008E-4078-18BA-C7AD-C9BCFF60C794}"/>
              </a:ext>
            </a:extLst>
          </p:cNvPr>
          <p:cNvSpPr txBox="1"/>
          <p:nvPr/>
        </p:nvSpPr>
        <p:spPr>
          <a:xfrm>
            <a:off x="7955519" y="3182597"/>
            <a:ext cx="4236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… visible ASB (artificial show-off behaviour)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3402D-3CA4-F249-3B5D-3ED6B462EBD1}"/>
              </a:ext>
            </a:extLst>
          </p:cNvPr>
          <p:cNvSpPr txBox="1"/>
          <p:nvPr/>
        </p:nvSpPr>
        <p:spPr>
          <a:xfrm>
            <a:off x="4958862" y="6542638"/>
            <a:ext cx="722505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00" b="1" u="sng" dirty="0"/>
              <a:t>Note</a:t>
            </a:r>
            <a:r>
              <a:rPr lang="en-IN" sz="1000" dirty="0"/>
              <a:t>: ASB: (Attention Seeking Behaviour) … converted to A</a:t>
            </a:r>
            <a:r>
              <a:rPr lang="en-IN" sz="1000" i="1" dirty="0"/>
              <a:t>rtificial Show-off Behaviour, considering the current trend of AI in corporates.</a:t>
            </a:r>
            <a:endParaRPr lang="en-IN" sz="1000" dirty="0"/>
          </a:p>
        </p:txBody>
      </p:sp>
    </p:spTree>
    <p:extLst>
      <p:ext uri="{BB962C8B-B14F-4D97-AF65-F5344CB8AC3E}">
        <p14:creationId xmlns:p14="http://schemas.microsoft.com/office/powerpoint/2010/main" val="52596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61567-EF10-7F1C-3072-F5BDD9DAC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93445B-1D0B-85B7-6635-75258E2BB1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45D976-2995-AF52-0A2B-C7B837EE7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19F78C-C8E5-2192-EAC7-30D947F8B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4992974" cy="864773"/>
          </a:xfrm>
        </p:spPr>
        <p:txBody>
          <a:bodyPr anchor="b">
            <a:normAutofit/>
          </a:bodyPr>
          <a:lstStyle/>
          <a:p>
            <a:pPr algn="l"/>
            <a:r>
              <a:rPr lang="en-IN" sz="3600" dirty="0">
                <a:solidFill>
                  <a:schemeClr val="tx2"/>
                </a:solidFill>
              </a:rPr>
              <a:t>Prevention Mechanisms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1E79641-17CE-45F6-E53E-49D83405E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AEC42F0-B4D8-E8FE-3088-6D5DB846CD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03FB31D-89DB-AA06-0532-553CA441F8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46F2DB62-4AF6-55EA-93F8-29939F18E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7160C23-DC24-45DE-C360-74CC16EB92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7A800-D181-98B4-2793-98437BACA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564244"/>
            <a:ext cx="4705107" cy="2265221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Maintain hydration and nutrition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Monitor and manage medications</a:t>
            </a:r>
          </a:p>
          <a:p>
            <a:r>
              <a:rPr lang="en-US" sz="1800" dirty="0">
                <a:solidFill>
                  <a:schemeClr val="tx2"/>
                </a:solidFill>
              </a:rPr>
              <a:t>Ensure proper sleep and rest</a:t>
            </a:r>
          </a:p>
          <a:p>
            <a:r>
              <a:rPr lang="en-US" sz="1800" dirty="0">
                <a:solidFill>
                  <a:schemeClr val="tx2"/>
                </a:solidFill>
              </a:rPr>
              <a:t>Avoid sudden changes in environment</a:t>
            </a:r>
          </a:p>
          <a:p>
            <a:r>
              <a:rPr lang="en-US" sz="1800" dirty="0">
                <a:solidFill>
                  <a:schemeClr val="tx2"/>
                </a:solidFill>
              </a:rPr>
              <a:t>Treat infections promptly</a:t>
            </a:r>
          </a:p>
          <a:p>
            <a:r>
              <a:rPr lang="en-US" sz="1800" dirty="0">
                <a:solidFill>
                  <a:schemeClr val="tx2"/>
                </a:solidFill>
              </a:rPr>
              <a:t>Support cognitive engagement</a:t>
            </a:r>
            <a:endParaRPr lang="en-IN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CAF11E9-6B68-623D-32B7-F991FF7D5B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B19E06A-67E8-082B-933C-134EDA395F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0DFCB2-BC1A-1181-5CEB-B61DC75E06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1AC066C-C0B1-EA5D-FFD4-FF12A3C607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71AD6046-74D0-F8EB-7B71-93B0B42375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ubtitle 2">
            <a:extLst>
              <a:ext uri="{FF2B5EF4-FFF2-40B4-BE49-F238E27FC236}">
                <a16:creationId xmlns:a16="http://schemas.microsoft.com/office/drawing/2014/main" id="{E3AAC7B1-E33B-4CEA-A52C-5AACB0140676}"/>
              </a:ext>
            </a:extLst>
          </p:cNvPr>
          <p:cNvSpPr txBox="1">
            <a:spLocks/>
          </p:cNvSpPr>
          <p:nvPr/>
        </p:nvSpPr>
        <p:spPr>
          <a:xfrm>
            <a:off x="6172200" y="2209422"/>
            <a:ext cx="3778025" cy="57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In Corporate Culture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A3C2AC5-F621-8B75-61CF-58A470E0F1E8}"/>
              </a:ext>
            </a:extLst>
          </p:cNvPr>
          <p:cNvSpPr/>
          <p:nvPr/>
        </p:nvSpPr>
        <p:spPr>
          <a:xfrm>
            <a:off x="6781800" y="3242733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66356F4-B67C-C2F0-97CD-3D5C4E9357BA}"/>
              </a:ext>
            </a:extLst>
          </p:cNvPr>
          <p:cNvSpPr/>
          <p:nvPr/>
        </p:nvSpPr>
        <p:spPr>
          <a:xfrm>
            <a:off x="6790268" y="3242733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D80AC23-85D6-396D-B8E1-58FC4415CCFB}"/>
              </a:ext>
            </a:extLst>
          </p:cNvPr>
          <p:cNvSpPr/>
          <p:nvPr/>
        </p:nvSpPr>
        <p:spPr>
          <a:xfrm>
            <a:off x="6781800" y="4072355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60E7BE1-E9A1-AF45-6273-F67D9790AAEF}"/>
              </a:ext>
            </a:extLst>
          </p:cNvPr>
          <p:cNvSpPr/>
          <p:nvPr/>
        </p:nvSpPr>
        <p:spPr>
          <a:xfrm>
            <a:off x="6790268" y="4072355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353C422-D99B-CC1E-5B05-4CB0ACFC296D}"/>
              </a:ext>
            </a:extLst>
          </p:cNvPr>
          <p:cNvSpPr/>
          <p:nvPr/>
        </p:nvSpPr>
        <p:spPr>
          <a:xfrm>
            <a:off x="6790268" y="4901977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0430703-8B19-E4E3-5355-76F9D318251F}"/>
              </a:ext>
            </a:extLst>
          </p:cNvPr>
          <p:cNvSpPr/>
          <p:nvPr/>
        </p:nvSpPr>
        <p:spPr>
          <a:xfrm>
            <a:off x="6798736" y="4901977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72651898-B436-8335-F598-FFEA021646FC}"/>
              </a:ext>
            </a:extLst>
          </p:cNvPr>
          <p:cNvSpPr txBox="1">
            <a:spLocks/>
          </p:cNvSpPr>
          <p:nvPr/>
        </p:nvSpPr>
        <p:spPr>
          <a:xfrm>
            <a:off x="7420708" y="4086252"/>
            <a:ext cx="3702338" cy="716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Cordial discussion with colleagues</a:t>
            </a:r>
          </a:p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Open to adapting change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6D331835-C44C-BB02-8B80-7FA724019179}"/>
              </a:ext>
            </a:extLst>
          </p:cNvPr>
          <p:cNvSpPr txBox="1">
            <a:spLocks/>
          </p:cNvSpPr>
          <p:nvPr/>
        </p:nvSpPr>
        <p:spPr>
          <a:xfrm>
            <a:off x="6417939" y="4924241"/>
            <a:ext cx="4705107" cy="72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Avoid negative thoughts</a:t>
            </a:r>
          </a:p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IN" sz="1800" dirty="0">
                <a:solidFill>
                  <a:srgbClr val="1F497D"/>
                </a:solidFill>
                <a:latin typeface="Calibri"/>
              </a:rPr>
              <a:t>Focus of job role, and task completion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A1F90D9-F97F-DBDC-7EFB-2E6E42A56FA3}"/>
              </a:ext>
            </a:extLst>
          </p:cNvPr>
          <p:cNvSpPr txBox="1">
            <a:spLocks/>
          </p:cNvSpPr>
          <p:nvPr/>
        </p:nvSpPr>
        <p:spPr>
          <a:xfrm>
            <a:off x="6502094" y="3253866"/>
            <a:ext cx="4705107" cy="728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Understand the source of negativity </a:t>
            </a:r>
          </a:p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IN" sz="1800" dirty="0">
                <a:solidFill>
                  <a:srgbClr val="1F497D"/>
                </a:solidFill>
                <a:latin typeface="Calibri"/>
              </a:rPr>
              <a:t>Clarity in organization roadmap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0B8EF75-679C-D52D-B533-3619F1FB14EC}"/>
              </a:ext>
            </a:extLst>
          </p:cNvPr>
          <p:cNvSpPr txBox="1"/>
          <p:nvPr/>
        </p:nvSpPr>
        <p:spPr>
          <a:xfrm>
            <a:off x="6755777" y="3304909"/>
            <a:ext cx="367216" cy="63998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734C90-F727-EE96-F9F7-ACC05978F140}"/>
              </a:ext>
            </a:extLst>
          </p:cNvPr>
          <p:cNvSpPr txBox="1"/>
          <p:nvPr/>
        </p:nvSpPr>
        <p:spPr>
          <a:xfrm>
            <a:off x="6755472" y="4040154"/>
            <a:ext cx="367216" cy="82253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7FEC34-5472-9D67-4023-C52089665171}"/>
              </a:ext>
            </a:extLst>
          </p:cNvPr>
          <p:cNvSpPr txBox="1"/>
          <p:nvPr/>
        </p:nvSpPr>
        <p:spPr>
          <a:xfrm>
            <a:off x="6755472" y="4849129"/>
            <a:ext cx="367216" cy="82253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B71504-888A-25DD-0FF3-00F0E996EAE4}"/>
              </a:ext>
            </a:extLst>
          </p:cNvPr>
          <p:cNvSpPr txBox="1"/>
          <p:nvPr/>
        </p:nvSpPr>
        <p:spPr>
          <a:xfrm>
            <a:off x="7718127" y="2706987"/>
            <a:ext cx="4031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… practice mediation &amp; breathing control</a:t>
            </a:r>
          </a:p>
        </p:txBody>
      </p:sp>
    </p:spTree>
    <p:extLst>
      <p:ext uri="{BB962C8B-B14F-4D97-AF65-F5344CB8AC3E}">
        <p14:creationId xmlns:p14="http://schemas.microsoft.com/office/powerpoint/2010/main" val="3301936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E6327C-8E83-F692-7490-C999977C3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2E966E1-6B59-4B32-AF32-BC3C181F8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C0FE4A6-506D-DE1F-4801-9CC4D3D08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7B3F3B-A922-BCA4-8B93-9BFDCBB46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280679"/>
            <a:ext cx="4992974" cy="864773"/>
          </a:xfrm>
        </p:spPr>
        <p:txBody>
          <a:bodyPr anchor="b">
            <a:normAutofit/>
          </a:bodyPr>
          <a:lstStyle/>
          <a:p>
            <a:pPr algn="l"/>
            <a:r>
              <a:rPr lang="en-IN" sz="3600" dirty="0">
                <a:solidFill>
                  <a:schemeClr val="tx2"/>
                </a:solidFill>
              </a:rPr>
              <a:t>Recovery Mechanisms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18D049E-0AB4-DB18-13D1-6311D4DAD0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2F07780-5AF0-ED44-DDE1-C3F6463633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44F1255-8975-91A9-17F5-9BD2B26BA7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ECA1FDB-B338-9DB2-EC08-FE70EC21C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1CC4DA3-898A-969A-7DA9-ACFB67C057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A04ED-DDCF-9D4F-B991-152345982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2564244"/>
            <a:ext cx="4705107" cy="2265221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tx2"/>
                </a:solidFill>
              </a:rPr>
              <a:t>Identify and treat underlying cause</a:t>
            </a:r>
          </a:p>
          <a:p>
            <a:r>
              <a:rPr lang="en-US" sz="1800" dirty="0">
                <a:solidFill>
                  <a:schemeClr val="tx2"/>
                </a:solidFill>
              </a:rPr>
              <a:t>Provide supportive care and supervision</a:t>
            </a:r>
          </a:p>
          <a:p>
            <a:r>
              <a:rPr lang="en-US" sz="1800" dirty="0">
                <a:solidFill>
                  <a:schemeClr val="tx2"/>
                </a:solidFill>
              </a:rPr>
              <a:t>Reorient the patient regularly</a:t>
            </a:r>
          </a:p>
          <a:p>
            <a:r>
              <a:rPr lang="en-US" sz="1800" dirty="0">
                <a:solidFill>
                  <a:schemeClr val="tx2"/>
                </a:solidFill>
              </a:rPr>
              <a:t>Use calming and familiar environments</a:t>
            </a:r>
          </a:p>
          <a:p>
            <a:r>
              <a:rPr lang="en-US" sz="1800" dirty="0">
                <a:solidFill>
                  <a:schemeClr val="tx2"/>
                </a:solidFill>
              </a:rPr>
              <a:t>Monitor progress and adjust treatment</a:t>
            </a:r>
          </a:p>
          <a:p>
            <a:r>
              <a:rPr lang="en-US" sz="1800" dirty="0">
                <a:solidFill>
                  <a:schemeClr val="tx2"/>
                </a:solidFill>
              </a:rPr>
              <a:t>Involve family and caregivers</a:t>
            </a:r>
          </a:p>
          <a:p>
            <a:endParaRPr lang="en-IN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6124987-1E07-78F2-E9DA-C4DE2DFE43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4B43BE2-FA42-AF31-8C11-0F886F8D2B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104C0FE-C80E-C713-3B38-DC95495A26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D3C416E-125F-E737-0CE0-F5EBB5C36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4A55FA2-A620-2CD3-2679-A6C8E74FCE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ubtitle 2">
            <a:extLst>
              <a:ext uri="{FF2B5EF4-FFF2-40B4-BE49-F238E27FC236}">
                <a16:creationId xmlns:a16="http://schemas.microsoft.com/office/drawing/2014/main" id="{24CD2F80-6070-AF05-ECA0-142C0952A3D3}"/>
              </a:ext>
            </a:extLst>
          </p:cNvPr>
          <p:cNvSpPr txBox="1">
            <a:spLocks/>
          </p:cNvSpPr>
          <p:nvPr/>
        </p:nvSpPr>
        <p:spPr>
          <a:xfrm>
            <a:off x="6673361" y="2211665"/>
            <a:ext cx="3101018" cy="5706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 In Corporate Culture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671FAE2-3C86-C425-54A3-0939BF65F48E}"/>
              </a:ext>
            </a:extLst>
          </p:cNvPr>
          <p:cNvSpPr/>
          <p:nvPr/>
        </p:nvSpPr>
        <p:spPr>
          <a:xfrm>
            <a:off x="6781800" y="3242733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131E392-8406-A3FB-7AD5-78E0B25D66DF}"/>
              </a:ext>
            </a:extLst>
          </p:cNvPr>
          <p:cNvSpPr/>
          <p:nvPr/>
        </p:nvSpPr>
        <p:spPr>
          <a:xfrm>
            <a:off x="6790268" y="3242733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tint val="100000"/>
                  <a:shade val="100000"/>
                  <a:satMod val="130000"/>
                </a:schemeClr>
              </a:gs>
              <a:gs pos="100000">
                <a:schemeClr val="accent1">
                  <a:tint val="50000"/>
                  <a:shade val="100000"/>
                  <a:satMod val="350000"/>
                </a:schemeClr>
              </a:gs>
            </a:gsLst>
            <a:lin ang="0" scaled="1"/>
            <a:tileRect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81C00F0-5199-EF2F-0B45-97DE81FFDBA2}"/>
              </a:ext>
            </a:extLst>
          </p:cNvPr>
          <p:cNvSpPr/>
          <p:nvPr/>
        </p:nvSpPr>
        <p:spPr>
          <a:xfrm>
            <a:off x="6781800" y="4072355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bg1">
              <a:lumMod val="75000"/>
            </a:schemeClr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32B6870-CF28-1F46-1FED-38E7C25F7290}"/>
              </a:ext>
            </a:extLst>
          </p:cNvPr>
          <p:cNvSpPr/>
          <p:nvPr/>
        </p:nvSpPr>
        <p:spPr>
          <a:xfrm>
            <a:off x="6790268" y="4072355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0" scaled="1"/>
            <a:tileRect/>
          </a:gra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EEFDE2C-8BD7-28BF-B771-6D1EA8FC00D4}"/>
              </a:ext>
            </a:extLst>
          </p:cNvPr>
          <p:cNvSpPr/>
          <p:nvPr/>
        </p:nvSpPr>
        <p:spPr>
          <a:xfrm>
            <a:off x="6790268" y="4901977"/>
            <a:ext cx="4416933" cy="728134"/>
          </a:xfrm>
          <a:prstGeom prst="roundRect">
            <a:avLst>
              <a:gd name="adj" fmla="val 23644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5885A37-3827-090E-11A8-D5EEA9C068D1}"/>
              </a:ext>
            </a:extLst>
          </p:cNvPr>
          <p:cNvSpPr/>
          <p:nvPr/>
        </p:nvSpPr>
        <p:spPr>
          <a:xfrm>
            <a:off x="6798736" y="4901977"/>
            <a:ext cx="281298" cy="728134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6">
                  <a:tint val="50000"/>
                  <a:satMod val="300000"/>
                </a:schemeClr>
              </a:gs>
              <a:gs pos="35000">
                <a:schemeClr val="accent6">
                  <a:tint val="37000"/>
                  <a:satMod val="300000"/>
                </a:schemeClr>
              </a:gs>
              <a:gs pos="100000">
                <a:schemeClr val="accent6">
                  <a:tint val="15000"/>
                  <a:satMod val="350000"/>
                </a:schemeClr>
              </a:gs>
            </a:gsLst>
            <a:lin ang="0" scaled="1"/>
            <a:tileRect/>
          </a:gra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CBE42670-5FC4-86CE-C2CF-26F6850FBF51}"/>
              </a:ext>
            </a:extLst>
          </p:cNvPr>
          <p:cNvSpPr txBox="1">
            <a:spLocks/>
          </p:cNvSpPr>
          <p:nvPr/>
        </p:nvSpPr>
        <p:spPr>
          <a:xfrm>
            <a:off x="7464669" y="4086252"/>
            <a:ext cx="3658377" cy="7164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Clarity &amp; Clear in communication</a:t>
            </a:r>
          </a:p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Avoid negative gossips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A7362C1F-251F-98A3-089B-460AFA2804A7}"/>
              </a:ext>
            </a:extLst>
          </p:cNvPr>
          <p:cNvSpPr txBox="1">
            <a:spLocks/>
          </p:cNvSpPr>
          <p:nvPr/>
        </p:nvSpPr>
        <p:spPr>
          <a:xfrm>
            <a:off x="7071566" y="4924241"/>
            <a:ext cx="4051480" cy="728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lang="en-IN" sz="1800" dirty="0">
                <a:solidFill>
                  <a:srgbClr val="1F497D"/>
                </a:solidFill>
                <a:latin typeface="Calibri"/>
              </a:rPr>
              <a:t>Count on every small achievements</a:t>
            </a:r>
          </a:p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Gain confidence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9D4C39D-5983-EB29-25D1-CFD53FAA3F03}"/>
              </a:ext>
            </a:extLst>
          </p:cNvPr>
          <p:cNvSpPr txBox="1">
            <a:spLocks/>
          </p:cNvSpPr>
          <p:nvPr/>
        </p:nvSpPr>
        <p:spPr>
          <a:xfrm>
            <a:off x="6502094" y="3253866"/>
            <a:ext cx="4705107" cy="7281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Seek Support of Seniors (3S)</a:t>
            </a:r>
          </a:p>
          <a:p>
            <a:pPr marL="176213" marR="0" lvl="0" indent="-176213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Courier New" panose="02070309020205020404" pitchFamily="49" charset="0"/>
              <a:buChar char="o"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Improv</a:t>
            </a:r>
            <a:r>
              <a:rPr lang="en-IN" sz="1800" dirty="0">
                <a:solidFill>
                  <a:srgbClr val="1F497D"/>
                </a:solidFill>
                <a:latin typeface="Calibri"/>
              </a:rPr>
              <a:t>e your usable skillset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srgbClr val="1F497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773D457-5F66-52D0-634E-E4E493F31B59}"/>
              </a:ext>
            </a:extLst>
          </p:cNvPr>
          <p:cNvSpPr txBox="1"/>
          <p:nvPr/>
        </p:nvSpPr>
        <p:spPr>
          <a:xfrm>
            <a:off x="6755777" y="3304909"/>
            <a:ext cx="367216" cy="63998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Org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7320D0-D331-A5AD-8FC2-4C3A4B65046C}"/>
              </a:ext>
            </a:extLst>
          </p:cNvPr>
          <p:cNvSpPr txBox="1"/>
          <p:nvPr/>
        </p:nvSpPr>
        <p:spPr>
          <a:xfrm>
            <a:off x="6755472" y="4040154"/>
            <a:ext cx="367216" cy="82253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Peer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71EF197-58D5-47B5-B265-779344478550}"/>
              </a:ext>
            </a:extLst>
          </p:cNvPr>
          <p:cNvSpPr txBox="1"/>
          <p:nvPr/>
        </p:nvSpPr>
        <p:spPr>
          <a:xfrm>
            <a:off x="6755472" y="4849129"/>
            <a:ext cx="367216" cy="822533"/>
          </a:xfrm>
          <a:prstGeom prst="rect">
            <a:avLst/>
          </a:prstGeom>
          <a:noFill/>
        </p:spPr>
        <p:txBody>
          <a:bodyPr vert="wordArtVert"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Self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00438B-E7FA-17D3-2D78-4CDDF1AC2A45}"/>
              </a:ext>
            </a:extLst>
          </p:cNvPr>
          <p:cNvSpPr txBox="1"/>
          <p:nvPr/>
        </p:nvSpPr>
        <p:spPr>
          <a:xfrm>
            <a:off x="8149095" y="2699393"/>
            <a:ext cx="2900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i="1" dirty="0"/>
              <a:t>… distancing from –</a:t>
            </a:r>
            <a:r>
              <a:rPr lang="en-IN" i="1" dirty="0" err="1"/>
              <a:t>ve</a:t>
            </a:r>
            <a:r>
              <a:rPr lang="en-IN" i="1" dirty="0"/>
              <a:t> source</a:t>
            </a:r>
          </a:p>
        </p:txBody>
      </p:sp>
    </p:spTree>
    <p:extLst>
      <p:ext uri="{BB962C8B-B14F-4D97-AF65-F5344CB8AC3E}">
        <p14:creationId xmlns:p14="http://schemas.microsoft.com/office/powerpoint/2010/main" val="3233748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F0518-B905-542F-981E-4E1A1648C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0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03F745C1-6883-A683-F122-1EEEC1B759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8EAD59E-67D7-31A4-8980-B0757E19AEC9}"/>
              </a:ext>
            </a:extLst>
          </p:cNvPr>
          <p:cNvSpPr txBox="1"/>
          <p:nvPr/>
        </p:nvSpPr>
        <p:spPr>
          <a:xfrm>
            <a:off x="8051800" y="1293053"/>
            <a:ext cx="3254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Contact </a:t>
            </a:r>
            <a:r>
              <a:rPr lang="en-IN" i="1" dirty="0"/>
              <a:t>Me</a:t>
            </a:r>
            <a:r>
              <a:rPr lang="en-IN" dirty="0"/>
              <a:t>: </a:t>
            </a:r>
            <a:r>
              <a:rPr lang="en-IN" sz="1600" dirty="0"/>
              <a:t>9880.</a:t>
            </a:r>
            <a:r>
              <a:rPr lang="en-IN" i="1" dirty="0"/>
              <a:t>IM</a:t>
            </a:r>
            <a:r>
              <a:rPr lang="en-IN" sz="1600" dirty="0"/>
              <a:t>.0868</a:t>
            </a:r>
            <a:r>
              <a:rPr lang="en-IN" dirty="0"/>
              <a:t>, </a:t>
            </a:r>
            <a:r>
              <a:rPr lang="en-IN" i="1" dirty="0"/>
              <a:t>Dr.</a:t>
            </a:r>
            <a:r>
              <a:rPr lang="en-IN" dirty="0"/>
              <a:t> </a:t>
            </a:r>
            <a:r>
              <a:rPr lang="en-IN" i="1"/>
              <a:t>IM</a:t>
            </a:r>
            <a:endParaRPr lang="en-IN" i="1" dirty="0"/>
          </a:p>
        </p:txBody>
      </p:sp>
    </p:spTree>
    <p:extLst>
      <p:ext uri="{BB962C8B-B14F-4D97-AF65-F5344CB8AC3E}">
        <p14:creationId xmlns:p14="http://schemas.microsoft.com/office/powerpoint/2010/main" val="3449248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382</Words>
  <Application>Microsoft Office PowerPoint</Application>
  <PresentationFormat>Widescreen</PresentationFormat>
  <Paragraphs>86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Arial</vt:lpstr>
      <vt:lpstr>Calibri</vt:lpstr>
      <vt:lpstr>Courier New</vt:lpstr>
      <vt:lpstr>Office Theme</vt:lpstr>
      <vt:lpstr>Understanding Delirium</vt:lpstr>
      <vt:lpstr>What is Delirium?</vt:lpstr>
      <vt:lpstr>Causes of Delirium</vt:lpstr>
      <vt:lpstr>Symptoms of Delirium</vt:lpstr>
      <vt:lpstr>Prevention Mechanisms</vt:lpstr>
      <vt:lpstr>Recovery Mechanisms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master.iraban@mavenir.com</dc:creator>
  <cp:keywords/>
  <dc:description>generated using python-pptx</dc:description>
  <cp:lastModifiedBy>Master Iraban</cp:lastModifiedBy>
  <cp:revision>12</cp:revision>
  <dcterms:created xsi:type="dcterms:W3CDTF">2013-01-27T09:14:16Z</dcterms:created>
  <dcterms:modified xsi:type="dcterms:W3CDTF">2025-11-05T05:44:50Z</dcterms:modified>
  <cp:category/>
</cp:coreProperties>
</file>