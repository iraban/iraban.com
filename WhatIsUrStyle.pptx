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80" r:id="rId11"/>
    <p:sldId id="275" r:id="rId12"/>
    <p:sldId id="277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450" y="37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086" y="1409019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IN" sz="4000" dirty="0">
                <a:solidFill>
                  <a:schemeClr val="tx2"/>
                </a:solidFill>
              </a:rPr>
              <a:t>Leadership Styles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672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- </a:t>
            </a:r>
            <a:r>
              <a:rPr lang="de-DE" sz="2000" i="1" dirty="0">
                <a:solidFill>
                  <a:schemeClr val="tx2"/>
                </a:solidFill>
              </a:rPr>
              <a:t>Dr.</a:t>
            </a:r>
            <a:r>
              <a:rPr lang="de-DE" sz="2000" dirty="0">
                <a:solidFill>
                  <a:schemeClr val="tx2"/>
                </a:solidFill>
              </a:rPr>
              <a:t>IM, P</a:t>
            </a:r>
            <a:r>
              <a:rPr lang="de-DE" sz="2000" i="1" dirty="0">
                <a:solidFill>
                  <a:schemeClr val="tx2"/>
                </a:solidFill>
              </a:rPr>
              <a:t>g</a:t>
            </a:r>
            <a:r>
              <a:rPr lang="de-DE" sz="2000" dirty="0">
                <a:solidFill>
                  <a:schemeClr val="tx2"/>
                </a:solidFill>
              </a:rPr>
              <a:t>M, </a:t>
            </a:r>
            <a:r>
              <a:rPr lang="de-DE" sz="2000" i="1" dirty="0">
                <a:solidFill>
                  <a:schemeClr val="tx2"/>
                </a:solidFill>
              </a:rPr>
              <a:t>9880.IM.0868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Lecturer">
            <a:extLst>
              <a:ext uri="{FF2B5EF4-FFF2-40B4-BE49-F238E27FC236}">
                <a16:creationId xmlns:a16="http://schemas.microsoft.com/office/drawing/2014/main" id="{299A589A-AEF0-DD50-D680-B1A3178E8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51C8F-3C1F-1D44-2C62-6EA3DCA26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Introduction</a:t>
            </a:r>
            <a:endParaRPr lang="en-IN" sz="400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5CE4C0F-F93F-F1F3-B263-24CC45D31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88929" y="962167"/>
            <a:ext cx="6858113" cy="47431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What is Leadership Style?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/>
              <a:t>A leadership style is the approach and strategy a leader uses to motivate, direct, and manage people.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 dirty="0"/>
              <a:t>Different styles are effective in different environments.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/>
              <a:t>They are distinct approaches that leaders take when implementing plans and strategies.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/>
              <a:t>Leadership style is shaped by a variety of factors, including personality, values, skills, &amp; experiences which has significant impact on the effectiveness of their leadership.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1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 dirty="0"/>
              <a:t>Autocratic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7330438" cy="4743174"/>
          </a:xfrm>
        </p:spPr>
        <p:txBody>
          <a:bodyPr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Definition: </a:t>
            </a:r>
          </a:p>
          <a:p>
            <a:pPr marL="0" indent="0">
              <a:buNone/>
            </a:pPr>
            <a:r>
              <a:rPr lang="en-US" sz="2300" dirty="0">
                <a:cs typeface="Arial" panose="020B0604020202020204" pitchFamily="34" charset="0"/>
              </a:rPr>
              <a:t>A leadership style where the leader makes decisions unilaterally.</a:t>
            </a:r>
          </a:p>
          <a:p>
            <a:endParaRPr lang="en-US" sz="2300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cs typeface="Arial" panose="020B0604020202020204" pitchFamily="34" charset="0"/>
              </a:rPr>
              <a:t>Quick decision-making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cs typeface="Arial" panose="020B0604020202020204" pitchFamily="34" charset="0"/>
              </a:rPr>
              <a:t>Clear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Effective in crises</a:t>
            </a:r>
          </a:p>
          <a:p>
            <a:pPr>
              <a:buFontTx/>
              <a:buChar char="-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cs typeface="Arial" panose="020B0604020202020204" pitchFamily="34" charset="0"/>
              </a:rPr>
              <a:t>Lack of employee input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300" dirty="0">
                <a:cs typeface="Arial" panose="020B0604020202020204" pitchFamily="34" charset="0"/>
              </a:rPr>
              <a:t>Potential for low morale</a:t>
            </a:r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Creativity is stifled</a:t>
            </a:r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High turnover risk</a:t>
            </a:r>
          </a:p>
          <a:p>
            <a:pPr>
              <a:buFontTx/>
              <a:buChar char="-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fontAlgn="base">
              <a:spcAft>
                <a:spcPct val="0"/>
              </a:spcAft>
              <a:buNone/>
            </a:pP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cs typeface="Arial" panose="020B0604020202020204" pitchFamily="34" charset="0"/>
              </a:rPr>
              <a:t>Steve Jobs (Apple) in product vision</a:t>
            </a:r>
          </a:p>
          <a:p>
            <a:pPr>
              <a:buFontTx/>
              <a:buChar char="-"/>
            </a:pPr>
            <a:endParaRPr lang="en-US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/>
              <a:t>Democratic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 leadership style where the leader involves employees in decision-making.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Pros: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High employee involvement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Higher morale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Promotes creativity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Builds trust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Cons: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Slower decision-making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Potential for conflict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Not ideal in emergencies</a:t>
            </a:r>
          </a:p>
          <a:p>
            <a:pPr>
              <a:lnSpc>
                <a:spcPct val="90000"/>
              </a:lnSpc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Example: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Satya Nadella (Microsoft) promoting collaboration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3100"/>
              <a:t>Transformational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 leadership style where the leader inspires and motivates employees to achieve their full potential.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Pros: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High employee motivation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Encourages innovation</a:t>
            </a:r>
          </a:p>
          <a:p>
            <a:pPr>
              <a:lnSpc>
                <a:spcPct val="90000"/>
              </a:lnSpc>
            </a:pPr>
            <a:r>
              <a:rPr lang="en-US" altLang="en-US" sz="1600" dirty="0"/>
              <a:t>Strong company culture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Cons: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Requires strong communication skills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Can be overwhelming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Risk of burnout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Needs consistent energy and vision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May overlook short-term needs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Example: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Elon Musk (Tesla, SpaceX)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/>
              <a:t>Transactional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A leadership </a:t>
            </a:r>
            <a:r>
              <a:rPr lang="en-US" altLang="en-US" sz="1700" dirty="0"/>
              <a:t>based on clear roles and tasks</a:t>
            </a:r>
            <a:r>
              <a:rPr lang="en-US" sz="1700" dirty="0"/>
              <a:t> and style where the leader uses rewards and punishments to manage employees.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>
                <a:latin typeface="Arial" panose="020B0604020202020204" pitchFamily="34" charset="0"/>
              </a:rPr>
              <a:t>Pros: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Clear structure &amp; expectations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Effective for routine tasks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Easy performance evaluation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>
                <a:latin typeface="Arial" panose="020B0604020202020204" pitchFamily="34" charset="0"/>
              </a:rPr>
              <a:t>Cons: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Limited creativity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Focus on short-term goals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Motivation may drop over time</a:t>
            </a: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7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Example: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700" dirty="0"/>
              <a:t>Military and manufacturing environments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/>
              <a:t>Laissez-Faire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600" dirty="0"/>
              <a:t>A leadership style where the leader provides minimal direction and allows employees to make decisions.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Pros: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Encourages independence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Fosters creativity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Ideal for expert teams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Promotes innovation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600" b="1" dirty="0">
                <a:latin typeface="Arial" panose="020B0604020202020204" pitchFamily="34" charset="0"/>
              </a:rPr>
              <a:t>Cons: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Lack of direction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Potential for low productivity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Accountability issues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Can lead to chaos</a:t>
            </a:r>
          </a:p>
          <a:p>
            <a:pPr>
              <a:lnSpc>
                <a:spcPct val="90000"/>
              </a:lnSpc>
            </a:pPr>
            <a:endParaRPr lang="en-US" sz="1600" dirty="0"/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Example: 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600" dirty="0"/>
              <a:t>Warren Buffett (Berkshire Hathaway)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/>
              <a:t>Servant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A leadership style where the leader prioritizes the needs of employees and helps them develop.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>
                <a:latin typeface="Arial" panose="020B0604020202020204" pitchFamily="34" charset="0"/>
              </a:rPr>
              <a:t>Pros: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High employee development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High morale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/>
              <a:t>Strong team relationships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700" dirty="0"/>
              <a:t>Encourages growth</a:t>
            </a:r>
          </a:p>
          <a:p>
            <a:pPr>
              <a:lnSpc>
                <a:spcPct val="90000"/>
              </a:lnSpc>
            </a:pPr>
            <a:endParaRPr lang="en-US" sz="1700" dirty="0"/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b="1" dirty="0">
                <a:latin typeface="Arial" panose="020B0604020202020204" pitchFamily="34" charset="0"/>
              </a:rPr>
              <a:t>Cons: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Requires strong interpersonal skills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700" dirty="0"/>
              <a:t>Slower decision-making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700" dirty="0"/>
              <a:t>Can be perceived as weak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700" dirty="0"/>
              <a:t>Not effective in high-pressure environments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700" b="1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b="1" dirty="0">
                <a:latin typeface="Arial" panose="020B0604020202020204" pitchFamily="34" charset="0"/>
              </a:rPr>
              <a:t>Example:</a:t>
            </a:r>
          </a:p>
          <a:p>
            <a:pPr fontAlgn="base">
              <a:lnSpc>
                <a:spcPct val="90000"/>
              </a:lnSpc>
              <a:spcAft>
                <a:spcPct val="0"/>
              </a:spcAft>
            </a:pPr>
            <a:r>
              <a:rPr lang="en-US" altLang="en-US" sz="1700" dirty="0"/>
              <a:t>Herb Kelleher (Southwest Airlines)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/>
              <a:t>Bureaucratic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buNone/>
            </a:pPr>
            <a:r>
              <a:rPr lang="en-US" sz="2000" dirty="0"/>
              <a:t>A leadership style where the leader follows strict rules and procedures.</a:t>
            </a:r>
          </a:p>
          <a:p>
            <a:pPr marL="0" indent="0">
              <a:buNone/>
            </a:pPr>
            <a:endParaRPr lang="en-US" sz="20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Pros:</a:t>
            </a:r>
          </a:p>
          <a:p>
            <a:r>
              <a:rPr lang="en-US" sz="2000" dirty="0"/>
              <a:t>Consistency</a:t>
            </a:r>
          </a:p>
          <a:p>
            <a:r>
              <a:rPr lang="en-US" sz="2000" dirty="0"/>
              <a:t>Clear structure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Cons:</a:t>
            </a:r>
          </a:p>
          <a:p>
            <a:r>
              <a:rPr lang="en-US" sz="2000" dirty="0"/>
              <a:t>Limited flexibility</a:t>
            </a:r>
          </a:p>
          <a:p>
            <a:r>
              <a:rPr lang="en-US" sz="2000" dirty="0"/>
              <a:t>Can be stifling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Example: </a:t>
            </a:r>
          </a:p>
          <a:p>
            <a:r>
              <a:rPr lang="en-US" sz="2000" dirty="0"/>
              <a:t>Harold Geneen - ITT Corporation</a:t>
            </a:r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DA495C-A74C-C85B-8481-55FA0D15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ECB03A9-794E-0939-E2BB-5A9FD093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69C18-15F6-4861-920C-D0B1A326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IN" sz="4000" dirty="0"/>
              <a:t>Visionary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9C36E-D384-169B-72C7-F9076B91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Definition: </a:t>
            </a:r>
          </a:p>
          <a:p>
            <a:pPr marL="0" indent="0">
              <a:buNone/>
            </a:pPr>
            <a:r>
              <a:rPr lang="en-US" sz="2000" dirty="0"/>
              <a:t>A Visionary leadership is having ability to conceive original and even audacious ideas for the future.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Pros:</a:t>
            </a:r>
          </a:p>
          <a:p>
            <a:r>
              <a:rPr lang="en-US" sz="2000" dirty="0"/>
              <a:t>Good for start up environment</a:t>
            </a:r>
          </a:p>
          <a:p>
            <a:r>
              <a:rPr lang="en-US" sz="2000" dirty="0"/>
              <a:t>Foster creativity</a:t>
            </a:r>
          </a:p>
          <a:p>
            <a:r>
              <a:rPr lang="en-US" sz="2000" dirty="0"/>
              <a:t>Drive innovation, &amp; motivate team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Cons:</a:t>
            </a:r>
          </a:p>
          <a:p>
            <a:r>
              <a:rPr lang="en-US" sz="2000" dirty="0"/>
              <a:t>Overambitious &amp; Disconnect</a:t>
            </a:r>
          </a:p>
          <a:p>
            <a:r>
              <a:rPr lang="en-US" sz="2000" dirty="0"/>
              <a:t>Difficult in delegation</a:t>
            </a:r>
          </a:p>
          <a:p>
            <a:r>
              <a:rPr lang="en-US" sz="2000" dirty="0"/>
              <a:t>Potential for isolation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</a:rPr>
              <a:t>Example: </a:t>
            </a:r>
          </a:p>
          <a:p>
            <a:r>
              <a:rPr lang="en-US" sz="2000" dirty="0"/>
              <a:t>Henry Ford</a:t>
            </a:r>
          </a:p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1FD6DF-6586-308E-AF7E-7C4CFDE33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AEB256-0A6C-71BC-5203-CA4E56F41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68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FF74F-6065-390C-A110-6D4382C7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904EC-3AB3-F5DB-07D1-5019245A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823" y="962166"/>
            <a:ext cx="3103808" cy="4421876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Conclusion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FD68-0548-0CB9-1115-2FE3883A4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8929" y="962167"/>
            <a:ext cx="6858113" cy="4743174"/>
          </a:xfrm>
        </p:spPr>
        <p:txBody>
          <a:bodyPr anchor="t"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No one-size-fits-all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Depends on the team, task, and context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Great leaders adapt and blend styles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Choose the right style based on own &amp; team personality and nature of work</a:t>
            </a:r>
          </a:p>
          <a:p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chemeClr val="accent1"/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29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3FC49-A08C-F44F-B5C2-26C6D5968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 Table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775154-FC19-B928-E928-FBC1491C15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330538"/>
              </p:ext>
            </p:extLst>
          </p:nvPr>
        </p:nvGraphicFramePr>
        <p:xfrm>
          <a:off x="644056" y="2433745"/>
          <a:ext cx="10927830" cy="3283840"/>
        </p:xfrm>
        <a:graphic>
          <a:graphicData uri="http://schemas.openxmlformats.org/drawingml/2006/table">
            <a:tbl>
              <a:tblPr/>
              <a:tblGrid>
                <a:gridCol w="2566504">
                  <a:extLst>
                    <a:ext uri="{9D8B030D-6E8A-4147-A177-3AD203B41FA5}">
                      <a16:colId xmlns:a16="http://schemas.microsoft.com/office/drawing/2014/main" val="3682650667"/>
                    </a:ext>
                  </a:extLst>
                </a:gridCol>
                <a:gridCol w="2275840">
                  <a:extLst>
                    <a:ext uri="{9D8B030D-6E8A-4147-A177-3AD203B41FA5}">
                      <a16:colId xmlns:a16="http://schemas.microsoft.com/office/drawing/2014/main" val="378386286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042684916"/>
                    </a:ext>
                  </a:extLst>
                </a:gridCol>
                <a:gridCol w="3494686">
                  <a:extLst>
                    <a:ext uri="{9D8B030D-6E8A-4147-A177-3AD203B41FA5}">
                      <a16:colId xmlns:a16="http://schemas.microsoft.com/office/drawing/2014/main" val="3690870859"/>
                    </a:ext>
                  </a:extLst>
                </a:gridCol>
              </a:tblGrid>
              <a:tr h="282357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Style</a:t>
                      </a:r>
                    </a:p>
                  </a:txBody>
                  <a:tcPr marL="86177" marR="86177" marT="43088" marB="43088" anchor="ctr">
                    <a:solidFill>
                      <a:srgbClr val="2640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Pros</a:t>
                      </a:r>
                    </a:p>
                  </a:txBody>
                  <a:tcPr marL="86177" marR="86177" marT="43088" marB="43088" anchor="ctr">
                    <a:solidFill>
                      <a:srgbClr val="2640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Cons</a:t>
                      </a:r>
                    </a:p>
                  </a:txBody>
                  <a:tcPr marL="86177" marR="86177" marT="43088" marB="43088" anchor="ctr">
                    <a:solidFill>
                      <a:srgbClr val="2640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</a:rPr>
                        <a:t>Example</a:t>
                      </a:r>
                    </a:p>
                  </a:txBody>
                  <a:tcPr marL="86177" marR="86177" marT="43088" marB="43088" anchor="ctr">
                    <a:solidFill>
                      <a:srgbClr val="2640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54798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 dirty="0"/>
                        <a:t>Autocratic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Quick decisions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Low morale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Steve Jobs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1291932297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 dirty="0"/>
                        <a:t>Democratic / Participative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Team input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Slow decisions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Satya Nadella, Sundar Pichai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4090434354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 dirty="0"/>
                        <a:t>Transformational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Inspiring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Risk of burnout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Elon Musk, Jeff Bezos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2226152815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/>
                        <a:t>Transactional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Clear expectations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Limited creativity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Military leaders, Bill Gates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2497876965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 dirty="0"/>
                        <a:t>Laissez-Faire / Delegative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Promotes autonomy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Risk of chaos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Warren Buffett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2364444580"/>
                  </a:ext>
                </a:extLst>
              </a:tr>
              <a:tr h="249339">
                <a:tc>
                  <a:txBody>
                    <a:bodyPr/>
                    <a:lstStyle/>
                    <a:p>
                      <a:r>
                        <a:rPr lang="en-IN" sz="1700"/>
                        <a:t>Servant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Team-focused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Can be seen as passive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Herb Kelleher, Mahatma Gandhi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2147278648"/>
                  </a:ext>
                </a:extLst>
              </a:tr>
              <a:tr h="410664">
                <a:tc>
                  <a:txBody>
                    <a:bodyPr/>
                    <a:lstStyle/>
                    <a:p>
                      <a:r>
                        <a:rPr lang="en-IN" sz="1700"/>
                        <a:t>Bureaucratic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Consistency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dirty="0"/>
                        <a:t>Limited flexibility</a:t>
                      </a:r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Harold Geneen - ITT Corporation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865929054"/>
                  </a:ext>
                </a:extLst>
              </a:tr>
              <a:tr h="410664">
                <a:tc>
                  <a:txBody>
                    <a:bodyPr/>
                    <a:lstStyle/>
                    <a:p>
                      <a:r>
                        <a:rPr lang="en-US" sz="1700" dirty="0"/>
                        <a:t>Visionary</a:t>
                      </a:r>
                      <a:endParaRPr lang="en-IN" sz="1700" dirty="0"/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Foster Creativity</a:t>
                      </a:r>
                      <a:endParaRPr lang="en-IN" sz="1700" dirty="0"/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Difficult in delegation</a:t>
                      </a:r>
                      <a:endParaRPr lang="en-IN" sz="1700" dirty="0"/>
                    </a:p>
                  </a:txBody>
                  <a:tcPr marL="86177" marR="86177" marT="43088" marB="43088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/>
                        <a:t>Henry Ford</a:t>
                      </a:r>
                    </a:p>
                  </a:txBody>
                  <a:tcPr marL="86177" marR="86177" marT="43088" marB="43088" anchor="ctr"/>
                </a:tc>
                <a:extLst>
                  <a:ext uri="{0D108BD9-81ED-4DB2-BD59-A6C34878D82A}">
                    <a16:rowId xmlns:a16="http://schemas.microsoft.com/office/drawing/2014/main" val="541489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162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5DB6C-54D3-5633-F680-535AD935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0197" y="867535"/>
            <a:ext cx="4472352" cy="4687910"/>
          </a:xfrm>
        </p:spPr>
        <p:txBody>
          <a:bodyPr anchor="b">
            <a:normAutofit/>
          </a:bodyPr>
          <a:lstStyle/>
          <a:p>
            <a:r>
              <a:rPr lang="en-US" sz="4000" dirty="0"/>
              <a:t>Thank You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6D479-C143-B33A-7B27-CC1D884E5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217" y="798491"/>
            <a:ext cx="5012029" cy="468791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Let me know what is your style?</a:t>
            </a:r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628</Words>
  <Application>Microsoft Office PowerPoint</Application>
  <PresentationFormat>Widescreen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Leadership Styles</vt:lpstr>
      <vt:lpstr>Introduction</vt:lpstr>
      <vt:lpstr>Autocratic Leadership</vt:lpstr>
      <vt:lpstr>Democratic Leadership</vt:lpstr>
      <vt:lpstr>Transformational Leadership</vt:lpstr>
      <vt:lpstr>Transactional Leadership</vt:lpstr>
      <vt:lpstr>Laissez-Faire Leadership</vt:lpstr>
      <vt:lpstr>Servant Leadership</vt:lpstr>
      <vt:lpstr>Bureaucratic Leadership</vt:lpstr>
      <vt:lpstr>Visionary Leadership</vt:lpstr>
      <vt:lpstr>Conclusion</vt:lpstr>
      <vt:lpstr>Summary Table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master.iraban@mavenir.com</dc:creator>
  <cp:keywords/>
  <dc:description>generated using python-pptx</dc:description>
  <cp:lastModifiedBy>Master Iraban</cp:lastModifiedBy>
  <cp:revision>17</cp:revision>
  <dcterms:created xsi:type="dcterms:W3CDTF">2013-01-27T09:14:16Z</dcterms:created>
  <dcterms:modified xsi:type="dcterms:W3CDTF">2025-05-30T17:08:43Z</dcterms:modified>
  <cp:category/>
</cp:coreProperties>
</file>