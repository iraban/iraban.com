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277" r:id="rId2"/>
    <p:sldId id="296" r:id="rId3"/>
    <p:sldId id="297" r:id="rId4"/>
    <p:sldId id="298" r:id="rId5"/>
    <p:sldId id="304" r:id="rId6"/>
    <p:sldId id="303" r:id="rId7"/>
    <p:sldId id="321" r:id="rId8"/>
    <p:sldId id="320" r:id="rId9"/>
    <p:sldId id="300" r:id="rId10"/>
    <p:sldId id="318" r:id="rId11"/>
    <p:sldId id="302" r:id="rId12"/>
    <p:sldId id="301" r:id="rId13"/>
    <p:sldId id="319" r:id="rId14"/>
    <p:sldId id="322" r:id="rId15"/>
    <p:sldId id="305" r:id="rId16"/>
    <p:sldId id="323" r:id="rId17"/>
    <p:sldId id="312" r:id="rId18"/>
    <p:sldId id="313" r:id="rId19"/>
    <p:sldId id="315" r:id="rId20"/>
    <p:sldId id="317" r:id="rId2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FF"/>
    <a:srgbClr val="D39D60"/>
    <a:srgbClr val="A68462"/>
    <a:srgbClr val="E7D2AD"/>
    <a:srgbClr val="E8E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6" autoAdjust="0"/>
    <p:restoredTop sz="89784" autoAdjust="0"/>
  </p:normalViewPr>
  <p:slideViewPr>
    <p:cSldViewPr>
      <p:cViewPr>
        <p:scale>
          <a:sx n="80" d="100"/>
          <a:sy n="80" d="100"/>
        </p:scale>
        <p:origin x="-19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36D12-E37C-0D45-8245-09FC94EE7FD8}" type="datetimeFigureOut">
              <a:rPr lang="en-US"/>
              <a:pPr/>
              <a:t>6/19/2016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DFF92-5DBC-C24E-95B9-8CD2BFB38B5D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39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5983A96-50DB-453F-9711-41D88F362927}" type="datetimeFigureOut">
              <a:rPr lang="en-US" smtClean="0"/>
              <a:pPr/>
              <a:t>6/19/2016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80DE374-9170-4238-9387-1C4AD59CE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0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DE374-9170-4238-9387-1C4AD59CEF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6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33400" y="5334000"/>
            <a:ext cx="6400800" cy="762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algn="l" eaLnBrk="1" hangingPunct="1">
              <a:lnSpc>
                <a:spcPct val="100000"/>
              </a:lnSpc>
            </a:pPr>
            <a:r>
              <a:rPr lang="en-US" sz="1800" dirty="0"/>
              <a:t>Click to edit Master subtitle style</a:t>
            </a:r>
            <a:endParaRPr lang="en-US" sz="12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3400" y="3810000"/>
            <a:ext cx="8153400" cy="1143000"/>
          </a:xfrm>
        </p:spPr>
        <p:txBody>
          <a:bodyPr>
            <a:normAutofit/>
          </a:bodyPr>
          <a:lstStyle>
            <a:lvl1pPr>
              <a:buNone/>
              <a:defRPr sz="2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7200"/>
            <a:ext cx="9144000" cy="3903945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 bwMode="auto">
          <a:xfrm>
            <a:off x="0" y="3429000"/>
            <a:ext cx="9144000" cy="0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rgbClr val="D39D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aseline="0"/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2672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2672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524000"/>
            <a:ext cx="3810000" cy="42672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30000"/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81000"/>
            <a:ext cx="868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524000"/>
            <a:ext cx="8686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 bwMode="auto">
          <a:xfrm>
            <a:off x="0" y="6286500"/>
            <a:ext cx="9144000" cy="0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rgbClr val="D39D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Oval 4"/>
          <p:cNvSpPr/>
          <p:nvPr userDrawn="1"/>
        </p:nvSpPr>
        <p:spPr bwMode="auto">
          <a:xfrm>
            <a:off x="7924800" y="5791200"/>
            <a:ext cx="990600" cy="990600"/>
          </a:xfrm>
          <a:prstGeom prst="ellipse">
            <a:avLst/>
          </a:prstGeom>
          <a:solidFill>
            <a:schemeClr val="bg1"/>
          </a:solidFill>
          <a:ln w="22225" cap="flat" cmpd="sng" algn="ctr">
            <a:solidFill>
              <a:srgbClr val="D39D60">
                <a:alpha val="99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098" y="5855969"/>
            <a:ext cx="762002" cy="82296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14300" y="6311900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PMI Bangalore India Chapter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20" r:id="rId10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AC2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Clr>
          <a:srgbClr val="007AC2"/>
        </a:buClr>
        <a:buChar char="•"/>
        <a:defRPr sz="2000">
          <a:solidFill>
            <a:srgbClr val="45556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–"/>
        <a:defRPr sz="2000">
          <a:solidFill>
            <a:srgbClr val="455560"/>
          </a:solidFill>
          <a:latin typeface="+mn-lt"/>
        </a:defRPr>
      </a:lvl2pPr>
      <a:lvl3pPr marL="108585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455560"/>
          </a:solidFill>
          <a:latin typeface="+mn-lt"/>
        </a:defRPr>
      </a:lvl3pPr>
      <a:lvl4pPr marL="142875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455560"/>
          </a:solidFill>
          <a:latin typeface="+mn-lt"/>
        </a:defRPr>
      </a:lvl4pPr>
      <a:lvl5pPr marL="177165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55560"/>
          </a:solidFill>
          <a:latin typeface="+mn-lt"/>
        </a:defRPr>
      </a:lvl5pPr>
      <a:lvl6pPr marL="222885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55560"/>
          </a:solidFill>
          <a:latin typeface="+mn-lt"/>
        </a:defRPr>
      </a:lvl6pPr>
      <a:lvl7pPr marL="268605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55560"/>
          </a:solidFill>
          <a:latin typeface="+mn-lt"/>
        </a:defRPr>
      </a:lvl7pPr>
      <a:lvl8pPr marL="314325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55560"/>
          </a:solidFill>
          <a:latin typeface="+mn-lt"/>
        </a:defRPr>
      </a:lvl8pPr>
      <a:lvl9pPr marL="360045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5556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5334000"/>
            <a:ext cx="7696200" cy="762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Iraban</a:t>
            </a:r>
            <a:r>
              <a:rPr lang="en-US" b="1" dirty="0" smtClean="0"/>
              <a:t>, </a:t>
            </a:r>
            <a:endParaRPr lang="en-US" b="1" dirty="0"/>
          </a:p>
          <a:p>
            <a:r>
              <a:rPr lang="en-US" dirty="0" smtClean="0"/>
              <a:t>Manager, Wipro Ltd.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Compensation And Benefit Re-structure for Agile Enterprise - a Psycho-Analytic study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8738" indent="0">
              <a:buNone/>
            </a:pPr>
            <a:r>
              <a:rPr lang="en-US" dirty="0"/>
              <a:t>For convenience of each of us, lets practice and adhere to followings during the session</a:t>
            </a:r>
          </a:p>
          <a:p>
            <a:pPr>
              <a:buBlip>
                <a:blip r:embed="rId2"/>
              </a:buBlip>
            </a:pPr>
            <a:r>
              <a:rPr lang="en-US" dirty="0"/>
              <a:t>Keep </a:t>
            </a:r>
            <a:r>
              <a:rPr lang="en-US" dirty="0"/>
              <a:t>the mobile in silent mode</a:t>
            </a:r>
          </a:p>
          <a:p>
            <a:pPr marL="685800" lvl="2" indent="-342900">
              <a:lnSpc>
                <a:spcPct val="130000"/>
              </a:lnSpc>
              <a:buClr>
                <a:srgbClr val="007AC2"/>
              </a:buClr>
              <a:buBlip>
                <a:blip r:embed="rId2"/>
              </a:buBlip>
            </a:pPr>
            <a:r>
              <a:rPr lang="en-US" dirty="0">
                <a:ea typeface="+mn-ea"/>
                <a:cs typeface="+mn-cs"/>
              </a:rPr>
              <a:t>In case of emergency, use the corridor to receive the call</a:t>
            </a:r>
          </a:p>
          <a:p>
            <a:pPr>
              <a:buBlip>
                <a:blip r:embed="rId2"/>
              </a:buBlip>
            </a:pPr>
            <a:r>
              <a:rPr lang="en-US" dirty="0"/>
              <a:t>Park the question to end of session</a:t>
            </a:r>
          </a:p>
          <a:p>
            <a:pPr marL="685800" lvl="2" indent="-342900">
              <a:lnSpc>
                <a:spcPct val="130000"/>
              </a:lnSpc>
              <a:buClr>
                <a:srgbClr val="007AC2"/>
              </a:buClr>
              <a:buBlip>
                <a:blip r:embed="rId2"/>
              </a:buBlip>
            </a:pPr>
            <a:r>
              <a:rPr lang="en-US" dirty="0">
                <a:ea typeface="+mn-ea"/>
                <a:cs typeface="+mn-cs"/>
              </a:rPr>
              <a:t>Feel free to utilize Q&amp;A session</a:t>
            </a:r>
          </a:p>
          <a:p>
            <a:pPr>
              <a:buBlip>
                <a:blip r:embed="rId2"/>
              </a:buBlip>
            </a:pPr>
            <a:r>
              <a:rPr lang="en-US" dirty="0"/>
              <a:t>Use the break time for additional queries</a:t>
            </a:r>
          </a:p>
          <a:p>
            <a:pPr marL="685800" lvl="2" indent="-342900">
              <a:lnSpc>
                <a:spcPct val="130000"/>
              </a:lnSpc>
              <a:buClr>
                <a:srgbClr val="007AC2"/>
              </a:buClr>
              <a:buBlip>
                <a:blip r:embed="rId2"/>
              </a:buBlip>
            </a:pPr>
            <a:r>
              <a:rPr lang="en-US" dirty="0">
                <a:ea typeface="+mn-ea"/>
                <a:cs typeface="+mn-cs"/>
              </a:rPr>
              <a:t>Mail us for any further </a:t>
            </a:r>
            <a:r>
              <a:rPr lang="en-US" dirty="0">
                <a:ea typeface="+mn-ea"/>
                <a:cs typeface="+mn-cs"/>
              </a:rPr>
              <a:t>clarification</a:t>
            </a:r>
            <a:endParaRPr lang="en-US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20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en-US" dirty="0" smtClean="0"/>
              <a:t>Problem Statement</a:t>
            </a:r>
          </a:p>
          <a:p>
            <a:pPr>
              <a:buBlip>
                <a:blip r:embed="rId2"/>
              </a:buBlip>
            </a:pPr>
            <a:r>
              <a:rPr lang="en-US" dirty="0"/>
              <a:t>Detailed Historical Data </a:t>
            </a:r>
            <a:r>
              <a:rPr lang="en-US" dirty="0"/>
              <a:t>Analysis </a:t>
            </a:r>
            <a:endParaRPr lang="en-US" dirty="0"/>
          </a:p>
          <a:p>
            <a:pPr>
              <a:buBlip>
                <a:blip r:embed="rId2"/>
              </a:buBlip>
            </a:pPr>
            <a:r>
              <a:rPr lang="en-US" dirty="0"/>
              <a:t>Solution Approach – Psycho-Analytic Survey</a:t>
            </a:r>
          </a:p>
          <a:p>
            <a:pPr>
              <a:buBlip>
                <a:blip r:embed="rId2"/>
              </a:buBlip>
            </a:pPr>
            <a:r>
              <a:rPr lang="en-US" dirty="0"/>
              <a:t>Solution Proposed and Practiced</a:t>
            </a:r>
          </a:p>
          <a:p>
            <a:pPr>
              <a:buBlip>
                <a:blip r:embed="rId2"/>
              </a:buBlip>
            </a:pPr>
            <a:r>
              <a:rPr lang="en-US" dirty="0"/>
              <a:t>Benefits &amp; Key Take Away</a:t>
            </a:r>
          </a:p>
          <a:p>
            <a:pPr>
              <a:buBlip>
                <a:blip r:embed="rId2"/>
              </a:buBlip>
            </a:pPr>
            <a:r>
              <a:rPr lang="en-US" dirty="0"/>
              <a:t>Q &amp;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9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r>
              <a:rPr lang="en-US" dirty="0"/>
              <a:t>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9154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Agile Practice Project Manager often face challenges like: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Synchronizing all staff at huddle meeting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Proactive participation in team for task distribution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On time task completion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Equal task distribution and normalization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Backup planning for task on critical situation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Impact of attrition on task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          … the primary root cause is “</a:t>
            </a:r>
            <a:r>
              <a:rPr lang="en-US" b="1" u="sng" dirty="0" smtClean="0"/>
              <a:t>Lack of Motivation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– A Psycho-analytic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648200"/>
          </a:xfrm>
        </p:spPr>
        <p:txBody>
          <a:bodyPr>
            <a:normAutofit fontScale="92500" lnSpcReduction="20000"/>
          </a:bodyPr>
          <a:lstStyle/>
          <a:p>
            <a:pPr>
              <a:buBlip>
                <a:blip r:embed="rId2"/>
              </a:buBlip>
            </a:pPr>
            <a:r>
              <a:rPr lang="en-US" sz="2600" dirty="0" smtClean="0"/>
              <a:t>Motivation:</a:t>
            </a:r>
          </a:p>
          <a:p>
            <a:pPr lvl="1"/>
            <a:r>
              <a:rPr lang="en-US" sz="2600" dirty="0" smtClean="0"/>
              <a:t>the inner strength to move towards some goal. (comes from </a:t>
            </a:r>
            <a:r>
              <a:rPr lang="en-US" sz="2600" i="1" dirty="0" smtClean="0"/>
              <a:t>Latin word: </a:t>
            </a:r>
            <a:r>
              <a:rPr lang="en-US" sz="2600" i="1" dirty="0" err="1" smtClean="0"/>
              <a:t>Movere</a:t>
            </a:r>
            <a:r>
              <a:rPr lang="en-US" sz="2600" i="1" dirty="0" smtClean="0"/>
              <a:t> – ‘To Move’</a:t>
            </a:r>
            <a:r>
              <a:rPr lang="en-US" sz="2600" dirty="0" smtClean="0"/>
              <a:t>)</a:t>
            </a:r>
          </a:p>
          <a:p>
            <a:pPr lvl="1"/>
            <a:r>
              <a:rPr lang="en-US" sz="2600" dirty="0" smtClean="0"/>
              <a:t>the process which initiate, drive &amp; sustain behavior</a:t>
            </a:r>
          </a:p>
          <a:p>
            <a:pPr>
              <a:buBlip>
                <a:blip r:embed="rId2"/>
              </a:buBlip>
            </a:pPr>
            <a:r>
              <a:rPr lang="en-US" sz="2600" dirty="0"/>
              <a:t>Psychological Analysis Suggest: </a:t>
            </a:r>
          </a:p>
          <a:p>
            <a:pPr lvl="1"/>
            <a:r>
              <a:rPr lang="en-US" sz="2600" dirty="0" smtClean="0"/>
              <a:t>Incentive helps in achieving needs</a:t>
            </a:r>
          </a:p>
          <a:p>
            <a:pPr>
              <a:buBlip>
                <a:blip r:embed="rId2"/>
              </a:buBlip>
            </a:pPr>
            <a:r>
              <a:rPr lang="en-US" sz="2600" dirty="0"/>
              <a:t>Forms of Incentive:</a:t>
            </a:r>
          </a:p>
          <a:p>
            <a:pPr lvl="1"/>
            <a:r>
              <a:rPr lang="en-US" sz="2600" dirty="0" smtClean="0"/>
              <a:t>Rewards &amp; Recognition</a:t>
            </a:r>
          </a:p>
          <a:p>
            <a:pPr lvl="1"/>
            <a:r>
              <a:rPr lang="en-US" sz="2600" dirty="0" smtClean="0"/>
              <a:t>Punishment &amp; Negative reinforcement </a:t>
            </a:r>
          </a:p>
          <a:p>
            <a:pPr marL="457200" lvl="1" indent="0">
              <a:buNone/>
            </a:pPr>
            <a:endParaRPr lang="en-US" sz="1500" dirty="0" smtClean="0"/>
          </a:p>
          <a:p>
            <a:pPr marL="457200" lvl="1" indent="0">
              <a:buNone/>
            </a:pPr>
            <a:r>
              <a:rPr lang="en-US" sz="2600" dirty="0" smtClean="0"/>
              <a:t>   … Still challenge remains “</a:t>
            </a:r>
            <a:r>
              <a:rPr lang="en-US" sz="2600" u="sng" dirty="0" smtClean="0"/>
              <a:t>How to </a:t>
            </a:r>
            <a:r>
              <a:rPr lang="en-US" sz="2600" b="1" u="sng" dirty="0" smtClean="0"/>
              <a:t>Motivate to Deliver</a:t>
            </a:r>
            <a:r>
              <a:rPr lang="en-US" sz="2600" dirty="0" smtClean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577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Historical Data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ACT</a:t>
            </a:r>
          </a:p>
          <a:p>
            <a:endParaRPr lang="en-US" dirty="0" smtClean="0"/>
          </a:p>
          <a:p>
            <a:endParaRPr lang="en-US" sz="1400" dirty="0" smtClean="0"/>
          </a:p>
          <a:p>
            <a:r>
              <a:rPr lang="en-US" dirty="0" smtClean="0"/>
              <a:t>Pay Structure (Govt. Org)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sz="800" dirty="0" smtClean="0"/>
          </a:p>
          <a:p>
            <a:r>
              <a:rPr lang="en-US" dirty="0" smtClean="0"/>
              <a:t>Pay Structure (Pvt. Org)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95276"/>
              </p:ext>
            </p:extLst>
          </p:nvPr>
        </p:nvGraphicFramePr>
        <p:xfrm>
          <a:off x="533400" y="1752600"/>
          <a:ext cx="8138160" cy="914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12720"/>
                <a:gridCol w="2712720"/>
                <a:gridCol w="27127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1936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1948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1965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Payment of Wage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Minimum Wage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Bonus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07127"/>
              </p:ext>
            </p:extLst>
          </p:nvPr>
        </p:nvGraphicFramePr>
        <p:xfrm>
          <a:off x="533400" y="3200400"/>
          <a:ext cx="8138160" cy="1280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12720"/>
                <a:gridCol w="2712720"/>
                <a:gridCol w="27127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r>
                        <a:rPr lang="en-US" sz="2400" baseline="30000" dirty="0" smtClean="0"/>
                        <a:t>th</a:t>
                      </a:r>
                      <a:r>
                        <a:rPr lang="en-US" sz="2400" dirty="0" smtClean="0"/>
                        <a:t> Pay Comm.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</a:t>
                      </a:r>
                      <a:r>
                        <a:rPr lang="en-US" sz="2400" baseline="30000" dirty="0" smtClean="0"/>
                        <a:t>th</a:t>
                      </a:r>
                      <a:r>
                        <a:rPr lang="en-US" sz="2400" dirty="0" smtClean="0"/>
                        <a:t> Pay </a:t>
                      </a:r>
                      <a:r>
                        <a:rPr lang="en-US" sz="2400" dirty="0" err="1" smtClean="0"/>
                        <a:t>Comm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 /</a:t>
                      </a:r>
                      <a:r>
                        <a:rPr lang="en-US" sz="2400" baseline="0" dirty="0" smtClean="0"/>
                        <a:t> 7</a:t>
                      </a:r>
                      <a:r>
                        <a:rPr lang="en-US" sz="2400" baseline="30000" dirty="0" smtClean="0"/>
                        <a:t>th</a:t>
                      </a:r>
                      <a:r>
                        <a:rPr lang="en-US" sz="2400" baseline="0" dirty="0" smtClean="0"/>
                        <a:t> Pay </a:t>
                      </a:r>
                      <a:r>
                        <a:rPr lang="en-US" sz="2400" baseline="0" dirty="0" err="1" smtClean="0"/>
                        <a:t>Comm</a:t>
                      </a:r>
                      <a:r>
                        <a:rPr lang="en-US" sz="2400" baseline="0" dirty="0" smtClean="0"/>
                        <a:t> 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3000-100-3500-125-4500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10000-325-15200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15600-39100 + grade pay 6600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25009"/>
              </p:ext>
            </p:extLst>
          </p:nvPr>
        </p:nvGraphicFramePr>
        <p:xfrm>
          <a:off x="533400" y="5029200"/>
          <a:ext cx="8138160" cy="1280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90226"/>
                <a:gridCol w="53479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Before 2001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After 2001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All fixed salary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Performance</a:t>
                      </a:r>
                      <a:r>
                        <a:rPr lang="en-US" sz="2400" baseline="0" dirty="0" smtClean="0"/>
                        <a:t> linked v</a:t>
                      </a:r>
                      <a:r>
                        <a:rPr lang="en-US" sz="2400" dirty="0" smtClean="0"/>
                        <a:t>ariable salary introduced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90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Approach – Psycho-Analytic </a:t>
            </a:r>
            <a:r>
              <a:rPr lang="en-US" dirty="0" smtClean="0"/>
              <a:t>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648200"/>
          </a:xfrm>
        </p:spPr>
        <p:txBody>
          <a:bodyPr/>
          <a:lstStyle/>
          <a:p>
            <a:r>
              <a:rPr lang="en-US" dirty="0" smtClean="0"/>
              <a:t>Methodology - Psychological Survey</a:t>
            </a:r>
          </a:p>
          <a:p>
            <a:pPr lvl="1"/>
            <a:r>
              <a:rPr lang="en-US" dirty="0" smtClean="0"/>
              <a:t>Understanding Employee Behavior</a:t>
            </a:r>
          </a:p>
          <a:p>
            <a:r>
              <a:rPr lang="en-US" dirty="0" smtClean="0"/>
              <a:t>Question Bank – Preparation</a:t>
            </a:r>
          </a:p>
          <a:p>
            <a:pPr lvl="1"/>
            <a:r>
              <a:rPr lang="en-US" dirty="0" smtClean="0"/>
              <a:t>Four Groups </a:t>
            </a:r>
          </a:p>
          <a:p>
            <a:r>
              <a:rPr lang="en-US" dirty="0" smtClean="0"/>
              <a:t>Targets for Survey</a:t>
            </a:r>
          </a:p>
          <a:p>
            <a:pPr lvl="1"/>
            <a:r>
              <a:rPr lang="en-US" dirty="0" smtClean="0"/>
              <a:t>To find the MOTIVE and Change Adaptation</a:t>
            </a:r>
          </a:p>
          <a:p>
            <a:r>
              <a:rPr lang="en-US" dirty="0" smtClean="0"/>
              <a:t>Results Analysis</a:t>
            </a:r>
          </a:p>
          <a:p>
            <a:pPr lvl="1"/>
            <a:r>
              <a:rPr lang="en-US" dirty="0" smtClean="0"/>
              <a:t>84% of respondent looks for immediate rewords</a:t>
            </a:r>
          </a:p>
          <a:p>
            <a:pPr lvl="1"/>
            <a:r>
              <a:rPr lang="en-US" dirty="0" smtClean="0"/>
              <a:t>86% believes task based compensation increase perf.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172200" y="1295400"/>
            <a:ext cx="2834640" cy="2667000"/>
            <a:chOff x="6248400" y="1295400"/>
            <a:chExt cx="2834640" cy="2667000"/>
          </a:xfrm>
        </p:grpSpPr>
        <p:sp>
          <p:nvSpPr>
            <p:cNvPr id="4" name="Rectangle 3"/>
            <p:cNvSpPr/>
            <p:nvPr/>
          </p:nvSpPr>
          <p:spPr bwMode="auto">
            <a:xfrm>
              <a:off x="6248400" y="1447800"/>
              <a:ext cx="2834640" cy="25146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24600" y="1828800"/>
              <a:ext cx="2651760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 smtClean="0"/>
                <a:t>Project Practice</a:t>
              </a:r>
              <a:endParaRPr lang="en-US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24600" y="2360712"/>
              <a:ext cx="2651760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 smtClean="0"/>
                <a:t>Current CAB norm</a:t>
              </a:r>
              <a:endParaRPr lang="en-US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24600" y="2892624"/>
              <a:ext cx="2651760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 smtClean="0"/>
                <a:t>Agile CAB prop</a:t>
              </a:r>
              <a:endParaRPr lang="en-US" sz="2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24600" y="3424535"/>
              <a:ext cx="2651760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 smtClean="0"/>
                <a:t>Individual Impact</a:t>
              </a:r>
              <a:endParaRPr lang="en-US" sz="2400" dirty="0"/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6248400" y="1295400"/>
              <a:ext cx="2834640" cy="4572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rPr>
                <a:t>Question Group</a:t>
              </a:r>
              <a:endPara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712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4800600"/>
          </a:xfrm>
        </p:spPr>
        <p:txBody>
          <a:bodyPr>
            <a:normAutofit/>
          </a:bodyPr>
          <a:lstStyle/>
          <a:p>
            <a:pPr marL="0" indent="628650">
              <a:buNone/>
            </a:pPr>
            <a:r>
              <a:rPr lang="en-IN" b="1" u="sng" dirty="0" smtClean="0"/>
              <a:t>SPEED</a:t>
            </a:r>
            <a:r>
              <a:rPr lang="en-IN" b="1" dirty="0" smtClean="0"/>
              <a:t> – The need for change</a:t>
            </a:r>
          </a:p>
          <a:p>
            <a:pPr marL="0" indent="0">
              <a:buNone/>
            </a:pPr>
            <a:endParaRPr lang="en-IN" sz="1400" dirty="0" smtClean="0"/>
          </a:p>
          <a:p>
            <a:pPr lvl="0">
              <a:buBlip>
                <a:blip r:embed="rId2"/>
              </a:buBlip>
            </a:pPr>
            <a:r>
              <a:rPr lang="en-US" dirty="0" smtClean="0"/>
              <a:t>Project Execution Model is heading towards Agile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Psycho-Analysis recommends immediate results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Faster GTM (Go-To-Market) drives the Business 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Reward &amp; punishment mechanism change aligning to Agile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Control for Manager for “</a:t>
            </a:r>
            <a:r>
              <a:rPr lang="en-US" u="sng" dirty="0" smtClean="0"/>
              <a:t>Motivate to Deliver</a:t>
            </a:r>
            <a:r>
              <a:rPr lang="en-US" dirty="0" smtClean="0"/>
              <a:t>”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 smtClean="0"/>
              <a:t>	             </a:t>
            </a:r>
            <a:r>
              <a:rPr lang="en-IN" dirty="0" smtClean="0"/>
              <a:t>… </a:t>
            </a:r>
            <a:r>
              <a:rPr lang="en-IN" i="1" dirty="0" smtClean="0"/>
              <a:t>“</a:t>
            </a:r>
            <a:r>
              <a:rPr lang="en-IN" i="1" dirty="0"/>
              <a:t>Power is nothing without control”</a:t>
            </a:r>
            <a:r>
              <a:rPr lang="en-IN" dirty="0"/>
              <a:t> – Pirelli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9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Proposed and </a:t>
            </a:r>
            <a:r>
              <a:rPr lang="en-US" dirty="0" smtClean="0"/>
              <a:t>Practiced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SPEED</a:t>
            </a:r>
            <a:r>
              <a:rPr lang="en-US" u="sng" dirty="0" smtClean="0"/>
              <a:t> (</a:t>
            </a:r>
            <a:r>
              <a:rPr lang="en-IN" b="1" u="sng" dirty="0"/>
              <a:t>S</a:t>
            </a:r>
            <a:r>
              <a:rPr lang="en-IN" u="sng" dirty="0"/>
              <a:t>uperior </a:t>
            </a:r>
            <a:r>
              <a:rPr lang="en-IN" b="1" u="sng" dirty="0"/>
              <a:t>P</a:t>
            </a:r>
            <a:r>
              <a:rPr lang="en-IN" u="sng" dirty="0"/>
              <a:t>roject-based </a:t>
            </a:r>
            <a:r>
              <a:rPr lang="en-IN" b="1" u="sng" dirty="0"/>
              <a:t>E</a:t>
            </a:r>
            <a:r>
              <a:rPr lang="en-IN" u="sng" dirty="0"/>
              <a:t>mployee </a:t>
            </a:r>
            <a:r>
              <a:rPr lang="en-IN" b="1" u="sng" dirty="0"/>
              <a:t>E</a:t>
            </a:r>
            <a:r>
              <a:rPr lang="en-IN" u="sng" dirty="0"/>
              <a:t>ngagement </a:t>
            </a:r>
            <a:r>
              <a:rPr lang="en-IN" b="1" u="sng" dirty="0" smtClean="0"/>
              <a:t>D</a:t>
            </a:r>
            <a:r>
              <a:rPr lang="en-IN" u="sng" dirty="0" smtClean="0"/>
              <a:t>esign)</a:t>
            </a:r>
            <a:endParaRPr lang="en-US" u="sng" dirty="0" smtClean="0"/>
          </a:p>
          <a:p>
            <a:pPr lvl="0"/>
            <a:r>
              <a:rPr lang="en-US" dirty="0" smtClean="0"/>
              <a:t>Tasks </a:t>
            </a:r>
            <a:r>
              <a:rPr lang="en-US" dirty="0" err="1" smtClean="0"/>
              <a:t>granularized</a:t>
            </a:r>
            <a:r>
              <a:rPr lang="en-US" dirty="0" smtClean="0"/>
              <a:t> to 4 </a:t>
            </a:r>
            <a:r>
              <a:rPr lang="en-US" dirty="0"/>
              <a:t>hours effort.</a:t>
            </a:r>
          </a:p>
          <a:p>
            <a:pPr lvl="0"/>
            <a:r>
              <a:rPr lang="en-US" dirty="0"/>
              <a:t>Each task is associated </a:t>
            </a:r>
            <a:r>
              <a:rPr lang="en-US" dirty="0" smtClean="0"/>
              <a:t>with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complexity ratio number. (C</a:t>
            </a:r>
            <a:r>
              <a:rPr lang="en-IN" baseline="-25000" dirty="0"/>
              <a:t>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reward criterion. (R</a:t>
            </a:r>
            <a:r>
              <a:rPr lang="en-IN" baseline="-25000" dirty="0"/>
              <a:t>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penalty criterion. (P</a:t>
            </a:r>
            <a:r>
              <a:rPr lang="en-IN" baseline="-25000" dirty="0"/>
              <a:t>c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Punctuality </a:t>
            </a:r>
            <a:r>
              <a:rPr lang="en-US" dirty="0" smtClean="0"/>
              <a:t>association with reward/penalty </a:t>
            </a:r>
            <a:r>
              <a:rPr lang="en-US" dirty="0"/>
              <a:t>criterion. (T</a:t>
            </a:r>
            <a:r>
              <a:rPr lang="en-IN" baseline="-25000" dirty="0" err="1"/>
              <a:t>rp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Knowledge sharing </a:t>
            </a:r>
            <a:r>
              <a:rPr lang="en-US" dirty="0" smtClean="0"/>
              <a:t>association with </a:t>
            </a:r>
            <a:r>
              <a:rPr lang="en-US" dirty="0"/>
              <a:t>reward criterion. (K</a:t>
            </a:r>
            <a:r>
              <a:rPr lang="en-IN" baseline="-25000" dirty="0"/>
              <a:t>r</a:t>
            </a:r>
            <a:r>
              <a:rPr lang="en-US" dirty="0"/>
              <a:t>)</a:t>
            </a:r>
          </a:p>
          <a:p>
            <a:pPr lvl="0"/>
            <a:r>
              <a:rPr lang="en-US" dirty="0" smtClean="0"/>
              <a:t>Task </a:t>
            </a:r>
            <a:r>
              <a:rPr lang="en-US" dirty="0"/>
              <a:t>outcome </a:t>
            </a:r>
            <a:r>
              <a:rPr lang="en-US" dirty="0" smtClean="0"/>
              <a:t>association with reward </a:t>
            </a:r>
            <a:r>
              <a:rPr lang="en-US" dirty="0"/>
              <a:t>criterion. (T</a:t>
            </a:r>
            <a:r>
              <a:rPr lang="en-IN" baseline="-25000" dirty="0"/>
              <a:t>r</a:t>
            </a:r>
            <a:r>
              <a:rPr lang="en-US" dirty="0"/>
              <a:t>)</a:t>
            </a:r>
          </a:p>
          <a:p>
            <a:r>
              <a:rPr lang="en-IN" dirty="0" smtClean="0"/>
              <a:t>Bonus for </a:t>
            </a:r>
            <a:r>
              <a:rPr lang="en-IN" dirty="0"/>
              <a:t>accumulating </a:t>
            </a:r>
            <a:r>
              <a:rPr lang="en-IN" dirty="0" smtClean="0"/>
              <a:t>points </a:t>
            </a:r>
            <a:r>
              <a:rPr lang="en-IN" dirty="0"/>
              <a:t>based on </a:t>
            </a:r>
            <a:r>
              <a:rPr lang="en-IN" dirty="0" smtClean="0"/>
              <a:t>range. </a:t>
            </a:r>
            <a:r>
              <a:rPr lang="en-IN" dirty="0"/>
              <a:t>(B</a:t>
            </a:r>
            <a:r>
              <a:rPr lang="en-IN" baseline="-25000" dirty="0"/>
              <a:t>r</a:t>
            </a:r>
            <a:r>
              <a:rPr lang="en-IN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6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4800600"/>
          </a:xfrm>
        </p:spPr>
        <p:txBody>
          <a:bodyPr>
            <a:normAutofit/>
          </a:bodyPr>
          <a:lstStyle/>
          <a:p>
            <a:pPr marL="0" indent="628650">
              <a:buNone/>
            </a:pPr>
            <a:r>
              <a:rPr lang="en-US" u="sng" dirty="0" smtClean="0"/>
              <a:t>(</a:t>
            </a:r>
            <a:r>
              <a:rPr lang="en-IN" b="1" u="sng" dirty="0"/>
              <a:t>S</a:t>
            </a:r>
            <a:r>
              <a:rPr lang="en-IN" u="sng" dirty="0"/>
              <a:t>uperior </a:t>
            </a:r>
            <a:r>
              <a:rPr lang="en-IN" b="1" u="sng" dirty="0"/>
              <a:t>P</a:t>
            </a:r>
            <a:r>
              <a:rPr lang="en-IN" u="sng" dirty="0"/>
              <a:t>roject-based </a:t>
            </a:r>
            <a:r>
              <a:rPr lang="en-IN" b="1" u="sng" dirty="0"/>
              <a:t>E</a:t>
            </a:r>
            <a:r>
              <a:rPr lang="en-IN" u="sng" dirty="0"/>
              <a:t>mployee </a:t>
            </a:r>
            <a:r>
              <a:rPr lang="en-IN" b="1" u="sng" dirty="0"/>
              <a:t>E</a:t>
            </a:r>
            <a:r>
              <a:rPr lang="en-IN" u="sng" dirty="0"/>
              <a:t>ngagement </a:t>
            </a:r>
            <a:r>
              <a:rPr lang="en-IN" b="1" u="sng" dirty="0" smtClean="0"/>
              <a:t>D</a:t>
            </a:r>
            <a:r>
              <a:rPr lang="en-IN" u="sng" dirty="0" smtClean="0"/>
              <a:t>esign)</a:t>
            </a:r>
          </a:p>
          <a:p>
            <a:pPr marL="0" indent="628650" algn="ctr">
              <a:buNone/>
            </a:pPr>
            <a:r>
              <a:rPr lang="en-IN" b="1" u="sng" dirty="0" smtClean="0"/>
              <a:t>SPEED</a:t>
            </a:r>
          </a:p>
          <a:p>
            <a:pPr marL="0" indent="0">
              <a:buNone/>
            </a:pPr>
            <a:endParaRPr lang="en-IN" sz="1400" dirty="0" smtClean="0"/>
          </a:p>
          <a:p>
            <a:pPr marL="0" indent="688975">
              <a:buNone/>
            </a:pPr>
            <a:r>
              <a:rPr lang="en-IN" dirty="0" smtClean="0"/>
              <a:t>Formula </a:t>
            </a:r>
            <a:r>
              <a:rPr lang="en-IN" dirty="0"/>
              <a:t>used for cumulative points </a:t>
            </a:r>
            <a:r>
              <a:rPr lang="en-IN" dirty="0" smtClean="0"/>
              <a:t>is:</a:t>
            </a:r>
            <a:endParaRPr lang="en-US" dirty="0" smtClean="0"/>
          </a:p>
          <a:p>
            <a:pPr marL="0" indent="285750">
              <a:buNone/>
            </a:pPr>
            <a:r>
              <a:rPr lang="en-IN" sz="2800" b="1" dirty="0" err="1" smtClean="0"/>
              <a:t>C</a:t>
            </a:r>
            <a:r>
              <a:rPr lang="en-IN" sz="2800" b="1" baseline="-25000" dirty="0" err="1" smtClean="0"/>
              <a:t>p</a:t>
            </a:r>
            <a:r>
              <a:rPr lang="en-IN" sz="2800" b="1" dirty="0" smtClean="0"/>
              <a:t> = ∑ (x * (C</a:t>
            </a:r>
            <a:r>
              <a:rPr lang="en-IN" sz="2800" b="1" baseline="-25000" dirty="0" smtClean="0"/>
              <a:t>n</a:t>
            </a:r>
            <a:r>
              <a:rPr lang="en-IN" sz="2800" b="1" dirty="0" smtClean="0"/>
              <a:t> * [</a:t>
            </a:r>
            <a:r>
              <a:rPr lang="en-IN" sz="2800" b="1" dirty="0" err="1" smtClean="0"/>
              <a:t>R</a:t>
            </a:r>
            <a:r>
              <a:rPr lang="en-IN" sz="2800" b="1" baseline="-25000" dirty="0" err="1" smtClean="0"/>
              <a:t>c</a:t>
            </a:r>
            <a:r>
              <a:rPr lang="en-IN" sz="2800" b="1" dirty="0" smtClean="0"/>
              <a:t>-P</a:t>
            </a:r>
            <a:r>
              <a:rPr lang="en-IN" sz="2800" b="1" baseline="-25000" dirty="0" smtClean="0"/>
              <a:t>c</a:t>
            </a:r>
            <a:r>
              <a:rPr lang="en-IN" sz="2800" b="1" dirty="0" smtClean="0"/>
              <a:t>] ) * </a:t>
            </a:r>
            <a:r>
              <a:rPr lang="en-IN" sz="2800" b="1" dirty="0" err="1" smtClean="0"/>
              <a:t>T</a:t>
            </a:r>
            <a:r>
              <a:rPr lang="en-IN" sz="2800" b="1" baseline="-25000" dirty="0" err="1" smtClean="0"/>
              <a:t>rp</a:t>
            </a:r>
            <a:r>
              <a:rPr lang="en-IN" sz="2800" b="1" dirty="0" smtClean="0"/>
              <a:t> + y * K</a:t>
            </a:r>
            <a:r>
              <a:rPr lang="en-IN" sz="2800" b="1" baseline="-25000" dirty="0" smtClean="0"/>
              <a:t>r</a:t>
            </a:r>
            <a:r>
              <a:rPr lang="en-IN" sz="2800" b="1" dirty="0" smtClean="0"/>
              <a:t> + x * </a:t>
            </a:r>
            <a:r>
              <a:rPr lang="en-IN" sz="2800" b="1" dirty="0" err="1" smtClean="0"/>
              <a:t>T</a:t>
            </a:r>
            <a:r>
              <a:rPr lang="en-IN" sz="2800" b="1" baseline="-25000" dirty="0" err="1" smtClean="0"/>
              <a:t>r</a:t>
            </a:r>
            <a:r>
              <a:rPr lang="en-IN" sz="2800" b="1" dirty="0" smtClean="0"/>
              <a:t> ) * B</a:t>
            </a:r>
            <a:r>
              <a:rPr lang="en-IN" sz="2800" b="1" baseline="-25000" dirty="0" smtClean="0"/>
              <a:t>r</a:t>
            </a:r>
            <a:endParaRPr lang="en-US" sz="2800" b="1" dirty="0" smtClean="0"/>
          </a:p>
          <a:p>
            <a:pPr marL="0" indent="688975">
              <a:buNone/>
            </a:pPr>
            <a:r>
              <a:rPr lang="en-IN" dirty="0" smtClean="0"/>
              <a:t>	Where </a:t>
            </a:r>
            <a:r>
              <a:rPr lang="en-IN" dirty="0"/>
              <a:t>‘x’ is number of task completed, &amp; </a:t>
            </a:r>
            <a:endParaRPr lang="en-IN" dirty="0" smtClean="0"/>
          </a:p>
          <a:p>
            <a:pPr marL="0" indent="688975">
              <a:buNone/>
            </a:pPr>
            <a:r>
              <a:rPr lang="en-IN" dirty="0"/>
              <a:t>	</a:t>
            </a:r>
            <a:r>
              <a:rPr lang="en-IN" dirty="0" smtClean="0"/>
              <a:t>	‘</a:t>
            </a:r>
            <a:r>
              <a:rPr lang="en-IN" dirty="0"/>
              <a:t>y’ number of TT (Tech </a:t>
            </a:r>
            <a:r>
              <a:rPr lang="en-IN" dirty="0" smtClean="0"/>
              <a:t>Talk Session)</a:t>
            </a:r>
            <a:endParaRPr lang="en-US" dirty="0"/>
          </a:p>
          <a:p>
            <a:pPr marL="0" indent="0">
              <a:buNone/>
            </a:pPr>
            <a:endParaRPr lang="en-US" u="sng" dirty="0" smtClean="0"/>
          </a:p>
        </p:txBody>
      </p:sp>
    </p:spTree>
    <p:extLst>
      <p:ext uri="{BB962C8B-B14F-4D97-AF65-F5344CB8AC3E}">
        <p14:creationId xmlns:p14="http://schemas.microsoft.com/office/powerpoint/2010/main" val="304572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&amp; Key Take </a:t>
            </a:r>
            <a:r>
              <a:rPr lang="en-US" dirty="0" smtClean="0"/>
              <a:t>Away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Blip>
                <a:blip r:embed="rId2"/>
              </a:buBlip>
            </a:pPr>
            <a:r>
              <a:rPr lang="en-US" dirty="0"/>
              <a:t>Quantitative performance measurement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Team Technical </a:t>
            </a:r>
            <a:r>
              <a:rPr lang="en-US" dirty="0"/>
              <a:t>strength </a:t>
            </a:r>
            <a:r>
              <a:rPr lang="en-US" dirty="0" smtClean="0"/>
              <a:t>Improvement for upcoming </a:t>
            </a:r>
            <a:r>
              <a:rPr lang="en-US" dirty="0"/>
              <a:t>work</a:t>
            </a:r>
          </a:p>
          <a:p>
            <a:pPr lvl="0">
              <a:buBlip>
                <a:blip r:embed="rId2"/>
              </a:buBlip>
            </a:pPr>
            <a:r>
              <a:rPr lang="en-US" dirty="0"/>
              <a:t>Good estimation accuracy and delivery forecast</a:t>
            </a:r>
          </a:p>
          <a:p>
            <a:pPr lvl="0">
              <a:buBlip>
                <a:blip r:embed="rId2"/>
              </a:buBlip>
            </a:pPr>
            <a:r>
              <a:rPr lang="en-US" dirty="0"/>
              <a:t>Healthy competition among the team members</a:t>
            </a:r>
          </a:p>
          <a:p>
            <a:pPr lvl="0">
              <a:buBlip>
                <a:blip r:embed="rId2"/>
              </a:buBlip>
            </a:pPr>
            <a:r>
              <a:rPr lang="en-US" dirty="0"/>
              <a:t>Team motivation, morale </a:t>
            </a:r>
            <a:r>
              <a:rPr lang="en-US" dirty="0" smtClean="0"/>
              <a:t>&amp; attitude </a:t>
            </a:r>
            <a:r>
              <a:rPr lang="en-US" dirty="0"/>
              <a:t>towards </a:t>
            </a:r>
            <a:r>
              <a:rPr lang="en-US" dirty="0" smtClean="0"/>
              <a:t>task completion</a:t>
            </a:r>
          </a:p>
          <a:p>
            <a:pPr lvl="0">
              <a:buBlip>
                <a:blip r:embed="rId2"/>
              </a:buBlip>
            </a:pPr>
            <a:r>
              <a:rPr lang="en-US" dirty="0" smtClean="0"/>
              <a:t>Reduced Attrition, increasing project performance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7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19771366">
            <a:off x="457200" y="1447800"/>
            <a:ext cx="2568332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39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</a:t>
            </a:r>
            <a:endParaRPr lang="en-US" sz="239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 rot="19491089">
            <a:off x="4155914" y="1295400"/>
            <a:ext cx="124906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31550" cmpd="sng">
                  <a:solidFill>
                    <a:srgbClr val="000066"/>
                  </a:solidFill>
                  <a:prstDash val="sysDot"/>
                </a:ln>
                <a:blipFill>
                  <a:blip r:embed="rId2"/>
                  <a:tile tx="0" ty="0" sx="100000" sy="100000" flip="none" algn="tl"/>
                </a:blip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&amp;</a:t>
            </a:r>
            <a:endParaRPr lang="en-US" sz="11500" b="1" dirty="0">
              <a:ln w="31550" cmpd="sng">
                <a:solidFill>
                  <a:srgbClr val="000066"/>
                </a:solidFill>
                <a:prstDash val="sysDot"/>
              </a:ln>
              <a:blipFill>
                <a:blip r:embed="rId2"/>
                <a:tile tx="0" ty="0" sx="100000" sy="100000" flip="none" algn="tl"/>
              </a:blip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 rot="945546">
            <a:off x="6390057" y="1447799"/>
            <a:ext cx="2398413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39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</a:t>
            </a:r>
            <a:endParaRPr lang="en-US" sz="23900" b="1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409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</a:t>
            </a:r>
            <a:r>
              <a:rPr lang="en-US" sz="4800" b="1" dirty="0" smtClean="0"/>
              <a:t>Thank You</a:t>
            </a:r>
            <a:endParaRPr lang="en-US" b="1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Contact Us at:</a:t>
            </a:r>
          </a:p>
          <a:p>
            <a:pPr marL="0" indent="0">
              <a:buNone/>
            </a:pPr>
            <a:r>
              <a:rPr lang="en-US" dirty="0" smtClean="0"/>
              <a:t>		papers@pmibangalorechapter.org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24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Back-up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8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Images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57" y="3138476"/>
            <a:ext cx="1438275" cy="2867025"/>
          </a:xfrm>
          <a:prstGeom prst="rect">
            <a:avLst/>
          </a:prstGeom>
        </p:spPr>
      </p:pic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155" y="989610"/>
            <a:ext cx="22288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108173" y="3581400"/>
            <a:ext cx="4782185" cy="15494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97899"/>
            <a:ext cx="4800600" cy="2017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95155" y="616111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Fixed Salary (&lt;2001)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14600" y="3120663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r>
              <a:rPr lang="en-US" baseline="30000" dirty="0" smtClean="0"/>
              <a:t>th</a:t>
            </a:r>
            <a:r>
              <a:rPr lang="en-US" dirty="0" smtClean="0"/>
              <a:t> Pay Commission Structure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5931932"/>
            <a:ext cx="3033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Addition of Variable (&gt;2001)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08173" y="5257800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Recognition Style Survey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 Questionnaire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8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 1: Current </a:t>
            </a:r>
            <a:r>
              <a:rPr lang="en-IN" dirty="0" smtClean="0"/>
              <a:t>Project </a:t>
            </a:r>
            <a:r>
              <a:rPr lang="en-IN" dirty="0"/>
              <a:t>Practice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3383" y="1325880"/>
            <a:ext cx="2451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experience in working with Agile </a:t>
            </a:r>
            <a:r>
              <a:rPr lang="en-US" dirty="0" smtClean="0"/>
              <a:t>project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2484" y="1325880"/>
            <a:ext cx="2582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experience in working with traditional /waterfall </a:t>
            </a:r>
            <a:r>
              <a:rPr lang="en-US" dirty="0" smtClean="0"/>
              <a:t>model</a:t>
            </a:r>
            <a:endParaRPr lang="en-US" sz="2400" dirty="0">
              <a:ea typeface="Times New Roman"/>
              <a:cs typeface="Times New Roman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33" y="0"/>
            <a:ext cx="1678167" cy="139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53201" y="132588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organization use matrix structure for project </a:t>
            </a:r>
            <a:r>
              <a:rPr lang="en-US" dirty="0" smtClean="0"/>
              <a:t>resourcing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400" y="4376839"/>
            <a:ext cx="2304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Employee motivation decision made by functional </a:t>
            </a:r>
            <a:r>
              <a:rPr lang="en-US" dirty="0" err="1" smtClean="0"/>
              <a:t>mgr</a:t>
            </a:r>
            <a:r>
              <a:rPr lang="en-US" dirty="0" smtClean="0"/>
              <a:t> &amp; </a:t>
            </a:r>
            <a:r>
              <a:rPr lang="en-US" dirty="0"/>
              <a:t>not project </a:t>
            </a:r>
            <a:r>
              <a:rPr lang="en-US" dirty="0" err="1" smtClean="0"/>
              <a:t>mgr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6936" y="4313872"/>
            <a:ext cx="2137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Yrly</a:t>
            </a:r>
            <a:r>
              <a:rPr lang="en-US" dirty="0" smtClean="0"/>
              <a:t> </a:t>
            </a:r>
            <a:r>
              <a:rPr lang="en-US" dirty="0"/>
              <a:t>salary change </a:t>
            </a:r>
            <a:r>
              <a:rPr lang="en-US" dirty="0" smtClean="0"/>
              <a:t>&amp; re-creational </a:t>
            </a:r>
            <a:r>
              <a:rPr lang="en-US" dirty="0" err="1" smtClean="0"/>
              <a:t>prog</a:t>
            </a:r>
            <a:r>
              <a:rPr lang="en-US" dirty="0" smtClean="0"/>
              <a:t>. are </a:t>
            </a:r>
            <a:r>
              <a:rPr lang="en-US" dirty="0"/>
              <a:t>incentive methodology in my </a:t>
            </a:r>
            <a:r>
              <a:rPr lang="en-US" dirty="0" smtClean="0"/>
              <a:t>organization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34746" y="2183287"/>
            <a:ext cx="2103120" cy="210312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Oval 17"/>
          <p:cNvSpPr/>
          <p:nvPr/>
        </p:nvSpPr>
        <p:spPr>
          <a:xfrm>
            <a:off x="3535680" y="2209800"/>
            <a:ext cx="2103120" cy="210312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Oval 18"/>
          <p:cNvSpPr/>
          <p:nvPr/>
        </p:nvSpPr>
        <p:spPr>
          <a:xfrm>
            <a:off x="6701755" y="2183287"/>
            <a:ext cx="2103120" cy="210312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Oval 19"/>
          <p:cNvSpPr/>
          <p:nvPr/>
        </p:nvSpPr>
        <p:spPr>
          <a:xfrm>
            <a:off x="2316480" y="3840480"/>
            <a:ext cx="2103120" cy="210312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Oval 20"/>
          <p:cNvSpPr/>
          <p:nvPr/>
        </p:nvSpPr>
        <p:spPr>
          <a:xfrm>
            <a:off x="4953000" y="3840480"/>
            <a:ext cx="2103120" cy="210312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387574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 2: Current </a:t>
            </a:r>
            <a:r>
              <a:rPr lang="en-IN" dirty="0" smtClean="0"/>
              <a:t>org. </a:t>
            </a:r>
            <a:r>
              <a:rPr lang="en-IN" dirty="0"/>
              <a:t>CAB </a:t>
            </a:r>
            <a:r>
              <a:rPr lang="en-IN" dirty="0" smtClean="0"/>
              <a:t>practice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3383" y="1325880"/>
            <a:ext cx="2451985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 smtClean="0"/>
              <a:t>My comp. decided </a:t>
            </a:r>
            <a:r>
              <a:rPr lang="en-US" dirty="0"/>
              <a:t>by functional </a:t>
            </a:r>
            <a:r>
              <a:rPr lang="en-US" dirty="0" err="1" smtClean="0"/>
              <a:t>mgr</a:t>
            </a:r>
            <a:r>
              <a:rPr lang="en-US" dirty="0" smtClean="0"/>
              <a:t> &amp; not </a:t>
            </a:r>
            <a:r>
              <a:rPr lang="en-US" dirty="0"/>
              <a:t>my project </a:t>
            </a:r>
            <a:r>
              <a:rPr lang="en-US" dirty="0" err="1" smtClean="0"/>
              <a:t>mgr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2484" y="1325880"/>
            <a:ext cx="2582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</a:t>
            </a:r>
            <a:r>
              <a:rPr lang="en-US" dirty="0" smtClean="0"/>
              <a:t>org </a:t>
            </a:r>
            <a:r>
              <a:rPr lang="en-US" dirty="0"/>
              <a:t>increase </a:t>
            </a:r>
            <a:r>
              <a:rPr lang="en-US" dirty="0" smtClean="0"/>
              <a:t>comp. </a:t>
            </a:r>
            <a:r>
              <a:rPr lang="en-US" dirty="0"/>
              <a:t>and gives bonus every financial </a:t>
            </a:r>
            <a:r>
              <a:rPr lang="en-US" dirty="0" err="1"/>
              <a:t>year</a:t>
            </a:r>
            <a:r>
              <a:rPr lang="en-US" dirty="0" err="1" smtClean="0"/>
              <a:t>l</a:t>
            </a:r>
            <a:endParaRPr lang="en-US" sz="2400" dirty="0">
              <a:ea typeface="Times New Roman"/>
              <a:cs typeface="Times New Roman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33" y="0"/>
            <a:ext cx="1678167" cy="139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53201" y="1325880"/>
            <a:ext cx="2438400" cy="102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My </a:t>
            </a:r>
            <a:r>
              <a:rPr lang="en-US" dirty="0" smtClean="0"/>
              <a:t>comp. varies </a:t>
            </a:r>
            <a:r>
              <a:rPr lang="en-US" dirty="0"/>
              <a:t>based on the project model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0413" y="4743221"/>
            <a:ext cx="2227987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Financial increment motivates me in work place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6936" y="4313872"/>
            <a:ext cx="2137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satisfied with my current salary structure (BS + Allowance + Variable Component)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81000" y="2286000"/>
            <a:ext cx="2103120" cy="210312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Oval 24"/>
          <p:cNvSpPr/>
          <p:nvPr/>
        </p:nvSpPr>
        <p:spPr>
          <a:xfrm>
            <a:off x="3459480" y="2346801"/>
            <a:ext cx="2103120" cy="210312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Oval 25"/>
          <p:cNvSpPr/>
          <p:nvPr/>
        </p:nvSpPr>
        <p:spPr>
          <a:xfrm>
            <a:off x="6720841" y="2213993"/>
            <a:ext cx="2103120" cy="210312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Oval 26"/>
          <p:cNvSpPr/>
          <p:nvPr/>
        </p:nvSpPr>
        <p:spPr>
          <a:xfrm>
            <a:off x="2240280" y="4038600"/>
            <a:ext cx="2103120" cy="210312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Oval 27"/>
          <p:cNvSpPr/>
          <p:nvPr/>
        </p:nvSpPr>
        <p:spPr>
          <a:xfrm>
            <a:off x="4867794" y="4139475"/>
            <a:ext cx="2103120" cy="210312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37047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 3: Agile based CAB </a:t>
            </a:r>
            <a:r>
              <a:rPr lang="en-IN" dirty="0" smtClean="0"/>
              <a:t>proposal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3383" y="1325880"/>
            <a:ext cx="2910817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Incentive on task completion shall motivates me and increase my </a:t>
            </a:r>
            <a:r>
              <a:rPr lang="en-US" dirty="0" smtClean="0"/>
              <a:t>perf.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2484" y="1325880"/>
            <a:ext cx="2882116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Preferably </a:t>
            </a:r>
            <a:r>
              <a:rPr lang="en-US" dirty="0" smtClean="0"/>
              <a:t>comp. </a:t>
            </a:r>
            <a:r>
              <a:rPr lang="en-US" dirty="0"/>
              <a:t>to be revised by my Project </a:t>
            </a:r>
            <a:r>
              <a:rPr lang="en-US" dirty="0" err="1" smtClean="0"/>
              <a:t>mgr</a:t>
            </a:r>
            <a:r>
              <a:rPr lang="en-US" dirty="0" smtClean="0"/>
              <a:t> rather </a:t>
            </a:r>
            <a:r>
              <a:rPr lang="en-US" dirty="0"/>
              <a:t>than functional </a:t>
            </a:r>
            <a:r>
              <a:rPr lang="en-US" dirty="0" err="1" smtClean="0"/>
              <a:t>mgr</a:t>
            </a:r>
            <a:endParaRPr lang="en-US" sz="2400" dirty="0">
              <a:ea typeface="Times New Roman"/>
              <a:cs typeface="Times New Roman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33" y="0"/>
            <a:ext cx="1678167" cy="139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53201" y="1325880"/>
            <a:ext cx="2438400" cy="102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I get motivated for reward on each task </a:t>
            </a:r>
            <a:r>
              <a:rPr lang="en-US" dirty="0" smtClean="0"/>
              <a:t>completion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10413" y="4451731"/>
            <a:ext cx="2127453" cy="133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Happy to have bonus on each milestone achievement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40534" y="4451731"/>
            <a:ext cx="2137064" cy="133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Risk </a:t>
            </a:r>
            <a:r>
              <a:rPr lang="en-US" dirty="0" smtClean="0"/>
              <a:t>&amp; Reward </a:t>
            </a:r>
            <a:r>
              <a:rPr lang="en-US" dirty="0" err="1" smtClean="0"/>
              <a:t>prog</a:t>
            </a:r>
            <a:r>
              <a:rPr lang="en-US" dirty="0" smtClean="0"/>
              <a:t>. should </a:t>
            </a:r>
            <a:r>
              <a:rPr lang="en-US" dirty="0"/>
              <a:t>be linked to my task completion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23885" y="2286000"/>
            <a:ext cx="2103120" cy="210312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Oval 22"/>
          <p:cNvSpPr/>
          <p:nvPr/>
        </p:nvSpPr>
        <p:spPr>
          <a:xfrm>
            <a:off x="3733800" y="2362200"/>
            <a:ext cx="2103120" cy="210312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Oval 23"/>
          <p:cNvSpPr/>
          <p:nvPr/>
        </p:nvSpPr>
        <p:spPr>
          <a:xfrm>
            <a:off x="6672067" y="2286000"/>
            <a:ext cx="2103120" cy="210312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Oval 24"/>
          <p:cNvSpPr/>
          <p:nvPr/>
        </p:nvSpPr>
        <p:spPr>
          <a:xfrm>
            <a:off x="2072640" y="3886200"/>
            <a:ext cx="2103120" cy="210312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Oval 25"/>
          <p:cNvSpPr/>
          <p:nvPr/>
        </p:nvSpPr>
        <p:spPr>
          <a:xfrm>
            <a:off x="5237414" y="3992880"/>
            <a:ext cx="2103120" cy="210312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12023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 4: </a:t>
            </a:r>
            <a:r>
              <a:rPr lang="en-IN" dirty="0" smtClean="0"/>
              <a:t>Impact Analysis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3383" y="1325880"/>
            <a:ext cx="2451985" cy="102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Task based </a:t>
            </a:r>
            <a:r>
              <a:rPr lang="en-US" dirty="0" smtClean="0"/>
              <a:t>comp. </a:t>
            </a:r>
            <a:r>
              <a:rPr lang="en-US" dirty="0"/>
              <a:t>shall increase the team performance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5200" y="1325880"/>
            <a:ext cx="2582838" cy="102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Intermediate increment and incentive shall reduce attrition</a:t>
            </a:r>
            <a:endParaRPr lang="en-US" sz="2400" dirty="0">
              <a:ea typeface="Times New Roman"/>
              <a:cs typeface="Times New Roman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33" y="0"/>
            <a:ext cx="1678167" cy="139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53201" y="1325880"/>
            <a:ext cx="2438400" cy="102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Immediate action on my work increase my performance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0413" y="4267200"/>
            <a:ext cx="2127453" cy="1658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Volatile incentive based on task complexity shall increase the competitiveness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6936" y="4313872"/>
            <a:ext cx="2137064" cy="1658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Incentive based task shall increase proactive participation in project</a:t>
            </a:r>
            <a:endParaRPr lang="en-US" sz="2400" dirty="0">
              <a:ea typeface="Times New Roman"/>
              <a:cs typeface="Times New Roman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81000" y="2286000"/>
            <a:ext cx="2103120" cy="210312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Oval 22"/>
          <p:cNvSpPr/>
          <p:nvPr/>
        </p:nvSpPr>
        <p:spPr>
          <a:xfrm>
            <a:off x="3581400" y="2322358"/>
            <a:ext cx="2103120" cy="210312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Oval 23"/>
          <p:cNvSpPr/>
          <p:nvPr/>
        </p:nvSpPr>
        <p:spPr>
          <a:xfrm>
            <a:off x="6720841" y="2298469"/>
            <a:ext cx="2103120" cy="210312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Oval 24"/>
          <p:cNvSpPr/>
          <p:nvPr/>
        </p:nvSpPr>
        <p:spPr>
          <a:xfrm>
            <a:off x="2011680" y="3840480"/>
            <a:ext cx="2103120" cy="210312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Oval 25"/>
          <p:cNvSpPr/>
          <p:nvPr/>
        </p:nvSpPr>
        <p:spPr>
          <a:xfrm>
            <a:off x="4973762" y="4044649"/>
            <a:ext cx="2103120" cy="210312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391533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MI Slide Presentation Templat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 Slide Presentation Template</Template>
  <TotalTime>3897</TotalTime>
  <Words>813</Words>
  <Application>Microsoft Office PowerPoint</Application>
  <PresentationFormat>On-screen Show (4:3)</PresentationFormat>
  <Paragraphs>156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PMI Slide Presentation Template</vt:lpstr>
      <vt:lpstr>PowerPoint Presentation</vt:lpstr>
      <vt:lpstr>Protocol</vt:lpstr>
      <vt:lpstr>Agenda</vt:lpstr>
      <vt:lpstr>Problem Statement </vt:lpstr>
      <vt:lpstr>Motivation – A Psycho-analytic study</vt:lpstr>
      <vt:lpstr>Detailed Historical Data Analysis</vt:lpstr>
      <vt:lpstr>Solution Approach – Psycho-Analytic Survey</vt:lpstr>
      <vt:lpstr>SPEED …</vt:lpstr>
      <vt:lpstr>Solution Proposed and Practiced</vt:lpstr>
      <vt:lpstr>SPEED …</vt:lpstr>
      <vt:lpstr>Benefits &amp; Key Take Away</vt:lpstr>
      <vt:lpstr>PowerPoint Presentation</vt:lpstr>
      <vt:lpstr>PowerPoint Presentation</vt:lpstr>
      <vt:lpstr>Back-up Slide</vt:lpstr>
      <vt:lpstr>Reference Images</vt:lpstr>
      <vt:lpstr>Survey Questionnaire</vt:lpstr>
      <vt:lpstr>Section 1: Current Project Practice</vt:lpstr>
      <vt:lpstr>Section 2: Current org. CAB practice</vt:lpstr>
      <vt:lpstr>Section 3: Agile based CAB proposal</vt:lpstr>
      <vt:lpstr>Section 4: Impact Analysis</vt:lpstr>
    </vt:vector>
  </TitlesOfParts>
  <Company>PMI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PMPC2016Presentation-Spped</dc:title>
  <dc:creator>Master Iraban</dc:creator>
  <cp:lastModifiedBy>IM</cp:lastModifiedBy>
  <cp:revision>109</cp:revision>
  <dcterms:created xsi:type="dcterms:W3CDTF">2010-11-02T05:57:24Z</dcterms:created>
  <dcterms:modified xsi:type="dcterms:W3CDTF">2016-06-20T16:58:06Z</dcterms:modified>
</cp:coreProperties>
</file>